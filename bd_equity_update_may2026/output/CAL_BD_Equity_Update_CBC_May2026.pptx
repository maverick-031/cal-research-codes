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3691"/>
                </a:solidFill>
                <a:latin typeface="DM Sans"/>
              </a:rPr>
              <a:t>CAL BANGLADESH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8A8A8A"/>
                </a:solidFill>
                <a:latin typeface="DM Sans"/>
              </a:rPr>
              <a:t>Capital Alliance Securities (Bangladesh)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8A8A8A"/>
                </a:solidFill>
                <a:latin typeface="DM Sans"/>
              </a:rPr>
              <a:t>PREPARED FOR  </a:t>
            </a:r>
            <a:r>
              <a:rPr sz="1100" b="1" i="0">
                <a:solidFill>
                  <a:srgbClr val="C6198D"/>
                </a:solidFill>
                <a:latin typeface="DM Sans"/>
              </a:rPr>
              <a:t>Commercial Bank of Ceylon PLC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F3691"/>
                </a:solidFill>
                <a:latin typeface="DM Sans"/>
              </a:rPr>
              <a:t>Bangladesh Equities: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C6198D"/>
                </a:solidFill>
                <a:latin typeface="DM Sans"/>
              </a:rPr>
              <a:t>The Re-Rating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06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555555"/>
                </a:solidFill>
                <a:latin typeface="DM Sans"/>
              </a:rPr>
              <a:t>Why a ~10x trailing P/E, a rebuilt regulatory rulebook and an incoming leadership reset at BSEC create an asymmetric entry into one of Asia's most under-owned markets — into the BNP government's first budget.</a:t>
            </a:r>
          </a:p>
        </p:txBody>
      </p:sp>
      <p:sp>
        <p:nvSpPr>
          <p:cNvPr id="10" name="Oval 9"/>
          <p:cNvSpPr/>
          <p:nvPr/>
        </p:nvSpPr>
        <p:spPr>
          <a:xfrm>
            <a:off x="795528" y="5458968"/>
            <a:ext cx="146304" cy="146304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848" y="5458968"/>
            <a:ext cx="146304" cy="146304"/>
          </a:xfrm>
          <a:prstGeom prst="ellipse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44168" y="5458968"/>
            <a:ext cx="146304" cy="146304"/>
          </a:xfrm>
          <a:prstGeom prst="ellipse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8521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F3691"/>
                </a:solidFill>
                <a:latin typeface="DM Sans"/>
              </a:rPr>
              <a:t>EQUITY MARKET UPDATE   ·   19 MAY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722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DM Sans"/>
              </a:rPr>
              <a:t>Authored by the CAL Bangladesh Research team. For institutional client use only.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F3691"/>
                </a:solidFill>
                <a:latin typeface="DM Sans"/>
              </a:rPr>
              <a:t>CAL BANGLADESH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2926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DM Sans"/>
              </a:rPr>
              <a:t>EQUITY MARKET UPDATE  ·  MAY 2026</a:t>
            </a:r>
          </a:p>
        </p:txBody>
      </p:sp>
      <p:sp>
        <p:nvSpPr>
          <p:cNvPr id="5" name="Oval 4"/>
          <p:cNvSpPr/>
          <p:nvPr/>
        </p:nvSpPr>
        <p:spPr>
          <a:xfrm>
            <a:off x="11283696" y="338328"/>
            <a:ext cx="109728" cy="109728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66576" y="338328"/>
            <a:ext cx="109728" cy="109728"/>
          </a:xfrm>
          <a:prstGeom prst="ellipse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49456" y="338328"/>
            <a:ext cx="109728" cy="109728"/>
          </a:xfrm>
          <a:prstGeom prst="ellipse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731520"/>
            <a:ext cx="11201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F3691"/>
                </a:solidFill>
                <a:latin typeface="DM Sans"/>
              </a:rPr>
              <a:t>Bangladesh equities offer asymmetric upside at ~10x P/E as reforms compound into the BNP government's first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55555"/>
                </a:solidFill>
                <a:latin typeface="DM Sans"/>
              </a:rPr>
              <a:t>Our governing thesis ahead of FY27 — three pillars support the 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40280"/>
            <a:ext cx="11201400" cy="960120"/>
          </a:xfrm>
          <a:prstGeom prst="roundRect">
            <a:avLst>
              <a:gd name="adj" fmla="val 10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240280"/>
            <a:ext cx="91440" cy="960120"/>
          </a:xfrm>
          <a:prstGeom prst="rect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359152"/>
            <a:ext cx="10835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6198D"/>
                </a:solidFill>
                <a:latin typeface="DM Sans"/>
              </a:rPr>
              <a:t>Governing thought   </a:t>
            </a: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1A1A1A"/>
                </a:solidFill>
                <a:latin typeface="DM Sans"/>
              </a:rPr>
              <a:t>Bangladesh equities trade at a </a:t>
            </a:r>
            <a:r>
              <a:rPr sz="1350" b="1" i="0">
                <a:solidFill>
                  <a:srgbClr val="2F3691"/>
                </a:solidFill>
                <a:latin typeface="DM Sans"/>
              </a:rPr>
              <a:t>~17% discount to their 10-year average </a:t>
            </a:r>
            <a:r>
              <a:rPr sz="1350" b="0" i="0">
                <a:solidFill>
                  <a:srgbClr val="1A1A1A"/>
                </a:solidFill>
                <a:latin typeface="DM Sans"/>
              </a:rPr>
              <a:t>and a </a:t>
            </a:r>
            <a:r>
              <a:rPr sz="1350" b="1" i="0">
                <a:solidFill>
                  <a:srgbClr val="2F3691"/>
                </a:solidFill>
                <a:latin typeface="DM Sans"/>
              </a:rPr>
              <a:t>~44% discount to Vietnam, </a:t>
            </a:r>
            <a:r>
              <a:rPr sz="1350" b="0" i="0">
                <a:solidFill>
                  <a:srgbClr val="1A1A1A"/>
                </a:solidFill>
                <a:latin typeface="DM Sans"/>
              </a:rPr>
              <a:t>even as a multi-year regulatory reset and a stabilising macro create the conditions for a re-rating.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20440"/>
            <a:ext cx="3584448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520440"/>
            <a:ext cx="3584448" cy="91440"/>
          </a:xfrm>
          <a:prstGeom prst="rect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721608"/>
            <a:ext cx="3127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C6198D"/>
                </a:solidFill>
                <a:latin typeface="DM Sans"/>
              </a:rPr>
              <a:t>01  ·  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23360"/>
            <a:ext cx="31272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F3691"/>
                </a:solidFill>
                <a:latin typeface="DM Sans"/>
              </a:rPr>
              <a:t>Cheap on every 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262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198D"/>
                </a:solidFill>
                <a:latin typeface="DM Sans"/>
              </a:rPr>
              <a:t>~10x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562856"/>
            <a:ext cx="17099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Trailing P/E vs 12.1x 10-yr avg &amp; 18.0x Vietnam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2920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198D"/>
                </a:solidFill>
                <a:latin typeface="DM Sans"/>
              </a:rPr>
              <a:t>-29%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065776"/>
            <a:ext cx="17099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DSEX still below its Sep-2021 all-time 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53212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198D"/>
                </a:solidFill>
                <a:latin typeface="DM Sans"/>
              </a:rPr>
              <a:t>~19.5%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5568696"/>
            <a:ext cx="17099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Market cap / GDP — frontier-leading penetration room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3520440"/>
            <a:ext cx="3584448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59" y="3520440"/>
            <a:ext cx="3584448" cy="91440"/>
          </a:xfrm>
          <a:prstGeom prst="rect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3721608"/>
            <a:ext cx="3127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F3691"/>
                </a:solidFill>
                <a:latin typeface="DM Sans"/>
              </a:rPr>
              <a:t>02  ·  HEADWINDS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4023360"/>
            <a:ext cx="31272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F3691"/>
                </a:solidFill>
                <a:latin typeface="DM Sans"/>
              </a:rPr>
              <a:t>Risks are dated and priced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45262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3691"/>
                </a:solidFill>
                <a:latin typeface="DM Sans"/>
              </a:rPr>
              <a:t>10.00%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562856"/>
            <a:ext cx="17099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Repo rate held — peak monetary tightness in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59" y="502920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3691"/>
                </a:solidFill>
                <a:latin typeface="DM Sans"/>
              </a:rPr>
              <a:t>3.9%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065776"/>
            <a:ext cx="17099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WB FY26 GDP cut (Apr-26) — bad news in the price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59" y="553212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3691"/>
                </a:solidFill>
                <a:latin typeface="DM Sans"/>
              </a:rPr>
              <a:t>30.6%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5568696"/>
            <a:ext cx="17099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System NPL — recognition shock now visible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1000" y="3520440"/>
            <a:ext cx="3584448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01000" y="3520440"/>
            <a:ext cx="3584448" cy="91440"/>
          </a:xfrm>
          <a:prstGeom prst="rect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3721608"/>
            <a:ext cx="3127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01A7E1"/>
                </a:solidFill>
                <a:latin typeface="DM Sans"/>
              </a:rPr>
              <a:t>03  ·  TAILWINDS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4023360"/>
            <a:ext cx="31272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F3691"/>
                </a:solidFill>
                <a:latin typeface="DM Sans"/>
              </a:rPr>
              <a:t>Reforms compound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5262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1A7E1"/>
                </a:solidFill>
                <a:latin typeface="DM Sans"/>
              </a:rPr>
              <a:t>FY27 Budget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4562856"/>
            <a:ext cx="17099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BNP govt's first budget on 11 Jun-26 — tax-relief asks queued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502920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1A7E1"/>
                </a:solidFill>
                <a:latin typeface="DM Sans"/>
              </a:rPr>
              <a:t>BSEC reset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5065776"/>
            <a:ext cx="17099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New chairman appointment imminent — institutional, not personal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553212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1A7E1"/>
                </a:solidFill>
                <a:latin typeface="DM Sans"/>
              </a:rPr>
              <a:t>CCBL + T+1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2640" y="5568696"/>
            <a:ext cx="17099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MSCI accessibility plumbing in build-out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8A8A8A"/>
                </a:solidFill>
                <a:latin typeface="DM Sans"/>
              </a:rPr>
              <a:t>Sources: CAL Bangladesh Research synthesis; CEIC; DSE; TBS; IMF (Jan-26 Article IV); World Bank (Apr-26 BDU); BSEC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53796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DM Sans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F3691"/>
                </a:solidFill>
                <a:latin typeface="DM Sans"/>
              </a:rPr>
              <a:t>CAL BANGLADESH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2926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DM Sans"/>
              </a:rPr>
              <a:t>EQUITY MARKET UPDATE  ·  MAY 2026</a:t>
            </a:r>
          </a:p>
        </p:txBody>
      </p:sp>
      <p:sp>
        <p:nvSpPr>
          <p:cNvPr id="5" name="Oval 4"/>
          <p:cNvSpPr/>
          <p:nvPr/>
        </p:nvSpPr>
        <p:spPr>
          <a:xfrm>
            <a:off x="11283696" y="338328"/>
            <a:ext cx="109728" cy="109728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66576" y="338328"/>
            <a:ext cx="109728" cy="109728"/>
          </a:xfrm>
          <a:prstGeom prst="ellipse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49456" y="338328"/>
            <a:ext cx="109728" cy="109728"/>
          </a:xfrm>
          <a:prstGeom prst="ellipse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731520"/>
            <a:ext cx="11201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F3691"/>
                </a:solidFill>
                <a:latin typeface="DM Sans"/>
              </a:rPr>
              <a:t>DSEX trades at a 17% discount to history and a 44% discount to Vietnam — every lens flashes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55555"/>
                </a:solidFill>
                <a:latin typeface="DM Sans"/>
              </a:rPr>
              <a:t>P/E, drawdown and market-cap-to-GDP all point to a market priced for bad news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F3691"/>
                </a:solidFill>
                <a:latin typeface="DM Sans"/>
              </a:rPr>
              <a:t>Trailing P/E — DSEX vs frontier peers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8716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8A8A8A"/>
                </a:solidFill>
                <a:latin typeface="DM Sans"/>
              </a:rPr>
              <a:t>Bangladesh discounts Vietnam by ~44%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08959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DM Sans"/>
              </a:rPr>
              <a:t>Egypt (select banks)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3063239"/>
            <a:ext cx="721359" cy="329184"/>
          </a:xfrm>
          <a:prstGeom prst="rect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80512" y="3108959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1A7E1"/>
                </a:solidFill>
                <a:latin typeface="DM Sans"/>
              </a:rPr>
              <a:t>4.0x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639311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DM Sans"/>
              </a:rPr>
              <a:t>Pakistan KSE-100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3593591"/>
            <a:ext cx="991870" cy="329184"/>
          </a:xfrm>
          <a:prstGeom prst="rect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1022" y="3639311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1A7E1"/>
                </a:solidFill>
                <a:latin typeface="DM Sans"/>
              </a:rPr>
              <a:t>5.5x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169663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DM Sans"/>
              </a:rPr>
              <a:t>Bangladesh DSEX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4123944"/>
            <a:ext cx="1821433" cy="329184"/>
          </a:xfrm>
          <a:prstGeom prst="rect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80585" y="4169663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C6198D"/>
                </a:solidFill>
                <a:latin typeface="DM Sans"/>
              </a:rPr>
              <a:t>10.1x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700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DM Sans"/>
              </a:rPr>
              <a:t>DSEX 10-yr avg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0" y="4654296"/>
            <a:ext cx="2182113" cy="329184"/>
          </a:xfrm>
          <a:prstGeom prst="rect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1265" y="4700016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F3691"/>
                </a:solidFill>
                <a:latin typeface="DM Sans"/>
              </a:rPr>
              <a:t>12.1x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23036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DM Sans"/>
              </a:rPr>
              <a:t>Vietnam VN-Index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5184648"/>
            <a:ext cx="3246120" cy="32918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05272" y="523036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A8A8A"/>
                </a:solidFill>
                <a:latin typeface="DM Sans"/>
              </a:rPr>
              <a:t>18.0x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2194560"/>
            <a:ext cx="10972" cy="406908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2194560"/>
            <a:ext cx="5669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C6198D"/>
                </a:solidFill>
                <a:latin typeface="DM Sans"/>
              </a:rPr>
              <a:t>1   DSEX drawdown from peak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51460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i="0">
                <a:solidFill>
                  <a:srgbClr val="2F3691"/>
                </a:solidFill>
                <a:latin typeface="DM Sans"/>
              </a:rPr>
              <a:t>-28.6%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315468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55555"/>
                </a:solidFill>
                <a:latin typeface="DM Sans"/>
              </a:rPr>
              <a:t>5,229 (12 May 2026) vs 7,329 all-time high (Sep 2021). A 41% rally off the Jan-2025 trough still leaves substantial valuation runway.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3749039"/>
            <a:ext cx="5669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1A7E1"/>
                </a:solidFill>
                <a:latin typeface="DM Sans"/>
              </a:rPr>
              <a:t>2   Discount to 10-year average P/E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4069079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i="0">
                <a:solidFill>
                  <a:srgbClr val="2F3691"/>
                </a:solidFill>
                <a:latin typeface="DM Sans"/>
              </a:rPr>
              <a:t>-16.5%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47091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55555"/>
                </a:solidFill>
                <a:latin typeface="DM Sans"/>
              </a:rPr>
              <a:t>Re-rating to the long-run mean alone implies +19.8% upside, ex-EPS growth. End-2025 low was 8.6x.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5303520"/>
            <a:ext cx="5669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F3691"/>
                </a:solidFill>
                <a:latin typeface="DM Sans"/>
              </a:rPr>
              <a:t>3   Market cap to GDP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562356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i="0">
                <a:solidFill>
                  <a:srgbClr val="2F3691"/>
                </a:solidFill>
                <a:latin typeface="DM Sans"/>
              </a:rPr>
              <a:t>~19.5%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626364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55555"/>
                </a:solidFill>
                <a:latin typeface="DM Sans"/>
              </a:rPr>
              <a:t>Vietnam: 51% · EM avg: &gt;70% · A long structural runway as capital formation deepens.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8A8A8A"/>
                </a:solidFill>
                <a:latin typeface="DM Sans"/>
              </a:rPr>
              <a:t>Sources: CEIC (Feb 2026); DSE; Taprobane Market Lens; CAL calculations. P/E peer values are trailing.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53796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DM Sans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F3691"/>
                </a:solidFill>
                <a:latin typeface="DM Sans"/>
              </a:rPr>
              <a:t>CAL BANGLADESH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2926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DM Sans"/>
              </a:rPr>
              <a:t>EQUITY MARKET UPDATE  ·  MAY 2026</a:t>
            </a:r>
          </a:p>
        </p:txBody>
      </p:sp>
      <p:sp>
        <p:nvSpPr>
          <p:cNvPr id="5" name="Oval 4"/>
          <p:cNvSpPr/>
          <p:nvPr/>
        </p:nvSpPr>
        <p:spPr>
          <a:xfrm>
            <a:off x="11283696" y="338328"/>
            <a:ext cx="109728" cy="109728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66576" y="338328"/>
            <a:ext cx="109728" cy="109728"/>
          </a:xfrm>
          <a:prstGeom prst="ellipse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49456" y="338328"/>
            <a:ext cx="109728" cy="109728"/>
          </a:xfrm>
          <a:prstGeom prst="ellipse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731520"/>
            <a:ext cx="11201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F3691"/>
                </a:solidFill>
                <a:latin typeface="DM Sans"/>
              </a:rPr>
              <a:t>Liquidity is rebuilding off a five-year low — but foreign capital is still a net seller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55555"/>
                </a:solidFill>
                <a:latin typeface="DM Sans"/>
              </a:rPr>
              <a:t>Turnover has doubled off the Jan-2025 trough; FPI outflows widened 7x in Jul–Oct FY26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94560"/>
            <a:ext cx="6903720" cy="2423160"/>
          </a:xfrm>
          <a:prstGeom prst="roundRect">
            <a:avLst>
              <a:gd name="adj" fmla="val 4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F3691"/>
                </a:solidFill>
                <a:latin typeface="DM Sans"/>
              </a:rPr>
              <a:t>DSE average daily turnover, BDT crore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5176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DM Sans"/>
              </a:rPr>
              <a:t>Off the early-2025 trough but still well below the 2021 peak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60413"/>
            <a:ext cx="571499" cy="528706"/>
          </a:xfrm>
          <a:prstGeom prst="rect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19" y="3586093"/>
            <a:ext cx="84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2F3691"/>
                </a:solidFill>
                <a:latin typeface="DM Sans"/>
              </a:rPr>
              <a:t>413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4434840"/>
            <a:ext cx="84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55555"/>
                </a:solidFill>
                <a:latin typeface="DM Sans"/>
              </a:rPr>
              <a:t>Jan-25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91639" y="3736238"/>
            <a:ext cx="571499" cy="652881"/>
          </a:xfrm>
          <a:prstGeom prst="rect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19" y="3461918"/>
            <a:ext cx="84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2F3691"/>
                </a:solidFill>
                <a:latin typeface="DM Sans"/>
              </a:rPr>
              <a:t>510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434840"/>
            <a:ext cx="84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55555"/>
                </a:solidFill>
                <a:latin typeface="DM Sans"/>
              </a:rPr>
              <a:t>Mar-25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06039" y="3614623"/>
            <a:ext cx="571499" cy="774496"/>
          </a:xfrm>
          <a:prstGeom prst="rect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0" y="3340303"/>
            <a:ext cx="84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2F3691"/>
                </a:solidFill>
                <a:latin typeface="DM Sans"/>
              </a:rPr>
              <a:t>605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434840"/>
            <a:ext cx="84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55555"/>
                </a:solidFill>
                <a:latin typeface="DM Sans"/>
              </a:rPr>
              <a:t>Jun-25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20439" y="3531412"/>
            <a:ext cx="571499" cy="857707"/>
          </a:xfrm>
          <a:prstGeom prst="rect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0" y="3257092"/>
            <a:ext cx="84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2F3691"/>
                </a:solidFill>
                <a:latin typeface="DM Sans"/>
              </a:rPr>
              <a:t>670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4434840"/>
            <a:ext cx="84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55555"/>
                </a:solidFill>
                <a:latin typeface="DM Sans"/>
              </a:rPr>
              <a:t>Sep-25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3467404"/>
            <a:ext cx="571499" cy="921715"/>
          </a:xfrm>
          <a:prstGeom prst="rect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193084"/>
            <a:ext cx="84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2F3691"/>
                </a:solidFill>
                <a:latin typeface="DM Sans"/>
              </a:rPr>
              <a:t>720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434840"/>
            <a:ext cx="84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55555"/>
                </a:solidFill>
                <a:latin typeface="DM Sans"/>
              </a:rPr>
              <a:t>Dec-25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3339388"/>
            <a:ext cx="571499" cy="1049731"/>
          </a:xfrm>
          <a:prstGeom prst="rect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3065068"/>
            <a:ext cx="84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2F3691"/>
                </a:solidFill>
                <a:latin typeface="DM Sans"/>
              </a:rPr>
              <a:t>820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0" y="4434840"/>
            <a:ext cx="84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55555"/>
                </a:solidFill>
                <a:latin typeface="DM Sans"/>
              </a:rPr>
              <a:t>Mar-26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3219053"/>
            <a:ext cx="571499" cy="1170066"/>
          </a:xfrm>
          <a:prstGeom prst="rect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2944733"/>
            <a:ext cx="84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2F3691"/>
                </a:solidFill>
                <a:latin typeface="DM Sans"/>
              </a:rPr>
              <a:t>914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434840"/>
            <a:ext cx="84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55555"/>
                </a:solidFill>
                <a:latin typeface="DM Sans"/>
              </a:rPr>
              <a:t>May-26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26974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C6198D"/>
                </a:solidFill>
                <a:latin typeface="DM Sans"/>
              </a:rPr>
              <a:t>Ref: 2021 peak &gt;2,000 cr/day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89520" y="2194560"/>
            <a:ext cx="416052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89520" y="2194560"/>
            <a:ext cx="4160520" cy="91440"/>
          </a:xfrm>
          <a:prstGeom prst="rect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18120" y="24231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6198D"/>
                </a:solidFill>
                <a:latin typeface="DM Sans"/>
              </a:rPr>
              <a:t>FOREIGN PORTFOLIO FLOWS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18120" y="2697480"/>
            <a:ext cx="3703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F3691"/>
                </a:solidFill>
                <a:latin typeface="DM Sans"/>
              </a:rPr>
              <a:t>Net outflows widened 7x YoY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8120" y="31546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DM Sans"/>
              </a:rPr>
              <a:t>Jul–Oct FY26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338328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C6198D"/>
                </a:solidFill>
                <a:latin typeface="DM Sans"/>
              </a:rPr>
              <a:t>-USD 66 mn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88620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DM Sans"/>
              </a:rPr>
              <a:t>Same period FY25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18120" y="411480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55555"/>
                </a:solidFill>
                <a:latin typeface="DM Sans"/>
              </a:rPr>
              <a:t>-USD 9 mn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4800600"/>
            <a:ext cx="6903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F3691"/>
                </a:solidFill>
                <a:latin typeface="DM Sans"/>
              </a:rPr>
              <a:t>Top 5 stocks ≈ 28–30% of DSE market cap — depth is concentrated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2120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A8A8A"/>
                </a:solidFill>
                <a:latin typeface="DM Sans"/>
              </a:rPr>
              <a:t>STOCK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34640" y="521208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A8A8A"/>
                </a:solidFill>
                <a:latin typeface="DM Sans"/>
              </a:rPr>
              <a:t>SECTOR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521208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1" i="0">
                <a:solidFill>
                  <a:srgbClr val="8A8A8A"/>
                </a:solidFill>
                <a:latin typeface="DM Sans"/>
              </a:rPr>
              <a:t>MKT CAP (BDT cr)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521208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1" i="0">
                <a:solidFill>
                  <a:srgbClr val="8A8A8A"/>
                </a:solidFill>
                <a:latin typeface="DM Sans"/>
              </a:rPr>
              <a:t>% OF DSE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486400"/>
            <a:ext cx="6903720" cy="10972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30352" y="5678424"/>
            <a:ext cx="73152" cy="73152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3232" y="559612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DM Sans"/>
              </a:rPr>
              <a:t>Grameenphone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34640" y="559612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55555"/>
                </a:solidFill>
                <a:latin typeface="DM Sans"/>
              </a:rPr>
              <a:t>Telecom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0" y="559612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42,710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559612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2F3691"/>
                </a:solidFill>
                <a:latin typeface="DM Sans"/>
              </a:rPr>
              <a:t>12.0%</a:t>
            </a:r>
          </a:p>
        </p:txBody>
      </p:sp>
      <p:sp>
        <p:nvSpPr>
          <p:cNvPr id="54" name="Oval 53"/>
          <p:cNvSpPr/>
          <p:nvPr/>
        </p:nvSpPr>
        <p:spPr>
          <a:xfrm>
            <a:off x="530352" y="5952744"/>
            <a:ext cx="73152" cy="73152"/>
          </a:xfrm>
          <a:prstGeom prst="ellipse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2" y="587044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DM Sans"/>
              </a:rPr>
              <a:t>Square Pharma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587044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55555"/>
                </a:solidFill>
                <a:latin typeface="DM Sans"/>
              </a:rPr>
              <a:t>Pharma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587044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19,129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587044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2F3691"/>
                </a:solidFill>
                <a:latin typeface="DM Sans"/>
              </a:rPr>
              <a:t>5.4%</a:t>
            </a:r>
          </a:p>
        </p:txBody>
      </p:sp>
      <p:sp>
        <p:nvSpPr>
          <p:cNvPr id="59" name="Oval 58"/>
          <p:cNvSpPr/>
          <p:nvPr/>
        </p:nvSpPr>
        <p:spPr>
          <a:xfrm>
            <a:off x="530352" y="6227064"/>
            <a:ext cx="73152" cy="73152"/>
          </a:xfrm>
          <a:prstGeom prst="ellipse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3232" y="614476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DM Sans"/>
              </a:rPr>
              <a:t>BAT Bangladesh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34640" y="61447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55555"/>
                </a:solidFill>
                <a:latin typeface="DM Sans"/>
              </a:rPr>
              <a:t>Tobacco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63440" y="61447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18,673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614476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2F3691"/>
                </a:solidFill>
                <a:latin typeface="DM Sans"/>
              </a:rPr>
              <a:t>5.2%</a:t>
            </a:r>
          </a:p>
        </p:txBody>
      </p:sp>
      <p:sp>
        <p:nvSpPr>
          <p:cNvPr id="64" name="Oval 63"/>
          <p:cNvSpPr/>
          <p:nvPr/>
        </p:nvSpPr>
        <p:spPr>
          <a:xfrm>
            <a:off x="530352" y="6501383"/>
            <a:ext cx="73152" cy="73152"/>
          </a:xfrm>
          <a:prstGeom prst="ellipse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3232" y="641908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DM Sans"/>
              </a:rPr>
              <a:t>BRAC Bank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34640" y="641908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55555"/>
                </a:solidFill>
                <a:latin typeface="DM Sans"/>
              </a:rPr>
              <a:t>Banks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63440" y="641908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&gt;15,000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641908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2F3691"/>
                </a:solidFill>
                <a:latin typeface="DM Sans"/>
              </a:rPr>
              <a:t>4.2%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589520" y="4800600"/>
            <a:ext cx="4160520" cy="1691640"/>
          </a:xfrm>
          <a:prstGeom prst="roundRect">
            <a:avLst>
              <a:gd name="adj" fmla="val 4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18120" y="4965192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6198D"/>
                </a:solidFill>
                <a:latin typeface="DM Sans"/>
              </a:rPr>
              <a:t>WHAT IT MEANS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18120" y="5257800"/>
            <a:ext cx="37033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Foreign capital is still derisking around the post-election transition; a 7x worsening in outflows is the contra-indicator we want to see fade. Domestic liquidity is leading, but breadth is shallow — entry should target index heavyweights with re-rating optionality.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8A8A8A"/>
                </a:solidFill>
                <a:latin typeface="DM Sans"/>
              </a:rPr>
              <a:t>Sources: DSE; CEIC; The Business Standard; The Daily Star. Turnover series illustrative based on weekly press recaps.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53796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DM Sans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F3691"/>
                </a:solidFill>
                <a:latin typeface="DM Sans"/>
              </a:rPr>
              <a:t>CAL BANGLADESH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2926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DM Sans"/>
              </a:rPr>
              <a:t>EQUITY MARKET UPDATE  ·  MAY 2026</a:t>
            </a:r>
          </a:p>
        </p:txBody>
      </p:sp>
      <p:sp>
        <p:nvSpPr>
          <p:cNvPr id="5" name="Oval 4"/>
          <p:cNvSpPr/>
          <p:nvPr/>
        </p:nvSpPr>
        <p:spPr>
          <a:xfrm>
            <a:off x="11283696" y="338328"/>
            <a:ext cx="109728" cy="109728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66576" y="338328"/>
            <a:ext cx="109728" cy="109728"/>
          </a:xfrm>
          <a:prstGeom prst="ellipse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49456" y="338328"/>
            <a:ext cx="109728" cy="109728"/>
          </a:xfrm>
          <a:prstGeom prst="ellipse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731520"/>
            <a:ext cx="11201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F3691"/>
                </a:solidFill>
                <a:latin typeface="DM Sans"/>
              </a:rPr>
              <a:t>Cyclical and geopolitical headwinds anchor the entry point — but most are dated and priced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55555"/>
                </a:solidFill>
                <a:latin typeface="DM Sans"/>
              </a:rPr>
              <a:t>Four risk vectors that have largely been absorbed by valuation; we look for inflection signals into H2-26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94560"/>
            <a:ext cx="557784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194560"/>
            <a:ext cx="91440" cy="1920240"/>
          </a:xfrm>
          <a:prstGeom prst="rect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3317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3691"/>
                </a:solidFill>
                <a:latin typeface="DM Sans"/>
              </a:rPr>
              <a:t>Monetary tightness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63347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C6198D"/>
                </a:solidFill>
                <a:latin typeface="DM Sans"/>
              </a:rPr>
              <a:t>Peak rates choke private credit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2971800"/>
            <a:ext cx="164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6198D"/>
                </a:solidFill>
                <a:latin typeface="DM Sans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7180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Repo rate held at 10.00% (Jan-26 MPS) — highest in two decades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3300984"/>
            <a:ext cx="164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6198D"/>
                </a:solidFill>
                <a:latin typeface="DM Sans"/>
              </a:rPr>
              <a:t>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300984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Private credit growth 6.03% YoY (Feb-26) — 5-yr low vs 8.5%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3630168"/>
            <a:ext cx="164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6198D"/>
                </a:solidFill>
                <a:latin typeface="DM Sans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630168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Lending rates 13.5–15%; real lending rate +5.96% — punitive for SMEs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194560"/>
            <a:ext cx="557784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2194560"/>
            <a:ext cx="91440" cy="1920240"/>
          </a:xfrm>
          <a:prstGeom prst="rect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23317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3691"/>
                </a:solidFill>
                <a:latin typeface="DM Sans"/>
              </a:rPr>
              <a:t>Banking sector stress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63347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F3691"/>
                </a:solidFill>
                <a:latin typeface="DM Sans"/>
              </a:rPr>
              <a:t>Recognition shock is visible — but bounded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971800"/>
            <a:ext cx="164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3691"/>
                </a:solidFill>
                <a:latin typeface="DM Sans"/>
              </a:rPr>
              <a:t>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297180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System NPL 30.6% (Dec-25, World Bank) — likely highest globally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3300984"/>
            <a:ext cx="164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3691"/>
                </a:solidFill>
                <a:latin typeface="DM Sans"/>
              </a:rPr>
              <a:t>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300984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Islami Bank: bad loans Tk 94,322 cr (+44% YoY); NPL 51%; CRAR 6.42%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9672" y="3630168"/>
            <a:ext cx="164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3691"/>
                </a:solidFill>
                <a:latin typeface="DM Sans"/>
              </a:rPr>
              <a:t>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3630168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S Alam Group exposure drives concentration; mergers under way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297680"/>
            <a:ext cx="557784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297680"/>
            <a:ext cx="91440" cy="1920240"/>
          </a:xfrm>
          <a:prstGeom prst="rect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" y="443484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3691"/>
                </a:solidFill>
                <a:latin typeface="DM Sans"/>
              </a:rPr>
              <a:t>Geopolitics — four-front squeeze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473659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01A7E1"/>
                </a:solidFill>
                <a:latin typeface="DM Sans"/>
              </a:rPr>
              <a:t>Iran war + US tariff regime + India freeze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" y="5074920"/>
            <a:ext cx="164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1A7E1"/>
                </a:solidFill>
                <a:latin typeface="DM Sans"/>
              </a:rPr>
              <a:t>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07492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Iran-Israel war: 40 of 115 contracted 2026 LNG cargoes expected lost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" y="5404104"/>
            <a:ext cx="164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1A7E1"/>
                </a:solidFill>
                <a:latin typeface="DM Sans"/>
              </a:rPr>
              <a:t>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404104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US 19% reciprocal tariff (Feb-26) on RMG exports (USD 8.2bn to US in 2025)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" y="5733288"/>
            <a:ext cx="164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1A7E1"/>
                </a:solidFill>
                <a:latin typeface="DM Sans"/>
              </a:rPr>
              <a:t>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733288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India: visa freeze (Dec-25); CEPA shelved; Red Sea freight +20–50%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4297680"/>
            <a:ext cx="557784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4297680"/>
            <a:ext cx="91440" cy="1920240"/>
          </a:xfrm>
          <a:prstGeom prst="rect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19672" y="443484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3691"/>
                </a:solidFill>
                <a:latin typeface="DM Sans"/>
              </a:rPr>
              <a:t>Growth &amp; IMF program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19672" y="473659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C6198D"/>
                </a:solidFill>
                <a:latin typeface="DM Sans"/>
              </a:rPr>
              <a:t>Downgrades pricing in slower convergence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9672" y="5074920"/>
            <a:ext cx="164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6198D"/>
                </a:solidFill>
                <a:latin typeface="DM Sans"/>
              </a:rPr>
              <a:t>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0840" y="507492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FY26 GDP cut to 3.9% — World Bank BDU 8 Apr-26 (was 4.6–4.8%)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19672" y="5404104"/>
            <a:ext cx="164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6198D"/>
                </a:solidFill>
                <a:latin typeface="DM Sans"/>
              </a:rPr>
              <a:t>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5404104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IMF Article IV (26 Jan-26); program extended 6m to 27 Jan-27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19672" y="5733288"/>
            <a:ext cx="164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6198D"/>
                </a:solidFill>
                <a:latin typeface="DM Sans"/>
              </a:rPr>
              <a:t>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20840" y="5733288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5th-review tranche (~USD 400m) awaits BNP govt sign-off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8A8A8A"/>
                </a:solidFill>
                <a:latin typeface="DM Sans"/>
              </a:rPr>
              <a:t>Sources: Bangladesh Bank H1-FY26 MPS; World Bank BDU 8 Apr-26; IMF PR 26/029 &amp; 25/369 (Art-IV / 5th-review mission); TBS; Daily Star; Al Jazeera; White House.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53796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DM Sans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F3691"/>
                </a:solidFill>
                <a:latin typeface="DM Sans"/>
              </a:rPr>
              <a:t>CAL BANGLADESH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2926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DM Sans"/>
              </a:rPr>
              <a:t>EQUITY MARKET UPDATE  ·  MAY 2026</a:t>
            </a:r>
          </a:p>
        </p:txBody>
      </p:sp>
      <p:sp>
        <p:nvSpPr>
          <p:cNvPr id="5" name="Oval 4"/>
          <p:cNvSpPr/>
          <p:nvPr/>
        </p:nvSpPr>
        <p:spPr>
          <a:xfrm>
            <a:off x="11283696" y="338328"/>
            <a:ext cx="109728" cy="109728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66576" y="338328"/>
            <a:ext cx="109728" cy="109728"/>
          </a:xfrm>
          <a:prstGeom prst="ellipse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49456" y="338328"/>
            <a:ext cx="109728" cy="109728"/>
          </a:xfrm>
          <a:prstGeom prst="ellipse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731520"/>
            <a:ext cx="11201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F3691"/>
                </a:solidFill>
                <a:latin typeface="DM Sans"/>
              </a:rPr>
              <a:t>BSEC's rulebook reset is institutional, not personal — and a leadership handover is now imminent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55555"/>
                </a:solidFill>
                <a:latin typeface="DM Sans"/>
              </a:rPr>
              <a:t>~Tk 1,500 cr in fines, a rebuilt rulebook, and a market-credible successor in the frame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94560"/>
            <a:ext cx="5394960" cy="4114800"/>
          </a:xfrm>
          <a:prstGeom prst="roundRect">
            <a:avLst>
              <a:gd name="adj" fmla="val 4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3957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6198D"/>
                </a:solidFill>
                <a:latin typeface="DM Sans"/>
              </a:rPr>
              <a:t>INSTITUTIONAL RESET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6974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F3691"/>
                </a:solidFill>
                <a:latin typeface="DM Sans"/>
              </a:rPr>
              <a:t>Rulebook over personalities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309067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DM Sans"/>
              </a:rPr>
              <a:t>Enforcement, margin, REIT and MF rules rebuilt 2024–25  ·  test now is continuity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36118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5555"/>
                </a:solidFill>
                <a:latin typeface="DM Sans"/>
              </a:rPr>
              <a:t>Cumulative market-manipulation fines, 2024–25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88620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C6198D"/>
                </a:solidFill>
                <a:latin typeface="DM Sans"/>
              </a:rPr>
              <a:t>Tk </a:t>
            </a:r>
            <a:r>
              <a:rPr sz="4600" b="1" i="0">
                <a:solidFill>
                  <a:srgbClr val="C6198D"/>
                </a:solidFill>
                <a:latin typeface="DM Sans"/>
              </a:rPr>
              <a:t>1,500</a:t>
            </a:r>
            <a:r>
              <a:rPr sz="2200" b="1" i="0">
                <a:solidFill>
                  <a:srgbClr val="C6198D"/>
                </a:solidFill>
                <a:latin typeface="DM Sans"/>
              </a:rPr>
              <a:t> 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47365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8A8A"/>
                </a:solidFill>
                <a:latin typeface="DM Sans"/>
              </a:rPr>
              <a:t>Largest enforcement sweep in BSEC's history — recovery only ~0.35%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5120640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F3691"/>
                </a:solidFill>
                <a:latin typeface="DM Sans"/>
              </a:rPr>
              <a:t>LEADERSHIP TRANSITION</a:t>
            </a:r>
          </a:p>
        </p:txBody>
      </p:sp>
      <p:sp>
        <p:nvSpPr>
          <p:cNvPr id="18" name="Oval 17"/>
          <p:cNvSpPr/>
          <p:nvPr/>
        </p:nvSpPr>
        <p:spPr>
          <a:xfrm>
            <a:off x="795528" y="5440680"/>
            <a:ext cx="73152" cy="73152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5367528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A1A1A"/>
                </a:solidFill>
                <a:latin typeface="DM Sans"/>
              </a:rPr>
              <a:t>Chairman transition imminent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5550408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555555"/>
                </a:solidFill>
                <a:latin typeface="DM Sans"/>
              </a:rPr>
              <a:t>Press reporting May-26: handover under way</a:t>
            </a:r>
          </a:p>
        </p:txBody>
      </p:sp>
      <p:sp>
        <p:nvSpPr>
          <p:cNvPr id="21" name="Oval 20"/>
          <p:cNvSpPr/>
          <p:nvPr/>
        </p:nvSpPr>
        <p:spPr>
          <a:xfrm>
            <a:off x="795528" y="5833872"/>
            <a:ext cx="73152" cy="73152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5760720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A1A1A"/>
                </a:solidFill>
                <a:latin typeface="DM Sans"/>
              </a:rPr>
              <a:t>Age-limit bar being eased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5943600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555555"/>
                </a:solidFill>
                <a:latin typeface="DM Sans"/>
              </a:rPr>
              <a:t>Opens slate to senior market-credible names</a:t>
            </a:r>
          </a:p>
        </p:txBody>
      </p:sp>
      <p:sp>
        <p:nvSpPr>
          <p:cNvPr id="24" name="Oval 23"/>
          <p:cNvSpPr/>
          <p:nvPr/>
        </p:nvSpPr>
        <p:spPr>
          <a:xfrm>
            <a:off x="795528" y="6227064"/>
            <a:ext cx="73152" cy="73152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6153912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A1A1A"/>
                </a:solidFill>
                <a:latin typeface="DM Sans"/>
              </a:rPr>
              <a:t>What we want to see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6336792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555555"/>
                </a:solidFill>
                <a:latin typeface="DM Sans"/>
              </a:rPr>
              <a:t>Non-political technocrat → FPI sentiment lift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2194560"/>
            <a:ext cx="5669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1A7E1"/>
                </a:solidFill>
                <a:latin typeface="DM Sans"/>
              </a:rPr>
              <a:t>REFORM TIMELINE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2468880"/>
            <a:ext cx="5669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691"/>
                </a:solidFill>
                <a:latin typeface="DM Sans"/>
              </a:rPr>
              <a:t>Six dated milestones rebuilt the rulebook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3063240"/>
            <a:ext cx="16459" cy="3090671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2971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555555"/>
                </a:solidFill>
                <a:latin typeface="DM Sans"/>
              </a:rPr>
              <a:t>Jul 2022</a:t>
            </a:r>
          </a:p>
        </p:txBody>
      </p:sp>
      <p:sp>
        <p:nvSpPr>
          <p:cNvPr id="31" name="Oval 30"/>
          <p:cNvSpPr/>
          <p:nvPr/>
        </p:nvSpPr>
        <p:spPr>
          <a:xfrm>
            <a:off x="6884517" y="3063240"/>
            <a:ext cx="146304" cy="146304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0" y="2953512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F3691"/>
                </a:solidFill>
                <a:latin typeface="DM Sans"/>
              </a:rPr>
              <a:t>Floor prices imposed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172968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Index-defence move trapped &gt;60% of scrips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350215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555555"/>
                </a:solidFill>
                <a:latin typeface="DM Sans"/>
              </a:rPr>
              <a:t>21 Jan 2024</a:t>
            </a:r>
          </a:p>
        </p:txBody>
      </p:sp>
      <p:sp>
        <p:nvSpPr>
          <p:cNvPr id="35" name="Oval 34"/>
          <p:cNvSpPr/>
          <p:nvPr/>
        </p:nvSpPr>
        <p:spPr>
          <a:xfrm>
            <a:off x="6884517" y="3593591"/>
            <a:ext cx="146304" cy="146304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0" y="3483864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F3691"/>
                </a:solidFill>
                <a:latin typeface="DM Sans"/>
              </a:rPr>
              <a:t>Floor prices lifted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3703320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Restored price discovery; circuit breaker reset to 10%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403250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555555"/>
                </a:solidFill>
                <a:latin typeface="DM Sans"/>
              </a:rPr>
              <a:t>2024</a:t>
            </a:r>
          </a:p>
        </p:txBody>
      </p:sp>
      <p:sp>
        <p:nvSpPr>
          <p:cNvPr id="39" name="Oval 38"/>
          <p:cNvSpPr/>
          <p:nvPr/>
        </p:nvSpPr>
        <p:spPr>
          <a:xfrm>
            <a:off x="6884517" y="4123944"/>
            <a:ext cx="146304" cy="146304"/>
          </a:xfrm>
          <a:prstGeom prst="ellipse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3760" y="4014216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F3691"/>
                </a:solidFill>
                <a:latin typeface="DM Sans"/>
              </a:rPr>
              <a:t>REIT Fund Rules approved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4233672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Tk 200 cr min; 90% dividend mandate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456285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555555"/>
                </a:solidFill>
                <a:latin typeface="DM Sans"/>
              </a:rPr>
              <a:t>24 Jun 2025</a:t>
            </a:r>
          </a:p>
        </p:txBody>
      </p:sp>
      <p:sp>
        <p:nvSpPr>
          <p:cNvPr id="43" name="Oval 42"/>
          <p:cNvSpPr/>
          <p:nvPr/>
        </p:nvSpPr>
        <p:spPr>
          <a:xfrm>
            <a:off x="6884517" y="4654296"/>
            <a:ext cx="146304" cy="146304"/>
          </a:xfrm>
          <a:prstGeom prst="ellipse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23760" y="4544568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F3691"/>
                </a:solidFill>
                <a:latin typeface="DM Sans"/>
              </a:rPr>
              <a:t>MSCI flags floor progress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23760" y="4764024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BD retained Frontier; under active monitoring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509320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555555"/>
                </a:solidFill>
                <a:latin typeface="DM Sans"/>
              </a:rPr>
              <a:t>6 Nov 2025</a:t>
            </a:r>
          </a:p>
        </p:txBody>
      </p:sp>
      <p:sp>
        <p:nvSpPr>
          <p:cNvPr id="47" name="Oval 46"/>
          <p:cNvSpPr/>
          <p:nvPr/>
        </p:nvSpPr>
        <p:spPr>
          <a:xfrm>
            <a:off x="6884517" y="5184648"/>
            <a:ext cx="146304" cy="146304"/>
          </a:xfrm>
          <a:prstGeom prst="ellipse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23760" y="5074920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F3691"/>
                </a:solidFill>
                <a:latin typeface="DM Sans"/>
              </a:rPr>
              <a:t>Margin Loan Rules 2025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0" y="5294376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1:1 cap; 25% single-stock; 30% sector limits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56235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555555"/>
                </a:solidFill>
                <a:latin typeface="DM Sans"/>
              </a:rPr>
              <a:t>May 2026</a:t>
            </a:r>
          </a:p>
        </p:txBody>
      </p:sp>
      <p:sp>
        <p:nvSpPr>
          <p:cNvPr id="51" name="Oval 50"/>
          <p:cNvSpPr/>
          <p:nvPr/>
        </p:nvSpPr>
        <p:spPr>
          <a:xfrm>
            <a:off x="6884517" y="5715000"/>
            <a:ext cx="146304" cy="146304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0" y="5605272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F3691"/>
                </a:solidFill>
                <a:latin typeface="DM Sans"/>
              </a:rPr>
              <a:t>BSEC chairman handover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23760" y="5824728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Transition in motion; technocrat slate widened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8A8A8A"/>
                </a:solidFill>
                <a:latin typeface="DM Sans"/>
              </a:rPr>
              <a:t>Sources: BSEC; TBS; BSS; Daily Sun (May-26 chairman transition); MSCI 2025 Market Classification Review (24 Jun 2025); Daily Star.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53796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DM Sans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F3691"/>
                </a:solidFill>
                <a:latin typeface="DM Sans"/>
              </a:rPr>
              <a:t>CAL BANGLADESH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2926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DM Sans"/>
              </a:rPr>
              <a:t>EQUITY MARKET UPDATE  ·  MAY 2026</a:t>
            </a:r>
          </a:p>
        </p:txBody>
      </p:sp>
      <p:sp>
        <p:nvSpPr>
          <p:cNvPr id="5" name="Oval 4"/>
          <p:cNvSpPr/>
          <p:nvPr/>
        </p:nvSpPr>
        <p:spPr>
          <a:xfrm>
            <a:off x="11283696" y="338328"/>
            <a:ext cx="109728" cy="109728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66576" y="338328"/>
            <a:ext cx="109728" cy="109728"/>
          </a:xfrm>
          <a:prstGeom prst="ellipse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49456" y="338328"/>
            <a:ext cx="109728" cy="109728"/>
          </a:xfrm>
          <a:prstGeom prst="ellipse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731520"/>
            <a:ext cx="11201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F3691"/>
                </a:solidFill>
                <a:latin typeface="DM Sans"/>
              </a:rPr>
              <a:t>Plumbing upgrades — CCBL, T+1, REITs and sukuk — unlock MSCI accessibility and frontier-leading 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55555"/>
                </a:solidFill>
                <a:latin typeface="DM Sans"/>
              </a:rPr>
              <a:t>Six structural enablers compounding through 2026–27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94560"/>
            <a:ext cx="3703320" cy="17556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194560"/>
            <a:ext cx="3703320" cy="91440"/>
          </a:xfrm>
          <a:prstGeom prst="rect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3774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6198D"/>
                </a:solidFill>
                <a:latin typeface="DM Sans"/>
              </a:rPr>
              <a:t>CCBL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651760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F3691"/>
                </a:solidFill>
                <a:latin typeface="DM Sans"/>
              </a:rPr>
              <a:t>Central Counterparty Bangladesh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2953512"/>
            <a:ext cx="3246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Incorporated Jan-19; targeted go-live alongside derivatives. Slips on director-appointment delays but firmly on roadmap.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27831" y="3566160"/>
            <a:ext cx="777240" cy="256032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6350">
            <a:solidFill>
              <a:srgbClr val="C619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27831" y="3593592"/>
            <a:ext cx="777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C6198D"/>
                </a:solidFill>
                <a:latin typeface="DM Sans"/>
              </a:rPr>
              <a:t>Slated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5112" y="2194560"/>
            <a:ext cx="3703320" cy="17556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5112" y="2194560"/>
            <a:ext cx="3703320" cy="91440"/>
          </a:xfrm>
          <a:prstGeom prst="rect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23774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F3691"/>
                </a:solidFill>
                <a:latin typeface="DM Sans"/>
              </a:rPr>
              <a:t>T+1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651760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F3691"/>
                </a:solidFill>
                <a:latin typeface="DM Sans"/>
              </a:rPr>
              <a:t>Settlement cycle upgrade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2953512"/>
            <a:ext cx="3246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BSEC and DSE re-engaged BB Gov. Mansur in 2025. Standard MSCI/FTSE accessibility tick — India live since 2023.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0024" y="3566160"/>
            <a:ext cx="777240" cy="256032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6350">
            <a:solidFill>
              <a:srgbClr val="2F36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50024" y="3593592"/>
            <a:ext cx="777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2F3691"/>
                </a:solidFill>
                <a:latin typeface="DM Sans"/>
              </a:rPr>
              <a:t>In flight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47304" y="2194560"/>
            <a:ext cx="3703320" cy="17556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47304" y="2194560"/>
            <a:ext cx="3703320" cy="91440"/>
          </a:xfrm>
          <a:prstGeom prst="rect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03336" y="23774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1A7E1"/>
                </a:solidFill>
                <a:latin typeface="DM Sans"/>
              </a:rPr>
              <a:t>SUKUK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651760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F3691"/>
                </a:solidFill>
                <a:latin typeface="DM Sans"/>
              </a:rPr>
              <a:t>Sovereign Islamic depth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3336" y="2953512"/>
            <a:ext cx="3246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Cumulative issuance ~Tk 22,000 cr by mid-2025. CDWSP Social Impact Sukuk: 5-yr, 10.40% rental, 2.5x oversubscribed.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872216" y="3566160"/>
            <a:ext cx="777240" cy="256032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6350">
            <a:solidFill>
              <a:srgbClr val="01A7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872216" y="3593592"/>
            <a:ext cx="777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01A7E1"/>
                </a:solidFill>
                <a:latin typeface="DM Sans"/>
              </a:rPr>
              <a:t>Scaling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069079"/>
            <a:ext cx="3703320" cy="17556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069079"/>
            <a:ext cx="3703320" cy="91440"/>
          </a:xfrm>
          <a:prstGeom prst="rect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" y="42519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6198D"/>
                </a:solidFill>
                <a:latin typeface="DM Sans"/>
              </a:rPr>
              <a:t>REITS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" y="4526279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F3691"/>
                </a:solidFill>
                <a:latin typeface="DM Sans"/>
              </a:rPr>
              <a:t>REIT Fund Rules 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" y="4828031"/>
            <a:ext cx="3246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Min Tk 200 cr; sponsor ≥20%; 90% dividend mandate; 3-yr lock-in. Satellite-city scope amendment under review.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27831" y="5440679"/>
            <a:ext cx="777240" cy="256032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6350">
            <a:solidFill>
              <a:srgbClr val="C619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27831" y="5468112"/>
            <a:ext cx="777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C6198D"/>
                </a:solidFill>
                <a:latin typeface="DM Sans"/>
              </a:rPr>
              <a:t>Live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5112" y="4069079"/>
            <a:ext cx="3703320" cy="17556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25112" y="4069079"/>
            <a:ext cx="3703320" cy="91440"/>
          </a:xfrm>
          <a:prstGeom prst="rect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81144" y="42519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F3691"/>
                </a:solidFill>
                <a:latin typeface="DM Sans"/>
              </a:rPr>
              <a:t>T-BONDS ON DSE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1144" y="4526279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F3691"/>
                </a:solidFill>
                <a:latin typeface="DM Sans"/>
              </a:rPr>
              <a:t>Secondary fixed income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1144" y="4828031"/>
            <a:ext cx="3246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Listed since Oct-22; 2024 DSE turnover Tk 1.31 bn (+55% YoY). Reform push to extend NSCs and corp bonds.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050024" y="5440679"/>
            <a:ext cx="777240" cy="256032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6350">
            <a:solidFill>
              <a:srgbClr val="2F36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50024" y="5468112"/>
            <a:ext cx="777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2F3691"/>
                </a:solidFill>
                <a:latin typeface="DM Sans"/>
              </a:rPr>
              <a:t>Scaling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47304" y="4069079"/>
            <a:ext cx="3703320" cy="17556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47304" y="4069079"/>
            <a:ext cx="3703320" cy="91440"/>
          </a:xfrm>
          <a:prstGeom prst="rect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03336" y="42519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1A7E1"/>
                </a:solidFill>
                <a:latin typeface="DM Sans"/>
              </a:rPr>
              <a:t>MSCI / FTSE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03336" y="4526279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F3691"/>
                </a:solidFill>
                <a:latin typeface="DM Sans"/>
              </a:rPr>
              <a:t>Index monitoring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03336" y="4828031"/>
            <a:ext cx="3246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55555"/>
                </a:solidFill>
                <a:latin typeface="DM Sans"/>
              </a:rPr>
              <a:t>MSCI 24-Jun-25 review: BD remains Frontier, accessibility under active monitoring; next read Nov-26.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872216" y="5440679"/>
            <a:ext cx="777240" cy="256032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6350">
            <a:solidFill>
              <a:srgbClr val="01A7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872216" y="5468112"/>
            <a:ext cx="777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01A7E1"/>
                </a:solidFill>
                <a:latin typeface="DM Sans"/>
              </a:rPr>
              <a:t>Watch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6007608"/>
            <a:ext cx="11247120" cy="457200"/>
          </a:xfrm>
          <a:prstGeom prst="roundRect">
            <a:avLst>
              <a:gd name="adj" fmla="val 30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6007608"/>
            <a:ext cx="91440" cy="457200"/>
          </a:xfrm>
          <a:prstGeom prst="rect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" y="609904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C6198D"/>
                </a:solidFill>
                <a:latin typeface="DM Sans"/>
              </a:rPr>
              <a:t>ACCESSIBILITY DELTA   </a:t>
            </a:r>
            <a:r>
              <a:rPr sz="1050" b="0" i="0">
                <a:solidFill>
                  <a:srgbClr val="1A1A1A"/>
                </a:solidFill>
                <a:latin typeface="DM Sans"/>
              </a:rPr>
              <a:t>Each milestone independently nudges MSCI scoring; together they raise the case for </a:t>
            </a:r>
            <a:r>
              <a:rPr sz="1050" b="1" i="0">
                <a:solidFill>
                  <a:srgbClr val="2F3691"/>
                </a:solidFill>
                <a:latin typeface="DM Sans"/>
              </a:rPr>
              <a:t>Frontier </a:t>
            </a:r>
            <a:r>
              <a:rPr sz="1050" b="0" i="0">
                <a:solidFill>
                  <a:srgbClr val="1A1A1A"/>
                </a:solidFill>
                <a:latin typeface="DM Sans"/>
              </a:rPr>
              <a:t>→ </a:t>
            </a:r>
            <a:r>
              <a:rPr sz="1050" b="1" i="0">
                <a:solidFill>
                  <a:srgbClr val="2F3691"/>
                </a:solidFill>
                <a:latin typeface="DM Sans"/>
              </a:rPr>
              <a:t>Emerging review consideration</a:t>
            </a:r>
            <a:r>
              <a:rPr sz="1050" b="0" i="0">
                <a:solidFill>
                  <a:srgbClr val="1A1A1A"/>
                </a:solidFill>
                <a:latin typeface="DM Sans"/>
              </a:rPr>
              <a:t> over 2027–28.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8A8A8A"/>
                </a:solidFill>
                <a:latin typeface="DM Sans"/>
              </a:rPr>
              <a:t>Sources: BSEC; CCBL; CDBL; MSCI 2025 Review; Financial Express; New Age; Traders Union; BB FX Guidelines.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0" y="653796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DM Sans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F3691"/>
                </a:solidFill>
                <a:latin typeface="DM Sans"/>
              </a:rPr>
              <a:t>CAL BANGLADESH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2926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DM Sans"/>
              </a:rPr>
              <a:t>EQUITY MARKET UPDATE  ·  MAY 2026</a:t>
            </a:r>
          </a:p>
        </p:txBody>
      </p:sp>
      <p:sp>
        <p:nvSpPr>
          <p:cNvPr id="5" name="Oval 4"/>
          <p:cNvSpPr/>
          <p:nvPr/>
        </p:nvSpPr>
        <p:spPr>
          <a:xfrm>
            <a:off x="11283696" y="338328"/>
            <a:ext cx="109728" cy="109728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66576" y="338328"/>
            <a:ext cx="109728" cy="109728"/>
          </a:xfrm>
          <a:prstGeom prst="ellipse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49456" y="338328"/>
            <a:ext cx="109728" cy="109728"/>
          </a:xfrm>
          <a:prstGeom prst="ellipse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731520"/>
            <a:ext cx="11201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F3691"/>
                </a:solidFill>
                <a:latin typeface="DM Sans"/>
              </a:rPr>
              <a:t>Our view: Overweight Bangladesh selectively over 12–18 months — own sukuk for carry, large-caps for re-rating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555555"/>
                </a:solidFill>
                <a:latin typeface="DM Sans"/>
              </a:rPr>
              <a:t>Five catalysts to watch, five risks to underwrite, and a clean entry valuation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94560"/>
            <a:ext cx="11247120" cy="960120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194560"/>
            <a:ext cx="91440" cy="960120"/>
          </a:xfrm>
          <a:prstGeom prst="rect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6198D"/>
                </a:solidFill>
                <a:latin typeface="DM Sans"/>
              </a:rPr>
              <a:t>CAL 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2F3691"/>
                </a:solidFill>
                <a:latin typeface="DM Sans"/>
              </a:rPr>
              <a:t>OVERWEIGHT  </a:t>
            </a:r>
            <a:r>
              <a:rPr sz="1600" b="0" i="0">
                <a:solidFill>
                  <a:srgbClr val="1A1A1A"/>
                </a:solidFill>
                <a:latin typeface="DM Sans"/>
              </a:rPr>
              <a:t>Bangladesh equities  ·  12–18m horizon  ·  </a:t>
            </a:r>
            <a:r>
              <a:rPr sz="1600" b="0" i="1">
                <a:solidFill>
                  <a:srgbClr val="555555"/>
                </a:solidFill>
                <a:latin typeface="DM Sans"/>
              </a:rPr>
              <a:t>Selective; </a:t>
            </a:r>
            <a:r>
              <a:rPr sz="1600" b="1" i="0">
                <a:solidFill>
                  <a:srgbClr val="C6198D"/>
                </a:solidFill>
                <a:latin typeface="DM Sans"/>
              </a:rPr>
              <a:t>quality large-caps + sovereign sukuk for carry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83280"/>
            <a:ext cx="370332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383280"/>
            <a:ext cx="3703320" cy="91440"/>
          </a:xfrm>
          <a:prstGeom prst="rect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584448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6198D"/>
                </a:solidFill>
                <a:latin typeface="DM Sans"/>
              </a:rPr>
              <a:t>WHERE TO 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86200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F3691"/>
                </a:solidFill>
                <a:latin typeface="DM Sans"/>
              </a:rPr>
              <a:t>Positioning playbook</a:t>
            </a:r>
          </a:p>
        </p:txBody>
      </p:sp>
      <p:sp>
        <p:nvSpPr>
          <p:cNvPr id="18" name="Oval 17"/>
          <p:cNvSpPr/>
          <p:nvPr/>
        </p:nvSpPr>
        <p:spPr>
          <a:xfrm>
            <a:off x="758952" y="4379976"/>
            <a:ext cx="73152" cy="73152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27939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DM Sans"/>
              </a:rPr>
              <a:t>Quality large-caps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44805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i="0">
                <a:solidFill>
                  <a:srgbClr val="555555"/>
                </a:solidFill>
                <a:latin typeface="DM Sans"/>
              </a:rPr>
              <a:t>USD-linked or remittance-leveraged earnings</a:t>
            </a:r>
          </a:p>
        </p:txBody>
      </p:sp>
      <p:sp>
        <p:nvSpPr>
          <p:cNvPr id="21" name="Oval 20"/>
          <p:cNvSpPr/>
          <p:nvPr/>
        </p:nvSpPr>
        <p:spPr>
          <a:xfrm>
            <a:off x="758952" y="4764024"/>
            <a:ext cx="73152" cy="73152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66344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DM Sans"/>
              </a:rPr>
              <a:t>Pharma exporters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48646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i="0">
                <a:solidFill>
                  <a:srgbClr val="555555"/>
                </a:solidFill>
                <a:latin typeface="DM Sans"/>
              </a:rPr>
              <a:t>Margin defence + EM-priced multiples</a:t>
            </a:r>
          </a:p>
        </p:txBody>
      </p:sp>
      <p:sp>
        <p:nvSpPr>
          <p:cNvPr id="24" name="Oval 23"/>
          <p:cNvSpPr/>
          <p:nvPr/>
        </p:nvSpPr>
        <p:spPr>
          <a:xfrm>
            <a:off x="758952" y="5148072"/>
            <a:ext cx="73152" cy="73152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504748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DM Sans"/>
              </a:rPr>
              <a:t>Sovereign sukuk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5248656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i="0">
                <a:solidFill>
                  <a:srgbClr val="555555"/>
                </a:solidFill>
                <a:latin typeface="DM Sans"/>
              </a:rPr>
              <a:t>~10.4% rental locks 5-yr carry</a:t>
            </a:r>
          </a:p>
        </p:txBody>
      </p:sp>
      <p:sp>
        <p:nvSpPr>
          <p:cNvPr id="27" name="Oval 26"/>
          <p:cNvSpPr/>
          <p:nvPr/>
        </p:nvSpPr>
        <p:spPr>
          <a:xfrm>
            <a:off x="758952" y="5532120"/>
            <a:ext cx="73152" cy="73152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431536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DM Sans"/>
              </a:rPr>
              <a:t>Banks — selective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" y="56327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i="0">
                <a:solidFill>
                  <a:srgbClr val="555555"/>
                </a:solidFill>
                <a:latin typeface="DM Sans"/>
              </a:rPr>
              <a:t>Top-3 CRAR names only; avoid Islamic stress</a:t>
            </a:r>
          </a:p>
        </p:txBody>
      </p:sp>
      <p:sp>
        <p:nvSpPr>
          <p:cNvPr id="30" name="Oval 29"/>
          <p:cNvSpPr/>
          <p:nvPr/>
        </p:nvSpPr>
        <p:spPr>
          <a:xfrm>
            <a:off x="758952" y="5916168"/>
            <a:ext cx="73152" cy="73152"/>
          </a:xfrm>
          <a:prstGeom prst="ellipse">
            <a:avLst/>
          </a:prstGeom>
          <a:solidFill>
            <a:srgbClr val="C61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58155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DM Sans"/>
              </a:rPr>
              <a:t>Avoid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" y="601675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i="0">
                <a:solidFill>
                  <a:srgbClr val="555555"/>
                </a:solidFill>
                <a:latin typeface="DM Sans"/>
              </a:rPr>
              <a:t>Telecoms, NBFI, high-NPL Islamic banks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25112" y="3383280"/>
            <a:ext cx="370332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25112" y="3383280"/>
            <a:ext cx="3703320" cy="91440"/>
          </a:xfrm>
          <a:prstGeom prst="rect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53712" y="3584448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1A7E1"/>
                </a:solidFill>
                <a:latin typeface="DM Sans"/>
              </a:rPr>
              <a:t>CATALYSTS — 6 TO 12 MONTHS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3886200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F3691"/>
                </a:solidFill>
                <a:latin typeface="DM Sans"/>
              </a:rPr>
              <a:t>Triggers for the re-rating</a:t>
            </a:r>
          </a:p>
        </p:txBody>
      </p:sp>
      <p:sp>
        <p:nvSpPr>
          <p:cNvPr id="37" name="Oval 36"/>
          <p:cNvSpPr/>
          <p:nvPr/>
        </p:nvSpPr>
        <p:spPr>
          <a:xfrm>
            <a:off x="4526279" y="4297680"/>
            <a:ext cx="237744" cy="237744"/>
          </a:xfrm>
          <a:prstGeom prst="ellipse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35424" y="42976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M Sans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19472" y="4352544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FY27 Budget (11 Jun-26) — CGT &amp; IMF signal</a:t>
            </a:r>
          </a:p>
        </p:txBody>
      </p:sp>
      <p:sp>
        <p:nvSpPr>
          <p:cNvPr id="40" name="Oval 39"/>
          <p:cNvSpPr/>
          <p:nvPr/>
        </p:nvSpPr>
        <p:spPr>
          <a:xfrm>
            <a:off x="4526279" y="4681728"/>
            <a:ext cx="237744" cy="237744"/>
          </a:xfrm>
          <a:prstGeom prst="ellipse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5424" y="46817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M Sans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19472" y="4736592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New BSEC chairman + first 100-day signal</a:t>
            </a:r>
          </a:p>
        </p:txBody>
      </p:sp>
      <p:sp>
        <p:nvSpPr>
          <p:cNvPr id="43" name="Oval 42"/>
          <p:cNvSpPr/>
          <p:nvPr/>
        </p:nvSpPr>
        <p:spPr>
          <a:xfrm>
            <a:off x="4526279" y="5065776"/>
            <a:ext cx="237744" cy="237744"/>
          </a:xfrm>
          <a:prstGeom prst="ellipse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35424" y="506577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M Sans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19472" y="5120640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CCBL go-live + T+1 rollout date</a:t>
            </a:r>
          </a:p>
        </p:txBody>
      </p:sp>
      <p:sp>
        <p:nvSpPr>
          <p:cNvPr id="46" name="Oval 45"/>
          <p:cNvSpPr/>
          <p:nvPr/>
        </p:nvSpPr>
        <p:spPr>
          <a:xfrm>
            <a:off x="4526279" y="5449824"/>
            <a:ext cx="237744" cy="237744"/>
          </a:xfrm>
          <a:prstGeom prst="ellipse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35424" y="54498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M Sans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9472" y="5504688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MSCI Nov-26 semi-annual review</a:t>
            </a:r>
          </a:p>
        </p:txBody>
      </p:sp>
      <p:sp>
        <p:nvSpPr>
          <p:cNvPr id="49" name="Oval 48"/>
          <p:cNvSpPr/>
          <p:nvPr/>
        </p:nvSpPr>
        <p:spPr>
          <a:xfrm>
            <a:off x="4526279" y="5833872"/>
            <a:ext cx="237744" cy="237744"/>
          </a:xfrm>
          <a:prstGeom prst="ellipse">
            <a:avLst/>
          </a:prstGeom>
          <a:solidFill>
            <a:srgbClr val="01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35424" y="58338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M Sans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19472" y="588873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CPI &lt;7% → BB rate-cut window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47304" y="3383280"/>
            <a:ext cx="370332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147304" y="3383280"/>
            <a:ext cx="3703320" cy="91440"/>
          </a:xfrm>
          <a:prstGeom prst="rect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75904" y="3584448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F3691"/>
                </a:solidFill>
                <a:latin typeface="DM Sans"/>
              </a:rPr>
              <a:t>RISKS TO UNDERWRITE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75904" y="3886200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F3691"/>
                </a:solidFill>
                <a:latin typeface="DM Sans"/>
              </a:rPr>
              <a:t>What can break the thesis</a:t>
            </a:r>
          </a:p>
        </p:txBody>
      </p:sp>
      <p:sp>
        <p:nvSpPr>
          <p:cNvPr id="56" name="Oval 55"/>
          <p:cNvSpPr/>
          <p:nvPr/>
        </p:nvSpPr>
        <p:spPr>
          <a:xfrm>
            <a:off x="8348471" y="4297680"/>
            <a:ext cx="237744" cy="237744"/>
          </a:xfrm>
          <a:prstGeom prst="ellipse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57616" y="42976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M Sans"/>
              </a:rPr>
              <a:t>!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41664" y="4352544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IMF 5th-tranche delay / successor lapse</a:t>
            </a:r>
          </a:p>
        </p:txBody>
      </p:sp>
      <p:sp>
        <p:nvSpPr>
          <p:cNvPr id="59" name="Oval 58"/>
          <p:cNvSpPr/>
          <p:nvPr/>
        </p:nvSpPr>
        <p:spPr>
          <a:xfrm>
            <a:off x="8348471" y="4681728"/>
            <a:ext cx="237744" cy="237744"/>
          </a:xfrm>
          <a:prstGeom prst="ellipse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57616" y="46817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M Sans"/>
              </a:rPr>
              <a:t>!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41664" y="4736592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Iran war: LNG / power outages persist</a:t>
            </a:r>
          </a:p>
        </p:txBody>
      </p:sp>
      <p:sp>
        <p:nvSpPr>
          <p:cNvPr id="62" name="Oval 61"/>
          <p:cNvSpPr/>
          <p:nvPr/>
        </p:nvSpPr>
        <p:spPr>
          <a:xfrm>
            <a:off x="8348471" y="5065776"/>
            <a:ext cx="237744" cy="237744"/>
          </a:xfrm>
          <a:prstGeom prst="ellipse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357616" y="506577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M Sans"/>
              </a:rPr>
              <a:t>!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41664" y="5120640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NPL recognition wave hits bank EPS</a:t>
            </a:r>
          </a:p>
        </p:txBody>
      </p:sp>
      <p:sp>
        <p:nvSpPr>
          <p:cNvPr id="65" name="Oval 64"/>
          <p:cNvSpPr/>
          <p:nvPr/>
        </p:nvSpPr>
        <p:spPr>
          <a:xfrm>
            <a:off x="8348471" y="5449824"/>
            <a:ext cx="237744" cy="237744"/>
          </a:xfrm>
          <a:prstGeom prst="ellipse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7616" y="54498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M Sans"/>
              </a:rPr>
              <a:t>!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41664" y="5504688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Disorderly BSEC chairman handover</a:t>
            </a:r>
          </a:p>
        </p:txBody>
      </p:sp>
      <p:sp>
        <p:nvSpPr>
          <p:cNvPr id="68" name="Oval 67"/>
          <p:cNvSpPr/>
          <p:nvPr/>
        </p:nvSpPr>
        <p:spPr>
          <a:xfrm>
            <a:off x="8348471" y="5833872"/>
            <a:ext cx="237744" cy="237744"/>
          </a:xfrm>
          <a:prstGeom prst="ellipse">
            <a:avLst/>
          </a:prstGeom>
          <a:solidFill>
            <a:srgbClr val="2F36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57616" y="58338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M Sans"/>
              </a:rPr>
              <a:t>!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41664" y="588873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DM Sans"/>
              </a:rPr>
              <a:t>US tariff renegotiation in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8A8A8A"/>
                </a:solidFill>
                <a:latin typeface="DM Sans"/>
              </a:rPr>
              <a:t>Sources: CAL Bangladesh Research view. Sources: CEIC; DSE; BSEC; IMF (Jan-26 Art-IV); World Bank (Apr-26 BDU); TBS; Daily Star; Daily Sun; MSCI. See data_and_sources.md for full source set.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53796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A8A8A"/>
                </a:solidFill>
                <a:latin typeface="DM Sans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