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4637" r:id="rId10"/>
    <p:sldId id="452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369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78" autoAdjust="0"/>
    <p:restoredTop sz="94660"/>
  </p:normalViewPr>
  <p:slideViewPr>
    <p:cSldViewPr snapToGrid="0" snapToObjects="1">
      <p:cViewPr>
        <p:scale>
          <a:sx n="300" d="100"/>
          <a:sy n="300" d="100"/>
        </p:scale>
        <p:origin x="-18404" y="-105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97616A-99AD-4312-AD94-06C0A9D53CEB}" type="datetimeFigureOut">
              <a:rPr lang="en-US" smtClean="0"/>
              <a:t>5/20/2026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10C8E7-4DC0-4B91-9656-A9F149C9FCD7}" type="slidenum">
              <a:rPr lang="en-US" smtClean="0"/>
              <a:t>‹#›</a:t>
            </a:fld>
            <a:endParaRPr lang="en-US"/>
          </a:p>
        </p:txBody>
      </p:sp>
    </p:spTree>
    <p:extLst>
      <p:ext uri="{BB962C8B-B14F-4D97-AF65-F5344CB8AC3E}">
        <p14:creationId xmlns:p14="http://schemas.microsoft.com/office/powerpoint/2010/main" val="1403931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2915A-6CE2-DE63-A7BA-55D8C7E9EA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1B8AC4-D161-0C42-E2E3-B67AC87A3D2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EEBB6EB-5688-FDB9-2E11-30C57E3B4F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197072-1F25-3FB8-1CB2-3A900D6E0B8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E153A4-78B5-412D-AA90-D8F15B971FE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29163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5">
          <a:extLst>
            <a:ext uri="{FF2B5EF4-FFF2-40B4-BE49-F238E27FC236}">
              <a16:creationId xmlns:a16="http://schemas.microsoft.com/office/drawing/2014/main" id="{34C882B4-E4A1-A5F8-374F-A04F35103366}"/>
            </a:ext>
          </a:extLst>
        </p:cNvPr>
        <p:cNvGrpSpPr/>
        <p:nvPr/>
      </p:nvGrpSpPr>
      <p:grpSpPr>
        <a:xfrm>
          <a:off x="0" y="0"/>
          <a:ext cx="0" cy="0"/>
          <a:chOff x="0" y="0"/>
          <a:chExt cx="0" cy="0"/>
        </a:xfrm>
      </p:grpSpPr>
      <p:sp>
        <p:nvSpPr>
          <p:cNvPr id="1736" name="Google Shape;1736;p59:notes">
            <a:extLst>
              <a:ext uri="{FF2B5EF4-FFF2-40B4-BE49-F238E27FC236}">
                <a16:creationId xmlns:a16="http://schemas.microsoft.com/office/drawing/2014/main" id="{1D3CF9B9-6202-2BC3-E414-F2CBED763092}"/>
              </a:ext>
            </a:extLst>
          </p:cNvPr>
          <p:cNvSpPr txBox="1">
            <a:spLocks noGrp="1"/>
          </p:cNvSpPr>
          <p:nvPr>
            <p:ph type="body" idx="1"/>
          </p:nvPr>
        </p:nvSpPr>
        <p:spPr>
          <a:xfrm>
            <a:off x="960120" y="7260909"/>
            <a:ext cx="7680960" cy="5940743"/>
          </a:xfrm>
          <a:prstGeom prst="rect">
            <a:avLst/>
          </a:prstGeom>
          <a:noFill/>
          <a:ln>
            <a:noFill/>
          </a:ln>
        </p:spPr>
        <p:txBody>
          <a:bodyPr spcFirstLastPara="1" wrap="square" lIns="141031" tIns="70496" rIns="141031" bIns="70496" anchor="t" anchorCtr="0">
            <a:noAutofit/>
          </a:bodyPr>
          <a:lstStyle/>
          <a:p>
            <a:pPr marL="0" indent="0"/>
            <a:endParaRPr dirty="0"/>
          </a:p>
        </p:txBody>
      </p:sp>
      <p:sp>
        <p:nvSpPr>
          <p:cNvPr id="1737" name="Google Shape;1737;p59:notes">
            <a:extLst>
              <a:ext uri="{FF2B5EF4-FFF2-40B4-BE49-F238E27FC236}">
                <a16:creationId xmlns:a16="http://schemas.microsoft.com/office/drawing/2014/main" id="{031B0B64-48C8-DE54-1993-82F25619F949}"/>
              </a:ext>
            </a:extLst>
          </p:cNvPr>
          <p:cNvSpPr>
            <a:spLocks noGrp="1" noRot="1" noChangeAspect="1"/>
          </p:cNvSpPr>
          <p:nvPr>
            <p:ph type="sldImg" idx="2"/>
          </p:nvPr>
        </p:nvSpPr>
        <p:spPr>
          <a:xfrm>
            <a:off x="271463" y="1882775"/>
            <a:ext cx="9059862" cy="50974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4022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wo Content (DL) (3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0AB82-2CA6-4559-A869-C1F761BC0C4E}"/>
              </a:ext>
            </a:extLst>
          </p:cNvPr>
          <p:cNvSpPr>
            <a:spLocks noGrp="1"/>
          </p:cNvSpPr>
          <p:nvPr>
            <p:ph type="title" hasCustomPrompt="1"/>
          </p:nvPr>
        </p:nvSpPr>
        <p:spPr>
          <a:xfrm>
            <a:off x="256805" y="176324"/>
            <a:ext cx="11711296" cy="724342"/>
          </a:xfrm>
          <a:prstGeom prst="rect">
            <a:avLst/>
          </a:prstGeom>
        </p:spPr>
        <p:txBody>
          <a:bodyPr anchor="ctr">
            <a:normAutofit/>
          </a:bodyPr>
          <a:lstStyle>
            <a:lvl1pPr>
              <a:defRPr kumimoji="0" lang="en-US" sz="2200" b="0" i="0" u="none" strike="noStrike" kern="1200" cap="none" spc="0" normalizeH="0" baseline="0" dirty="0">
                <a:ln>
                  <a:noFill/>
                </a:ln>
                <a:solidFill>
                  <a:schemeClr val="bg2">
                    <a:lumMod val="25000"/>
                  </a:schemeClr>
                </a:solidFill>
                <a:effectLst/>
                <a:uLnTx/>
                <a:uFillTx/>
                <a:latin typeface="Qanelas Soft" panose="00000500000000000000" pitchFamily="50" charset="0"/>
                <a:ea typeface="Open Sans Light" panose="020B0306030504020204" pitchFamily="34" charset="0"/>
                <a:cs typeface="Open Sans Light" panose="020B0306030504020204" pitchFamily="34" charset="0"/>
              </a:defRPr>
            </a:lvl1pPr>
          </a:lstStyle>
          <a:p>
            <a:r>
              <a:rPr lang="en-US" dirty="0"/>
              <a:t>Line 1</a:t>
            </a:r>
            <a:br>
              <a:rPr lang="en-US" dirty="0"/>
            </a:br>
            <a:r>
              <a:rPr lang="en-US" dirty="0"/>
              <a:t>Line 2</a:t>
            </a:r>
          </a:p>
        </p:txBody>
      </p:sp>
      <p:sp>
        <p:nvSpPr>
          <p:cNvPr id="6" name="Chart Placeholder 5">
            <a:extLst>
              <a:ext uri="{FF2B5EF4-FFF2-40B4-BE49-F238E27FC236}">
                <a16:creationId xmlns:a16="http://schemas.microsoft.com/office/drawing/2014/main" id="{01C80344-3666-4492-8F31-BD65CE767ACF}"/>
              </a:ext>
            </a:extLst>
          </p:cNvPr>
          <p:cNvSpPr>
            <a:spLocks noGrp="1"/>
          </p:cNvSpPr>
          <p:nvPr>
            <p:ph type="chart" sz="quarter" idx="10"/>
          </p:nvPr>
        </p:nvSpPr>
        <p:spPr>
          <a:xfrm>
            <a:off x="256803" y="1913653"/>
            <a:ext cx="5774720" cy="4425601"/>
          </a:xfrm>
          <a:prstGeom prst="rect">
            <a:avLst/>
          </a:prstGeom>
        </p:spPr>
        <p:txBody>
          <a:bodyPr>
            <a:normAutofit/>
          </a:bodyPr>
          <a:lstStyle>
            <a:lvl1pPr>
              <a:defRPr kumimoji="0" lang="en-US" sz="1000" b="0" i="0" u="none" strike="noStrike" kern="1200" cap="none" spc="0" normalizeH="0" baseline="0" dirty="0" smtClean="0">
                <a:ln>
                  <a:noFill/>
                </a:ln>
                <a:solidFill>
                  <a:schemeClr val="bg2">
                    <a:lumMod val="25000"/>
                  </a:schemeClr>
                </a:solidFill>
                <a:effectLst/>
                <a:uLnTx/>
                <a:uFillTx/>
                <a:latin typeface="Qanelas Soft" panose="00000500000000000000" pitchFamily="50" charset="0"/>
                <a:ea typeface="Open Sans" panose="020B0606030504020204" pitchFamily="34" charset="0"/>
                <a:cs typeface="Open Sans" panose="020B0606030504020204" pitchFamily="34" charset="0"/>
              </a:defRPr>
            </a:lvl1pPr>
          </a:lstStyle>
          <a:p>
            <a:endParaRPr lang="en-US" dirty="0"/>
          </a:p>
        </p:txBody>
      </p:sp>
      <p:sp>
        <p:nvSpPr>
          <p:cNvPr id="15" name="Text Placeholder 14">
            <a:extLst>
              <a:ext uri="{FF2B5EF4-FFF2-40B4-BE49-F238E27FC236}">
                <a16:creationId xmlns:a16="http://schemas.microsoft.com/office/drawing/2014/main" id="{BA086A60-AC23-44C4-BE2A-C84E4262D940}"/>
              </a:ext>
            </a:extLst>
          </p:cNvPr>
          <p:cNvSpPr>
            <a:spLocks noGrp="1"/>
          </p:cNvSpPr>
          <p:nvPr>
            <p:ph type="body" sz="quarter" idx="11"/>
          </p:nvPr>
        </p:nvSpPr>
        <p:spPr>
          <a:xfrm>
            <a:off x="256803" y="1612417"/>
            <a:ext cx="5774719" cy="264926"/>
          </a:xfrm>
          <a:prstGeom prst="rect">
            <a:avLst/>
          </a:prstGeom>
        </p:spPr>
        <p:txBody>
          <a:bodyPr>
            <a:noAutofit/>
          </a:bodyPr>
          <a:lstStyle>
            <a:lvl1pPr>
              <a:defRPr kumimoji="0" lang="en-US" sz="1100" b="0" i="0" u="none" strike="noStrike" kern="1200" cap="none" spc="0" normalizeH="0" baseline="0" dirty="0" smtClean="0">
                <a:ln>
                  <a:noFill/>
                </a:ln>
                <a:solidFill>
                  <a:schemeClr val="bg2">
                    <a:lumMod val="25000"/>
                  </a:schemeClr>
                </a:solidFill>
                <a:effectLst/>
                <a:uLnTx/>
                <a:uFillTx/>
                <a:latin typeface="Qanelas Soft Bold" pitchFamily="2" charset="77"/>
                <a:ea typeface="Open Sans" panose="020B0606030504020204" pitchFamily="34" charset="0"/>
                <a:cs typeface="Open Sans" panose="020B0606030504020204" pitchFamily="34" charset="0"/>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Click to edit Master text styles</a:t>
            </a:r>
          </a:p>
        </p:txBody>
      </p:sp>
      <p:sp>
        <p:nvSpPr>
          <p:cNvPr id="16" name="Chart Placeholder 5">
            <a:extLst>
              <a:ext uri="{FF2B5EF4-FFF2-40B4-BE49-F238E27FC236}">
                <a16:creationId xmlns:a16="http://schemas.microsoft.com/office/drawing/2014/main" id="{5116015A-005B-468F-8093-9D8C81C75A29}"/>
              </a:ext>
            </a:extLst>
          </p:cNvPr>
          <p:cNvSpPr>
            <a:spLocks noGrp="1"/>
          </p:cNvSpPr>
          <p:nvPr>
            <p:ph type="chart" sz="quarter" idx="12"/>
          </p:nvPr>
        </p:nvSpPr>
        <p:spPr>
          <a:xfrm>
            <a:off x="6189092" y="1913653"/>
            <a:ext cx="5779008" cy="4425601"/>
          </a:xfrm>
          <a:prstGeom prst="rect">
            <a:avLst/>
          </a:prstGeom>
        </p:spPr>
        <p:txBody>
          <a:bodyPr>
            <a:normAutofit/>
          </a:bodyPr>
          <a:lstStyle>
            <a:lvl1pPr>
              <a:defRPr kumimoji="0" lang="en-US" sz="1000" b="0" i="0" u="none" strike="noStrike" kern="1200" cap="none" spc="0" normalizeH="0" baseline="0" dirty="0" smtClean="0">
                <a:ln>
                  <a:noFill/>
                </a:ln>
                <a:solidFill>
                  <a:schemeClr val="bg2">
                    <a:lumMod val="25000"/>
                  </a:schemeClr>
                </a:solidFill>
                <a:effectLst/>
                <a:uLnTx/>
                <a:uFillTx/>
                <a:latin typeface="Qanelas Soft" panose="00000500000000000000" pitchFamily="50" charset="0"/>
                <a:ea typeface="Open Sans" panose="020B0606030504020204" pitchFamily="34" charset="0"/>
                <a:cs typeface="Open Sans" panose="020B0606030504020204" pitchFamily="34" charset="0"/>
              </a:defRPr>
            </a:lvl1pPr>
          </a:lstStyle>
          <a:p>
            <a:endParaRPr lang="en-US" dirty="0"/>
          </a:p>
        </p:txBody>
      </p:sp>
      <p:sp>
        <p:nvSpPr>
          <p:cNvPr id="17" name="Text Placeholder 14">
            <a:extLst>
              <a:ext uri="{FF2B5EF4-FFF2-40B4-BE49-F238E27FC236}">
                <a16:creationId xmlns:a16="http://schemas.microsoft.com/office/drawing/2014/main" id="{3141A77E-34D2-4730-821B-883992BBB029}"/>
              </a:ext>
            </a:extLst>
          </p:cNvPr>
          <p:cNvSpPr>
            <a:spLocks noGrp="1"/>
          </p:cNvSpPr>
          <p:nvPr>
            <p:ph type="body" sz="quarter" idx="13"/>
          </p:nvPr>
        </p:nvSpPr>
        <p:spPr>
          <a:xfrm>
            <a:off x="6189092" y="1612417"/>
            <a:ext cx="5779008" cy="266531"/>
          </a:xfrm>
          <a:prstGeom prst="rect">
            <a:avLst/>
          </a:prstGeom>
        </p:spPr>
        <p:txBody>
          <a:bodyPr>
            <a:normAutofit/>
          </a:bodyPr>
          <a:lstStyle>
            <a:lvl1pPr>
              <a:defRPr kumimoji="0" lang="en-US" sz="1100" b="0" i="0" u="none" strike="noStrike" kern="1200" cap="none" spc="0" normalizeH="0" baseline="0" dirty="0" smtClean="0">
                <a:ln>
                  <a:noFill/>
                </a:ln>
                <a:solidFill>
                  <a:schemeClr val="bg2">
                    <a:lumMod val="25000"/>
                  </a:schemeClr>
                </a:solidFill>
                <a:effectLst/>
                <a:uLnTx/>
                <a:uFillTx/>
                <a:latin typeface="Qanelas Soft Bold" pitchFamily="2" charset="77"/>
                <a:ea typeface="Open Sans" panose="020B0606030504020204" pitchFamily="34" charset="0"/>
                <a:cs typeface="Open Sans" panose="020B0606030504020204" pitchFamily="34" charset="0"/>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Click to edit Master text styles</a:t>
            </a:r>
          </a:p>
        </p:txBody>
      </p:sp>
      <p:sp>
        <p:nvSpPr>
          <p:cNvPr id="12" name="Text Placeholder 14">
            <a:extLst>
              <a:ext uri="{FF2B5EF4-FFF2-40B4-BE49-F238E27FC236}">
                <a16:creationId xmlns:a16="http://schemas.microsoft.com/office/drawing/2014/main" id="{9E57AB51-702E-6F03-A9A5-F3B320D1BEC5}"/>
              </a:ext>
            </a:extLst>
          </p:cNvPr>
          <p:cNvSpPr>
            <a:spLocks noGrp="1"/>
          </p:cNvSpPr>
          <p:nvPr>
            <p:ph type="body" sz="quarter" idx="19"/>
          </p:nvPr>
        </p:nvSpPr>
        <p:spPr>
          <a:xfrm>
            <a:off x="256801" y="1023287"/>
            <a:ext cx="11711296" cy="393192"/>
          </a:xfrm>
          <a:prstGeom prst="rect">
            <a:avLst/>
          </a:prstGeom>
        </p:spPr>
        <p:txBody>
          <a:bodyPr>
            <a:noAutofit/>
          </a:bodyPr>
          <a:lstStyle>
            <a:lvl1pPr>
              <a:defRPr kumimoji="0" lang="en-US" sz="1100" b="0" i="0" u="none" strike="noStrike" kern="1200" cap="none" spc="0" normalizeH="0" baseline="0" dirty="0" smtClean="0">
                <a:ln>
                  <a:noFill/>
                </a:ln>
                <a:solidFill>
                  <a:schemeClr val="bg2">
                    <a:lumMod val="25000"/>
                  </a:schemeClr>
                </a:solidFill>
                <a:effectLst/>
                <a:uLnTx/>
                <a:uFillTx/>
                <a:latin typeface="Qanelas Soft" pitchFamily="2" charset="77"/>
                <a:ea typeface="Open Sans Light" panose="020B0306030504020204" pitchFamily="34" charset="0"/>
                <a:cs typeface="Open Sans Light" panose="020B0306030504020204" pitchFamily="34" charset="0"/>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Click to edit Master text styles</a:t>
            </a:r>
          </a:p>
        </p:txBody>
      </p:sp>
      <p:sp>
        <p:nvSpPr>
          <p:cNvPr id="11" name="Text Placeholder 20">
            <a:extLst>
              <a:ext uri="{FF2B5EF4-FFF2-40B4-BE49-F238E27FC236}">
                <a16:creationId xmlns:a16="http://schemas.microsoft.com/office/drawing/2014/main" id="{FC6AA07A-DD19-8177-BF33-7F5DB980096B}"/>
              </a:ext>
            </a:extLst>
          </p:cNvPr>
          <p:cNvSpPr>
            <a:spLocks noGrp="1"/>
          </p:cNvSpPr>
          <p:nvPr>
            <p:ph type="body" sz="quarter" idx="14" hasCustomPrompt="1"/>
          </p:nvPr>
        </p:nvSpPr>
        <p:spPr>
          <a:xfrm>
            <a:off x="6202246" y="6424008"/>
            <a:ext cx="5813761" cy="246577"/>
          </a:xfrm>
          <a:prstGeom prst="rect">
            <a:avLst/>
          </a:prstGeom>
        </p:spPr>
        <p:txBody>
          <a:bodyPr>
            <a:normAutofit/>
          </a:bodyPr>
          <a:lstStyle>
            <a:lvl1pPr marL="0" indent="0" algn="r">
              <a:buNone/>
              <a:defRPr sz="1100">
                <a:solidFill>
                  <a:schemeClr val="bg2">
                    <a:lumMod val="50000"/>
                  </a:schemeClr>
                </a:solidFill>
                <a:latin typeface="Qanelas Soft" pitchFamily="2" charset="77"/>
                <a:ea typeface="Open Sans" panose="020B0606030504020204" pitchFamily="34" charset="0"/>
                <a:cs typeface="Open Sans" panose="020B0606030504020204" pitchFamily="34" charset="0"/>
              </a:defRPr>
            </a:lvl1pPr>
            <a:lvl2pPr algn="r">
              <a:defRPr/>
            </a:lvl2pPr>
            <a:lvl3pPr algn="r">
              <a:defRPr/>
            </a:lvl3pPr>
            <a:lvl4pPr algn="r">
              <a:defRPr/>
            </a:lvl4pPr>
            <a:lvl5pPr algn="r">
              <a:defRPr/>
            </a:lvl5pPr>
          </a:lstStyle>
          <a:p>
            <a:pPr lvl="0"/>
            <a:r>
              <a:rPr lang="en-US" dirty="0"/>
              <a:t>Source:</a:t>
            </a:r>
          </a:p>
        </p:txBody>
      </p:sp>
    </p:spTree>
    <p:extLst>
      <p:ext uri="{BB962C8B-B14F-4D97-AF65-F5344CB8AC3E}">
        <p14:creationId xmlns:p14="http://schemas.microsoft.com/office/powerpoint/2010/main" val="41908078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Single Chart (3L)">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01C80344-3666-4492-8F31-BD65CE767ACF}"/>
              </a:ext>
            </a:extLst>
          </p:cNvPr>
          <p:cNvSpPr>
            <a:spLocks noGrp="1"/>
          </p:cNvSpPr>
          <p:nvPr>
            <p:ph type="chart" sz="quarter" idx="10"/>
          </p:nvPr>
        </p:nvSpPr>
        <p:spPr>
          <a:xfrm>
            <a:off x="252115" y="1793289"/>
            <a:ext cx="11713464" cy="4537937"/>
          </a:xfrm>
          <a:prstGeom prst="rect">
            <a:avLst/>
          </a:prstGeom>
        </p:spPr>
        <p:txBody>
          <a:bodyPr>
            <a:normAutofit/>
          </a:bodyPr>
          <a:lstStyle>
            <a:lvl1pPr>
              <a:defRPr kumimoji="0" lang="en-US" sz="1100" b="0" i="0" u="none" strike="noStrike" kern="1200" cap="none" spc="0" normalizeH="0" baseline="0" dirty="0" smtClean="0">
                <a:ln>
                  <a:noFill/>
                </a:ln>
                <a:solidFill>
                  <a:schemeClr val="bg2">
                    <a:lumMod val="25000"/>
                  </a:schemeClr>
                </a:solidFill>
                <a:effectLst/>
                <a:uLnTx/>
                <a:uFillTx/>
                <a:latin typeface="Qanelas Soft" panose="00000500000000000000" pitchFamily="50" charset="0"/>
                <a:ea typeface="Open Sans" panose="020B0606030504020204" pitchFamily="34" charset="0"/>
                <a:cs typeface="Open Sans" panose="020B0606030504020204" pitchFamily="34" charset="0"/>
              </a:defRPr>
            </a:lvl1pPr>
          </a:lstStyle>
          <a:p>
            <a:endParaRPr lang="en-US" dirty="0"/>
          </a:p>
        </p:txBody>
      </p:sp>
      <p:sp>
        <p:nvSpPr>
          <p:cNvPr id="4" name="Text Placeholder 14">
            <a:extLst>
              <a:ext uri="{FF2B5EF4-FFF2-40B4-BE49-F238E27FC236}">
                <a16:creationId xmlns:a16="http://schemas.microsoft.com/office/drawing/2014/main" id="{AA7849B0-AA1E-5F24-A5B7-8985F4C4FE23}"/>
              </a:ext>
            </a:extLst>
          </p:cNvPr>
          <p:cNvSpPr>
            <a:spLocks noGrp="1"/>
          </p:cNvSpPr>
          <p:nvPr>
            <p:ph type="body" sz="quarter" idx="19"/>
          </p:nvPr>
        </p:nvSpPr>
        <p:spPr>
          <a:xfrm>
            <a:off x="252115" y="1489122"/>
            <a:ext cx="11713464" cy="267968"/>
          </a:xfrm>
          <a:prstGeom prst="rect">
            <a:avLst/>
          </a:prstGeom>
        </p:spPr>
        <p:txBody>
          <a:bodyPr>
            <a:noAutofit/>
          </a:bodyPr>
          <a:lstStyle>
            <a:lvl1pPr>
              <a:defRPr kumimoji="0" lang="en-US" sz="1100" b="0" i="0" u="none" strike="noStrike" kern="1200" cap="none" spc="0" normalizeH="0" baseline="0" dirty="0" smtClean="0">
                <a:ln>
                  <a:noFill/>
                </a:ln>
                <a:solidFill>
                  <a:schemeClr val="bg2">
                    <a:lumMod val="25000"/>
                  </a:schemeClr>
                </a:solidFill>
                <a:effectLst/>
                <a:uLnTx/>
                <a:uFillTx/>
                <a:latin typeface="Qanelas Soft Bold" pitchFamily="2" charset="77"/>
                <a:ea typeface="Open Sans" panose="020B0606030504020204" pitchFamily="34" charset="0"/>
                <a:cs typeface="Open Sans" panose="020B0606030504020204" pitchFamily="34" charset="0"/>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Click to edit Master text styles</a:t>
            </a:r>
          </a:p>
        </p:txBody>
      </p:sp>
      <p:sp>
        <p:nvSpPr>
          <p:cNvPr id="7" name="Text Placeholder 20">
            <a:extLst>
              <a:ext uri="{FF2B5EF4-FFF2-40B4-BE49-F238E27FC236}">
                <a16:creationId xmlns:a16="http://schemas.microsoft.com/office/drawing/2014/main" id="{D49BFADF-801A-7426-98E4-777C8C35DB21}"/>
              </a:ext>
            </a:extLst>
          </p:cNvPr>
          <p:cNvSpPr>
            <a:spLocks noGrp="1"/>
          </p:cNvSpPr>
          <p:nvPr>
            <p:ph type="body" sz="quarter" idx="14" hasCustomPrompt="1"/>
          </p:nvPr>
        </p:nvSpPr>
        <p:spPr>
          <a:xfrm>
            <a:off x="6202246" y="6424008"/>
            <a:ext cx="5813761" cy="246577"/>
          </a:xfrm>
          <a:prstGeom prst="rect">
            <a:avLst/>
          </a:prstGeom>
        </p:spPr>
        <p:txBody>
          <a:bodyPr>
            <a:normAutofit/>
          </a:bodyPr>
          <a:lstStyle>
            <a:lvl1pPr marL="0" indent="0" algn="r">
              <a:buNone/>
              <a:defRPr sz="1100">
                <a:solidFill>
                  <a:schemeClr val="bg2">
                    <a:lumMod val="50000"/>
                  </a:schemeClr>
                </a:solidFill>
                <a:latin typeface="Qanelas Soft" pitchFamily="2" charset="77"/>
                <a:ea typeface="Open Sans" panose="020B0606030504020204" pitchFamily="34" charset="0"/>
                <a:cs typeface="Open Sans" panose="020B0606030504020204" pitchFamily="34" charset="0"/>
              </a:defRPr>
            </a:lvl1pPr>
            <a:lvl2pPr algn="r">
              <a:defRPr/>
            </a:lvl2pPr>
            <a:lvl3pPr algn="r">
              <a:defRPr/>
            </a:lvl3pPr>
            <a:lvl4pPr algn="r">
              <a:defRPr/>
            </a:lvl4pPr>
            <a:lvl5pPr algn="r">
              <a:defRPr/>
            </a:lvl5pPr>
          </a:lstStyle>
          <a:p>
            <a:pPr lvl="0"/>
            <a:r>
              <a:rPr lang="en-US" dirty="0"/>
              <a:t>Source:</a:t>
            </a:r>
          </a:p>
        </p:txBody>
      </p:sp>
      <p:sp>
        <p:nvSpPr>
          <p:cNvPr id="8" name="Title 1">
            <a:extLst>
              <a:ext uri="{FF2B5EF4-FFF2-40B4-BE49-F238E27FC236}">
                <a16:creationId xmlns:a16="http://schemas.microsoft.com/office/drawing/2014/main" id="{1BDC797C-B53B-2D7B-EF7E-9B54C8EE4E0C}"/>
              </a:ext>
            </a:extLst>
          </p:cNvPr>
          <p:cNvSpPr>
            <a:spLocks noGrp="1"/>
          </p:cNvSpPr>
          <p:nvPr>
            <p:ph type="title" hasCustomPrompt="1"/>
          </p:nvPr>
        </p:nvSpPr>
        <p:spPr>
          <a:xfrm>
            <a:off x="256805" y="176324"/>
            <a:ext cx="11711296" cy="724342"/>
          </a:xfrm>
          <a:prstGeom prst="rect">
            <a:avLst/>
          </a:prstGeom>
        </p:spPr>
        <p:txBody>
          <a:bodyPr anchor="ctr">
            <a:normAutofit/>
          </a:bodyPr>
          <a:lstStyle>
            <a:lvl1pPr>
              <a:defRPr kumimoji="0" lang="en-US" sz="2200" b="0" i="0" u="none" strike="noStrike" kern="1200" cap="none" spc="0" normalizeH="0" baseline="0" dirty="0">
                <a:ln>
                  <a:noFill/>
                </a:ln>
                <a:solidFill>
                  <a:schemeClr val="bg2">
                    <a:lumMod val="25000"/>
                  </a:schemeClr>
                </a:solidFill>
                <a:effectLst/>
                <a:uLnTx/>
                <a:uFillTx/>
                <a:latin typeface="Qanelas Soft" panose="00000500000000000000" pitchFamily="50" charset="0"/>
                <a:ea typeface="Open Sans Light" panose="020B0306030504020204" pitchFamily="34" charset="0"/>
                <a:cs typeface="Open Sans Light" panose="020B0306030504020204" pitchFamily="34" charset="0"/>
              </a:defRPr>
            </a:lvl1pPr>
          </a:lstStyle>
          <a:p>
            <a:r>
              <a:rPr lang="en-US" dirty="0"/>
              <a:t>Line 1</a:t>
            </a:r>
            <a:br>
              <a:rPr lang="en-US" dirty="0"/>
            </a:br>
            <a:r>
              <a:rPr lang="en-US" dirty="0"/>
              <a:t>Line 2</a:t>
            </a:r>
          </a:p>
        </p:txBody>
      </p:sp>
      <p:sp>
        <p:nvSpPr>
          <p:cNvPr id="9" name="Text Placeholder 14">
            <a:extLst>
              <a:ext uri="{FF2B5EF4-FFF2-40B4-BE49-F238E27FC236}">
                <a16:creationId xmlns:a16="http://schemas.microsoft.com/office/drawing/2014/main" id="{A34A3DE7-7F47-D087-26B7-9A2D9FB02F9D}"/>
              </a:ext>
            </a:extLst>
          </p:cNvPr>
          <p:cNvSpPr>
            <a:spLocks noGrp="1"/>
          </p:cNvSpPr>
          <p:nvPr>
            <p:ph type="body" sz="quarter" idx="20"/>
          </p:nvPr>
        </p:nvSpPr>
        <p:spPr>
          <a:xfrm>
            <a:off x="256801" y="1060231"/>
            <a:ext cx="11711296" cy="393192"/>
          </a:xfrm>
          <a:prstGeom prst="rect">
            <a:avLst/>
          </a:prstGeom>
        </p:spPr>
        <p:txBody>
          <a:bodyPr>
            <a:noAutofit/>
          </a:bodyPr>
          <a:lstStyle>
            <a:lvl1pPr>
              <a:defRPr kumimoji="0" lang="en-US" sz="1100" b="0" i="0" u="none" strike="noStrike" kern="1200" cap="none" spc="0" normalizeH="0" baseline="0" dirty="0" smtClean="0">
                <a:ln>
                  <a:noFill/>
                </a:ln>
                <a:solidFill>
                  <a:schemeClr val="bg2">
                    <a:lumMod val="25000"/>
                  </a:schemeClr>
                </a:solidFill>
                <a:effectLst/>
                <a:uLnTx/>
                <a:uFillTx/>
                <a:latin typeface="Qanelas Soft" pitchFamily="2" charset="77"/>
                <a:ea typeface="Open Sans Light" panose="020B0306030504020204" pitchFamily="34" charset="0"/>
                <a:cs typeface="Open Sans Light" panose="020B0306030504020204" pitchFamily="34" charset="0"/>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Click to edit Master text styles</a:t>
            </a:r>
          </a:p>
        </p:txBody>
      </p:sp>
    </p:spTree>
    <p:extLst>
      <p:ext uri="{BB962C8B-B14F-4D97-AF65-F5344CB8AC3E}">
        <p14:creationId xmlns:p14="http://schemas.microsoft.com/office/powerpoint/2010/main" val="1048717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p:cNvSpPr/>
          <p:nvPr/>
        </p:nvSpPr>
        <p:spPr>
          <a:xfrm>
            <a:off x="0" y="0"/>
            <a:ext cx="274320" cy="6858000"/>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240280"/>
            <a:ext cx="10972800" cy="1280160"/>
          </a:xfrm>
          <a:prstGeom prst="rect">
            <a:avLst/>
          </a:prstGeom>
          <a:noFill/>
        </p:spPr>
        <p:txBody>
          <a:bodyPr wrap="square" lIns="0" tIns="0" rIns="0" bIns="0" anchor="t">
            <a:spAutoFit/>
          </a:bodyPr>
          <a:lstStyle/>
          <a:p>
            <a:pPr algn="l">
              <a:lnSpc>
                <a:spcPct val="100000"/>
              </a:lnSpc>
            </a:pPr>
            <a:r>
              <a:rPr sz="4600" b="1" i="0">
                <a:solidFill>
                  <a:srgbClr val="2F3691"/>
                </a:solidFill>
                <a:latin typeface="DM Sans"/>
              </a:rPr>
              <a:t>Bangladesh Equities:</a:t>
            </a:r>
          </a:p>
        </p:txBody>
      </p:sp>
      <p:sp>
        <p:nvSpPr>
          <p:cNvPr id="8" name="TextBox 7"/>
          <p:cNvSpPr txBox="1"/>
          <p:nvPr/>
        </p:nvSpPr>
        <p:spPr>
          <a:xfrm>
            <a:off x="777240" y="3017520"/>
            <a:ext cx="10972800" cy="1280160"/>
          </a:xfrm>
          <a:prstGeom prst="rect">
            <a:avLst/>
          </a:prstGeom>
          <a:noFill/>
        </p:spPr>
        <p:txBody>
          <a:bodyPr wrap="square" lIns="0" tIns="0" rIns="0" bIns="0" anchor="t">
            <a:spAutoFit/>
          </a:bodyPr>
          <a:lstStyle/>
          <a:p>
            <a:pPr algn="l">
              <a:lnSpc>
                <a:spcPct val="100000"/>
              </a:lnSpc>
            </a:pPr>
            <a:r>
              <a:rPr sz="4600" b="1" i="0" dirty="0">
                <a:solidFill>
                  <a:srgbClr val="C6198D"/>
                </a:solidFill>
                <a:latin typeface="DM Sans"/>
              </a:rPr>
              <a:t>The Re-Rating Setup</a:t>
            </a:r>
          </a:p>
        </p:txBody>
      </p:sp>
      <p:sp>
        <p:nvSpPr>
          <p:cNvPr id="9" name="TextBox 8"/>
          <p:cNvSpPr txBox="1"/>
          <p:nvPr/>
        </p:nvSpPr>
        <p:spPr>
          <a:xfrm>
            <a:off x="777240" y="4206240"/>
            <a:ext cx="10515600" cy="600293"/>
          </a:xfrm>
          <a:prstGeom prst="rect">
            <a:avLst/>
          </a:prstGeom>
          <a:noFill/>
        </p:spPr>
        <p:txBody>
          <a:bodyPr wrap="square" lIns="0" tIns="0" rIns="0" bIns="0" anchor="t">
            <a:spAutoFit/>
          </a:bodyPr>
          <a:lstStyle/>
          <a:p>
            <a:pPr algn="l">
              <a:lnSpc>
                <a:spcPct val="135000"/>
              </a:lnSpc>
            </a:pPr>
            <a:r>
              <a:rPr sz="1500" b="0" i="1" dirty="0">
                <a:solidFill>
                  <a:srgbClr val="555555"/>
                </a:solidFill>
                <a:latin typeface="DM Sans"/>
              </a:rPr>
              <a:t>Why </a:t>
            </a:r>
            <a:r>
              <a:rPr lang="en-US" sz="1500" b="0" i="1" dirty="0">
                <a:solidFill>
                  <a:srgbClr val="555555"/>
                </a:solidFill>
                <a:latin typeface="DM Sans"/>
              </a:rPr>
              <a:t>an</a:t>
            </a:r>
            <a:r>
              <a:rPr sz="1500" b="0" i="1" dirty="0">
                <a:solidFill>
                  <a:srgbClr val="555555"/>
                </a:solidFill>
                <a:latin typeface="DM Sans"/>
              </a:rPr>
              <a:t> </a:t>
            </a:r>
            <a:r>
              <a:rPr lang="en-US" sz="1500" i="1" dirty="0">
                <a:solidFill>
                  <a:srgbClr val="555555"/>
                </a:solidFill>
                <a:latin typeface="DM Sans"/>
              </a:rPr>
              <a:t>8.5</a:t>
            </a:r>
            <a:r>
              <a:rPr sz="1500" b="0" i="1" dirty="0">
                <a:solidFill>
                  <a:srgbClr val="555555"/>
                </a:solidFill>
                <a:latin typeface="DM Sans"/>
              </a:rPr>
              <a:t>x trailing P/E, a rebuilt regulatory rulebook and an incoming leadership reset at BSEC create an asymmetric entry into one of Asia's most under-owned markets — into the BNP government's first budget.</a:t>
            </a:r>
          </a:p>
        </p:txBody>
      </p:sp>
      <p:sp>
        <p:nvSpPr>
          <p:cNvPr id="10" name="Oval 9"/>
          <p:cNvSpPr/>
          <p:nvPr/>
        </p:nvSpPr>
        <p:spPr>
          <a:xfrm>
            <a:off x="795528" y="5458968"/>
            <a:ext cx="146304" cy="146304"/>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69848" y="5458968"/>
            <a:ext cx="146304" cy="146304"/>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344168" y="5458968"/>
            <a:ext cx="146304" cy="146304"/>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5852160"/>
            <a:ext cx="10515600" cy="203261"/>
          </a:xfrm>
          <a:prstGeom prst="rect">
            <a:avLst/>
          </a:prstGeom>
          <a:noFill/>
        </p:spPr>
        <p:txBody>
          <a:bodyPr wrap="square" lIns="0" tIns="0" rIns="0" bIns="0" anchor="t">
            <a:spAutoFit/>
          </a:bodyPr>
          <a:lstStyle/>
          <a:p>
            <a:pPr algn="l">
              <a:lnSpc>
                <a:spcPct val="115000"/>
              </a:lnSpc>
            </a:pPr>
            <a:r>
              <a:rPr sz="1200" b="1" i="0">
                <a:solidFill>
                  <a:srgbClr val="2F3691"/>
                </a:solidFill>
                <a:latin typeface="DM Sans"/>
              </a:rPr>
              <a:t>EQUITY MARKET UPDATE   ·   19 MAY 2026</a:t>
            </a:r>
          </a:p>
        </p:txBody>
      </p:sp>
      <p:pic>
        <p:nvPicPr>
          <p:cNvPr id="16" name="Picture 15">
            <a:extLst>
              <a:ext uri="{FF2B5EF4-FFF2-40B4-BE49-F238E27FC236}">
                <a16:creationId xmlns:a16="http://schemas.microsoft.com/office/drawing/2014/main" id="{1C4A0B16-DFC1-F454-92E3-2446976F5471}"/>
              </a:ext>
            </a:extLst>
          </p:cNvPr>
          <p:cNvPicPr>
            <a:picLocks noChangeAspect="1"/>
          </p:cNvPicPr>
          <p:nvPr/>
        </p:nvPicPr>
        <p:blipFill>
          <a:blip r:embed="rId2"/>
          <a:stretch>
            <a:fillRect/>
          </a:stretch>
        </p:blipFill>
        <p:spPr>
          <a:xfrm>
            <a:off x="777240" y="281035"/>
            <a:ext cx="1777764" cy="90096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0" y="292608"/>
            <a:ext cx="2541181" cy="155448"/>
          </a:xfrm>
          <a:prstGeom prst="rect">
            <a:avLst/>
          </a:prstGeom>
          <a:noFill/>
        </p:spPr>
        <p:txBody>
          <a:bodyPr wrap="square" lIns="0" tIns="0" rIns="0" bIns="0" anchor="t">
            <a:spAutoFit/>
          </a:bodyPr>
          <a:lstStyle/>
          <a:p>
            <a:pPr algn="l">
              <a:lnSpc>
                <a:spcPct val="115000"/>
              </a:lnSpc>
            </a:pPr>
            <a:r>
              <a:rPr sz="900" b="0" i="0">
                <a:solidFill>
                  <a:srgbClr val="8A8A8A"/>
                </a:solidFill>
                <a:latin typeface="DM Sans"/>
              </a:rPr>
              <a:t>EQUITY MARKET UPDATE  ·  MAY 2026</a:t>
            </a:r>
          </a:p>
        </p:txBody>
      </p:sp>
      <p:sp>
        <p:nvSpPr>
          <p:cNvPr id="5" name="Oval 4"/>
          <p:cNvSpPr/>
          <p:nvPr/>
        </p:nvSpPr>
        <p:spPr>
          <a:xfrm>
            <a:off x="11283696" y="338328"/>
            <a:ext cx="109728" cy="109728"/>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466576" y="338328"/>
            <a:ext cx="109728" cy="109728"/>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49456" y="338328"/>
            <a:ext cx="109728" cy="109728"/>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731520"/>
            <a:ext cx="11201400" cy="761940"/>
          </a:xfrm>
          <a:prstGeom prst="rect">
            <a:avLst/>
          </a:prstGeom>
          <a:noFill/>
        </p:spPr>
        <p:txBody>
          <a:bodyPr wrap="square" lIns="0" tIns="0" rIns="0" bIns="0" anchor="t">
            <a:spAutoFit/>
          </a:bodyPr>
          <a:lstStyle/>
          <a:p>
            <a:pPr algn="l">
              <a:lnSpc>
                <a:spcPct val="115000"/>
              </a:lnSpc>
            </a:pPr>
            <a:r>
              <a:rPr sz="2200" b="1" i="0" dirty="0">
                <a:solidFill>
                  <a:srgbClr val="2F3691"/>
                </a:solidFill>
                <a:latin typeface="DM Sans"/>
              </a:rPr>
              <a:t>Bangladesh equities offer asymmetric upside at </a:t>
            </a:r>
            <a:r>
              <a:rPr lang="en-US" sz="2200" b="1" dirty="0">
                <a:solidFill>
                  <a:srgbClr val="2F3691"/>
                </a:solidFill>
                <a:latin typeface="DM Sans"/>
              </a:rPr>
              <a:t>8.5</a:t>
            </a:r>
            <a:r>
              <a:rPr sz="2200" b="1" i="0" dirty="0">
                <a:solidFill>
                  <a:srgbClr val="2F3691"/>
                </a:solidFill>
                <a:latin typeface="DM Sans"/>
              </a:rPr>
              <a:t>x P/E as reforms compound into the BNP government's first budget</a:t>
            </a:r>
          </a:p>
        </p:txBody>
      </p:sp>
      <p:sp>
        <p:nvSpPr>
          <p:cNvPr id="9" name="TextBox 8"/>
          <p:cNvSpPr txBox="1"/>
          <p:nvPr/>
        </p:nvSpPr>
        <p:spPr>
          <a:xfrm>
            <a:off x="502920" y="1627632"/>
            <a:ext cx="11201400" cy="411480"/>
          </a:xfrm>
          <a:prstGeom prst="rect">
            <a:avLst/>
          </a:prstGeom>
          <a:noFill/>
        </p:spPr>
        <p:txBody>
          <a:bodyPr wrap="square" lIns="0" tIns="0" rIns="0" bIns="0" anchor="t">
            <a:spAutoFit/>
          </a:bodyPr>
          <a:lstStyle/>
          <a:p>
            <a:pPr algn="l">
              <a:lnSpc>
                <a:spcPct val="120000"/>
              </a:lnSpc>
            </a:pPr>
            <a:r>
              <a:rPr sz="1250" b="0" i="1">
                <a:solidFill>
                  <a:srgbClr val="555555"/>
                </a:solidFill>
                <a:latin typeface="DM Sans"/>
              </a:rPr>
              <a:t>Our governing thesis ahead of FY27 — three pillars support the call</a:t>
            </a:r>
          </a:p>
        </p:txBody>
      </p:sp>
      <p:sp>
        <p:nvSpPr>
          <p:cNvPr id="10" name="Rounded Rectangle 9"/>
          <p:cNvSpPr/>
          <p:nvPr/>
        </p:nvSpPr>
        <p:spPr>
          <a:xfrm>
            <a:off x="502920" y="2240280"/>
            <a:ext cx="11201400" cy="960120"/>
          </a:xfrm>
          <a:prstGeom prst="roundRect">
            <a:avLst>
              <a:gd name="adj" fmla="val 10000"/>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2240280"/>
            <a:ext cx="91440" cy="960120"/>
          </a:xfrm>
          <a:prstGeom prst="rect">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29115" y="2320652"/>
            <a:ext cx="10835640" cy="773289"/>
          </a:xfrm>
          <a:prstGeom prst="rect">
            <a:avLst/>
          </a:prstGeom>
          <a:noFill/>
        </p:spPr>
        <p:txBody>
          <a:bodyPr wrap="square" lIns="0" tIns="0" rIns="0" bIns="0" anchor="t">
            <a:spAutoFit/>
          </a:bodyPr>
          <a:lstStyle/>
          <a:p>
            <a:pPr algn="l">
              <a:lnSpc>
                <a:spcPct val="125000"/>
              </a:lnSpc>
            </a:pPr>
            <a:r>
              <a:rPr sz="1400" b="1" i="0" dirty="0">
                <a:solidFill>
                  <a:srgbClr val="2F3691"/>
                </a:solidFill>
                <a:latin typeface="DM Sans"/>
              </a:rPr>
              <a:t>Governing thought   </a:t>
            </a:r>
          </a:p>
          <a:p>
            <a:pPr algn="l">
              <a:lnSpc>
                <a:spcPct val="125000"/>
              </a:lnSpc>
            </a:pPr>
            <a:r>
              <a:rPr sz="1300" b="0" i="0" dirty="0">
                <a:solidFill>
                  <a:srgbClr val="1A1A1A"/>
                </a:solidFill>
                <a:latin typeface="DM Sans"/>
              </a:rPr>
              <a:t>Bangladesh equities trade at a</a:t>
            </a:r>
            <a:r>
              <a:rPr lang="en-US" sz="1300" b="0" i="0" dirty="0">
                <a:solidFill>
                  <a:srgbClr val="1A1A1A"/>
                </a:solidFill>
                <a:latin typeface="DM Sans"/>
              </a:rPr>
              <a:t> </a:t>
            </a:r>
            <a:r>
              <a:rPr lang="en-US" sz="1300" b="1" dirty="0">
                <a:solidFill>
                  <a:srgbClr val="2F3691"/>
                </a:solidFill>
                <a:latin typeface="DM Sans"/>
              </a:rPr>
              <a:t>c29</a:t>
            </a:r>
            <a:r>
              <a:rPr sz="1300" b="1" i="0" dirty="0">
                <a:solidFill>
                  <a:srgbClr val="2F3691"/>
                </a:solidFill>
                <a:latin typeface="DM Sans"/>
              </a:rPr>
              <a:t>% discount to their 10-year average </a:t>
            </a:r>
            <a:r>
              <a:rPr sz="1300" b="0" i="0" dirty="0">
                <a:solidFill>
                  <a:srgbClr val="1A1A1A"/>
                </a:solidFill>
                <a:latin typeface="DM Sans"/>
              </a:rPr>
              <a:t>and a </a:t>
            </a:r>
            <a:r>
              <a:rPr lang="en-US" sz="1300" b="1" dirty="0">
                <a:solidFill>
                  <a:srgbClr val="2F3691"/>
                </a:solidFill>
                <a:latin typeface="DM Sans"/>
              </a:rPr>
              <a:t>c48</a:t>
            </a:r>
            <a:r>
              <a:rPr sz="1300" b="1" i="0" dirty="0">
                <a:solidFill>
                  <a:srgbClr val="2F3691"/>
                </a:solidFill>
                <a:latin typeface="DM Sans"/>
              </a:rPr>
              <a:t>% discount to Vietnam, </a:t>
            </a:r>
            <a:r>
              <a:rPr sz="1300" b="0" i="0" dirty="0">
                <a:solidFill>
                  <a:srgbClr val="1A1A1A"/>
                </a:solidFill>
                <a:latin typeface="DM Sans"/>
              </a:rPr>
              <a:t>even as a multi-year regulatory reset and a stabilizing macro create the conditions for a re-rating.</a:t>
            </a:r>
          </a:p>
        </p:txBody>
      </p:sp>
      <p:sp>
        <p:nvSpPr>
          <p:cNvPr id="13" name="Rounded Rectangle 12"/>
          <p:cNvSpPr/>
          <p:nvPr/>
        </p:nvSpPr>
        <p:spPr>
          <a:xfrm>
            <a:off x="502920" y="3520440"/>
            <a:ext cx="3584448" cy="2606040"/>
          </a:xfrm>
          <a:prstGeom prst="roundRect">
            <a:avLst>
              <a:gd name="adj" fmla="val 5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3520440"/>
            <a:ext cx="3584448" cy="91440"/>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721608"/>
            <a:ext cx="3127248" cy="274320"/>
          </a:xfrm>
          <a:prstGeom prst="rect">
            <a:avLst/>
          </a:prstGeom>
          <a:noFill/>
        </p:spPr>
        <p:txBody>
          <a:bodyPr wrap="square" lIns="0" tIns="0" rIns="0" bIns="0" anchor="t">
            <a:spAutoFit/>
          </a:bodyPr>
          <a:lstStyle/>
          <a:p>
            <a:pPr algn="l">
              <a:lnSpc>
                <a:spcPct val="115000"/>
              </a:lnSpc>
            </a:pPr>
            <a:r>
              <a:rPr sz="850" b="1" i="0">
                <a:solidFill>
                  <a:srgbClr val="C6198D"/>
                </a:solidFill>
                <a:latin typeface="DM Sans"/>
              </a:rPr>
              <a:t>01  ·  VALUATION</a:t>
            </a:r>
          </a:p>
        </p:txBody>
      </p:sp>
      <p:sp>
        <p:nvSpPr>
          <p:cNvPr id="16" name="TextBox 15"/>
          <p:cNvSpPr txBox="1"/>
          <p:nvPr/>
        </p:nvSpPr>
        <p:spPr>
          <a:xfrm>
            <a:off x="731520" y="4023360"/>
            <a:ext cx="3127248" cy="411480"/>
          </a:xfrm>
          <a:prstGeom prst="rect">
            <a:avLst/>
          </a:prstGeom>
          <a:noFill/>
        </p:spPr>
        <p:txBody>
          <a:bodyPr wrap="square" lIns="0" tIns="0" rIns="0" bIns="0" anchor="t">
            <a:spAutoFit/>
          </a:bodyPr>
          <a:lstStyle/>
          <a:p>
            <a:pPr algn="l">
              <a:lnSpc>
                <a:spcPct val="115000"/>
              </a:lnSpc>
            </a:pPr>
            <a:r>
              <a:rPr sz="1550" b="1" i="0">
                <a:solidFill>
                  <a:srgbClr val="2F3691"/>
                </a:solidFill>
                <a:latin typeface="DM Sans"/>
              </a:rPr>
              <a:t>Cheap on every metric</a:t>
            </a:r>
          </a:p>
        </p:txBody>
      </p:sp>
      <p:sp>
        <p:nvSpPr>
          <p:cNvPr id="17" name="TextBox 16"/>
          <p:cNvSpPr txBox="1"/>
          <p:nvPr/>
        </p:nvSpPr>
        <p:spPr>
          <a:xfrm>
            <a:off x="731520" y="4526280"/>
            <a:ext cx="1417320" cy="220188"/>
          </a:xfrm>
          <a:prstGeom prst="rect">
            <a:avLst/>
          </a:prstGeom>
          <a:noFill/>
        </p:spPr>
        <p:txBody>
          <a:bodyPr wrap="square" lIns="0" tIns="0" rIns="0" bIns="0" anchor="t">
            <a:spAutoFit/>
          </a:bodyPr>
          <a:lstStyle/>
          <a:p>
            <a:pPr algn="l">
              <a:lnSpc>
                <a:spcPct val="115000"/>
              </a:lnSpc>
            </a:pPr>
            <a:r>
              <a:rPr lang="en-US" sz="1300" b="1" dirty="0">
                <a:solidFill>
                  <a:srgbClr val="C6198D"/>
                </a:solidFill>
                <a:latin typeface="DM Sans"/>
              </a:rPr>
              <a:t>8.5</a:t>
            </a:r>
            <a:r>
              <a:rPr sz="1300" b="1" i="0" dirty="0">
                <a:solidFill>
                  <a:srgbClr val="C6198D"/>
                </a:solidFill>
                <a:latin typeface="DM Sans"/>
              </a:rPr>
              <a:t>x</a:t>
            </a:r>
          </a:p>
        </p:txBody>
      </p:sp>
      <p:sp>
        <p:nvSpPr>
          <p:cNvPr id="18" name="TextBox 17"/>
          <p:cNvSpPr txBox="1"/>
          <p:nvPr/>
        </p:nvSpPr>
        <p:spPr>
          <a:xfrm>
            <a:off x="2194560" y="4562856"/>
            <a:ext cx="1709928" cy="323807"/>
          </a:xfrm>
          <a:prstGeom prst="rect">
            <a:avLst/>
          </a:prstGeom>
          <a:noFill/>
        </p:spPr>
        <p:txBody>
          <a:bodyPr wrap="square" lIns="0" tIns="0" rIns="0" bIns="0" anchor="t">
            <a:spAutoFit/>
          </a:bodyPr>
          <a:lstStyle/>
          <a:p>
            <a:pPr algn="l">
              <a:lnSpc>
                <a:spcPct val="120000"/>
              </a:lnSpc>
            </a:pPr>
            <a:r>
              <a:rPr sz="900" b="0" i="0" dirty="0">
                <a:solidFill>
                  <a:srgbClr val="555555"/>
                </a:solidFill>
                <a:latin typeface="DM Sans"/>
              </a:rPr>
              <a:t>Trailing P/E vs 12.1x 10-yr avg &amp; 1</a:t>
            </a:r>
            <a:r>
              <a:rPr lang="en-US" sz="900" b="0" i="0" dirty="0">
                <a:solidFill>
                  <a:srgbClr val="555555"/>
                </a:solidFill>
                <a:latin typeface="DM Sans"/>
              </a:rPr>
              <a:t>6.6</a:t>
            </a:r>
            <a:r>
              <a:rPr sz="900" b="0" i="0" dirty="0">
                <a:solidFill>
                  <a:srgbClr val="555555"/>
                </a:solidFill>
                <a:latin typeface="DM Sans"/>
              </a:rPr>
              <a:t>x Vietnam</a:t>
            </a:r>
          </a:p>
        </p:txBody>
      </p:sp>
      <p:sp>
        <p:nvSpPr>
          <p:cNvPr id="19" name="TextBox 18"/>
          <p:cNvSpPr txBox="1"/>
          <p:nvPr/>
        </p:nvSpPr>
        <p:spPr>
          <a:xfrm>
            <a:off x="731520" y="5029200"/>
            <a:ext cx="1417320" cy="292608"/>
          </a:xfrm>
          <a:prstGeom prst="rect">
            <a:avLst/>
          </a:prstGeom>
          <a:noFill/>
        </p:spPr>
        <p:txBody>
          <a:bodyPr wrap="square" lIns="0" tIns="0" rIns="0" bIns="0" anchor="t">
            <a:spAutoFit/>
          </a:bodyPr>
          <a:lstStyle/>
          <a:p>
            <a:pPr algn="l">
              <a:lnSpc>
                <a:spcPct val="115000"/>
              </a:lnSpc>
            </a:pPr>
            <a:r>
              <a:rPr sz="1300" b="1" i="0">
                <a:solidFill>
                  <a:srgbClr val="C6198D"/>
                </a:solidFill>
                <a:latin typeface="DM Sans"/>
              </a:rPr>
              <a:t>-29%</a:t>
            </a:r>
          </a:p>
        </p:txBody>
      </p:sp>
      <p:sp>
        <p:nvSpPr>
          <p:cNvPr id="20" name="TextBox 19"/>
          <p:cNvSpPr txBox="1"/>
          <p:nvPr/>
        </p:nvSpPr>
        <p:spPr>
          <a:xfrm>
            <a:off x="2194560" y="5065776"/>
            <a:ext cx="1709928" cy="502920"/>
          </a:xfrm>
          <a:prstGeom prst="rect">
            <a:avLst/>
          </a:prstGeom>
          <a:noFill/>
        </p:spPr>
        <p:txBody>
          <a:bodyPr wrap="square" lIns="0" tIns="0" rIns="0" bIns="0" anchor="t">
            <a:spAutoFit/>
          </a:bodyPr>
          <a:lstStyle/>
          <a:p>
            <a:pPr algn="l">
              <a:lnSpc>
                <a:spcPct val="120000"/>
              </a:lnSpc>
            </a:pPr>
            <a:r>
              <a:rPr sz="900" b="0" i="0">
                <a:solidFill>
                  <a:srgbClr val="555555"/>
                </a:solidFill>
                <a:latin typeface="DM Sans"/>
              </a:rPr>
              <a:t>DSEX still below its Sep-2021 all-time high</a:t>
            </a:r>
          </a:p>
        </p:txBody>
      </p:sp>
      <p:sp>
        <p:nvSpPr>
          <p:cNvPr id="21" name="TextBox 20"/>
          <p:cNvSpPr txBox="1"/>
          <p:nvPr/>
        </p:nvSpPr>
        <p:spPr>
          <a:xfrm>
            <a:off x="731520" y="5532120"/>
            <a:ext cx="1417320" cy="220188"/>
          </a:xfrm>
          <a:prstGeom prst="rect">
            <a:avLst/>
          </a:prstGeom>
          <a:noFill/>
        </p:spPr>
        <p:txBody>
          <a:bodyPr wrap="square" lIns="0" tIns="0" rIns="0" bIns="0" anchor="t">
            <a:spAutoFit/>
          </a:bodyPr>
          <a:lstStyle/>
          <a:p>
            <a:pPr algn="l">
              <a:lnSpc>
                <a:spcPct val="115000"/>
              </a:lnSpc>
            </a:pPr>
            <a:r>
              <a:rPr lang="en-US" sz="1300" b="1" i="0" dirty="0">
                <a:solidFill>
                  <a:srgbClr val="C6198D"/>
                </a:solidFill>
                <a:latin typeface="DM Sans"/>
              </a:rPr>
              <a:t>5.9</a:t>
            </a:r>
            <a:r>
              <a:rPr sz="1300" b="1" i="0" dirty="0">
                <a:solidFill>
                  <a:srgbClr val="C6198D"/>
                </a:solidFill>
                <a:latin typeface="DM Sans"/>
              </a:rPr>
              <a:t>%</a:t>
            </a:r>
          </a:p>
        </p:txBody>
      </p:sp>
      <p:sp>
        <p:nvSpPr>
          <p:cNvPr id="22" name="TextBox 21"/>
          <p:cNvSpPr txBox="1"/>
          <p:nvPr/>
        </p:nvSpPr>
        <p:spPr>
          <a:xfrm>
            <a:off x="2194560" y="5568696"/>
            <a:ext cx="1709928" cy="502920"/>
          </a:xfrm>
          <a:prstGeom prst="rect">
            <a:avLst/>
          </a:prstGeom>
          <a:noFill/>
        </p:spPr>
        <p:txBody>
          <a:bodyPr wrap="square" lIns="0" tIns="0" rIns="0" bIns="0" anchor="t">
            <a:spAutoFit/>
          </a:bodyPr>
          <a:lstStyle/>
          <a:p>
            <a:pPr algn="l">
              <a:lnSpc>
                <a:spcPct val="120000"/>
              </a:lnSpc>
            </a:pPr>
            <a:r>
              <a:rPr sz="900" b="0" i="0">
                <a:solidFill>
                  <a:srgbClr val="555555"/>
                </a:solidFill>
                <a:latin typeface="DM Sans"/>
              </a:rPr>
              <a:t>Market cap / GDP — frontier-leading penetration room</a:t>
            </a:r>
          </a:p>
        </p:txBody>
      </p:sp>
      <p:sp>
        <p:nvSpPr>
          <p:cNvPr id="23" name="Rounded Rectangle 22"/>
          <p:cNvSpPr/>
          <p:nvPr/>
        </p:nvSpPr>
        <p:spPr>
          <a:xfrm>
            <a:off x="4251959" y="3520440"/>
            <a:ext cx="3584448" cy="2606040"/>
          </a:xfrm>
          <a:prstGeom prst="roundRect">
            <a:avLst>
              <a:gd name="adj" fmla="val 5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251959" y="3520440"/>
            <a:ext cx="3584448" cy="91440"/>
          </a:xfrm>
          <a:prstGeom prst="rect">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80559" y="3721608"/>
            <a:ext cx="3127248" cy="274320"/>
          </a:xfrm>
          <a:prstGeom prst="rect">
            <a:avLst/>
          </a:prstGeom>
          <a:noFill/>
        </p:spPr>
        <p:txBody>
          <a:bodyPr wrap="square" lIns="0" tIns="0" rIns="0" bIns="0" anchor="t">
            <a:spAutoFit/>
          </a:bodyPr>
          <a:lstStyle/>
          <a:p>
            <a:pPr algn="l">
              <a:lnSpc>
                <a:spcPct val="115000"/>
              </a:lnSpc>
            </a:pPr>
            <a:r>
              <a:rPr sz="850" b="1" i="0">
                <a:solidFill>
                  <a:srgbClr val="2F3691"/>
                </a:solidFill>
                <a:latin typeface="DM Sans"/>
              </a:rPr>
              <a:t>02  ·  HEADWINDS</a:t>
            </a:r>
          </a:p>
        </p:txBody>
      </p:sp>
      <p:sp>
        <p:nvSpPr>
          <p:cNvPr id="26" name="TextBox 25"/>
          <p:cNvSpPr txBox="1"/>
          <p:nvPr/>
        </p:nvSpPr>
        <p:spPr>
          <a:xfrm>
            <a:off x="4480559" y="4023360"/>
            <a:ext cx="3127248" cy="411480"/>
          </a:xfrm>
          <a:prstGeom prst="rect">
            <a:avLst/>
          </a:prstGeom>
          <a:noFill/>
        </p:spPr>
        <p:txBody>
          <a:bodyPr wrap="square" lIns="0" tIns="0" rIns="0" bIns="0" anchor="t">
            <a:spAutoFit/>
          </a:bodyPr>
          <a:lstStyle/>
          <a:p>
            <a:pPr algn="l">
              <a:lnSpc>
                <a:spcPct val="115000"/>
              </a:lnSpc>
            </a:pPr>
            <a:r>
              <a:rPr sz="1550" b="1" i="0">
                <a:solidFill>
                  <a:srgbClr val="2F3691"/>
                </a:solidFill>
                <a:latin typeface="DM Sans"/>
              </a:rPr>
              <a:t>Risks are dated and priced</a:t>
            </a:r>
          </a:p>
        </p:txBody>
      </p:sp>
      <p:sp>
        <p:nvSpPr>
          <p:cNvPr id="27" name="TextBox 26"/>
          <p:cNvSpPr txBox="1"/>
          <p:nvPr/>
        </p:nvSpPr>
        <p:spPr>
          <a:xfrm>
            <a:off x="4480559" y="4526280"/>
            <a:ext cx="1417320" cy="292608"/>
          </a:xfrm>
          <a:prstGeom prst="rect">
            <a:avLst/>
          </a:prstGeom>
          <a:noFill/>
        </p:spPr>
        <p:txBody>
          <a:bodyPr wrap="square" lIns="0" tIns="0" rIns="0" bIns="0" anchor="t">
            <a:spAutoFit/>
          </a:bodyPr>
          <a:lstStyle/>
          <a:p>
            <a:pPr algn="l">
              <a:lnSpc>
                <a:spcPct val="115000"/>
              </a:lnSpc>
            </a:pPr>
            <a:r>
              <a:rPr sz="1300" b="1" i="0">
                <a:solidFill>
                  <a:srgbClr val="2F3691"/>
                </a:solidFill>
                <a:latin typeface="DM Sans"/>
              </a:rPr>
              <a:t>10.00%</a:t>
            </a:r>
          </a:p>
        </p:txBody>
      </p:sp>
      <p:sp>
        <p:nvSpPr>
          <p:cNvPr id="28" name="TextBox 27"/>
          <p:cNvSpPr txBox="1"/>
          <p:nvPr/>
        </p:nvSpPr>
        <p:spPr>
          <a:xfrm>
            <a:off x="5943600" y="4562856"/>
            <a:ext cx="1709928" cy="502920"/>
          </a:xfrm>
          <a:prstGeom prst="rect">
            <a:avLst/>
          </a:prstGeom>
          <a:noFill/>
        </p:spPr>
        <p:txBody>
          <a:bodyPr wrap="square" lIns="0" tIns="0" rIns="0" bIns="0" anchor="t">
            <a:spAutoFit/>
          </a:bodyPr>
          <a:lstStyle/>
          <a:p>
            <a:pPr algn="l">
              <a:lnSpc>
                <a:spcPct val="120000"/>
              </a:lnSpc>
            </a:pPr>
            <a:r>
              <a:rPr sz="900" b="0" i="0" dirty="0">
                <a:solidFill>
                  <a:srgbClr val="555555"/>
                </a:solidFill>
                <a:latin typeface="DM Sans"/>
              </a:rPr>
              <a:t>Repo rate held — peak monetary tightness in view</a:t>
            </a:r>
          </a:p>
        </p:txBody>
      </p:sp>
      <p:sp>
        <p:nvSpPr>
          <p:cNvPr id="29" name="TextBox 28"/>
          <p:cNvSpPr txBox="1"/>
          <p:nvPr/>
        </p:nvSpPr>
        <p:spPr>
          <a:xfrm>
            <a:off x="4480559" y="5029200"/>
            <a:ext cx="1417320" cy="292608"/>
          </a:xfrm>
          <a:prstGeom prst="rect">
            <a:avLst/>
          </a:prstGeom>
          <a:noFill/>
        </p:spPr>
        <p:txBody>
          <a:bodyPr wrap="square" lIns="0" tIns="0" rIns="0" bIns="0" anchor="t">
            <a:spAutoFit/>
          </a:bodyPr>
          <a:lstStyle/>
          <a:p>
            <a:pPr algn="l">
              <a:lnSpc>
                <a:spcPct val="115000"/>
              </a:lnSpc>
            </a:pPr>
            <a:r>
              <a:rPr sz="1300" b="1" i="0">
                <a:solidFill>
                  <a:srgbClr val="2F3691"/>
                </a:solidFill>
                <a:latin typeface="DM Sans"/>
              </a:rPr>
              <a:t>3.9%</a:t>
            </a:r>
          </a:p>
        </p:txBody>
      </p:sp>
      <p:sp>
        <p:nvSpPr>
          <p:cNvPr id="30" name="TextBox 29"/>
          <p:cNvSpPr txBox="1"/>
          <p:nvPr/>
        </p:nvSpPr>
        <p:spPr>
          <a:xfrm>
            <a:off x="5943600" y="5065776"/>
            <a:ext cx="1709928" cy="502920"/>
          </a:xfrm>
          <a:prstGeom prst="rect">
            <a:avLst/>
          </a:prstGeom>
          <a:noFill/>
        </p:spPr>
        <p:txBody>
          <a:bodyPr wrap="square" lIns="0" tIns="0" rIns="0" bIns="0" anchor="t">
            <a:spAutoFit/>
          </a:bodyPr>
          <a:lstStyle/>
          <a:p>
            <a:pPr algn="l">
              <a:lnSpc>
                <a:spcPct val="120000"/>
              </a:lnSpc>
            </a:pPr>
            <a:r>
              <a:rPr sz="900" b="0" i="0" dirty="0">
                <a:solidFill>
                  <a:srgbClr val="555555"/>
                </a:solidFill>
                <a:latin typeface="DM Sans"/>
              </a:rPr>
              <a:t>WB FY26 GDP cut (Apr-26) — bad news in the price</a:t>
            </a:r>
          </a:p>
        </p:txBody>
      </p:sp>
      <p:sp>
        <p:nvSpPr>
          <p:cNvPr id="31" name="TextBox 30"/>
          <p:cNvSpPr txBox="1"/>
          <p:nvPr/>
        </p:nvSpPr>
        <p:spPr>
          <a:xfrm>
            <a:off x="4480559" y="5532120"/>
            <a:ext cx="1417320" cy="292608"/>
          </a:xfrm>
          <a:prstGeom prst="rect">
            <a:avLst/>
          </a:prstGeom>
          <a:noFill/>
        </p:spPr>
        <p:txBody>
          <a:bodyPr wrap="square" lIns="0" tIns="0" rIns="0" bIns="0" anchor="t">
            <a:spAutoFit/>
          </a:bodyPr>
          <a:lstStyle/>
          <a:p>
            <a:pPr algn="l">
              <a:lnSpc>
                <a:spcPct val="115000"/>
              </a:lnSpc>
            </a:pPr>
            <a:r>
              <a:rPr sz="1300" b="1" i="0">
                <a:solidFill>
                  <a:srgbClr val="2F3691"/>
                </a:solidFill>
                <a:latin typeface="DM Sans"/>
              </a:rPr>
              <a:t>30.6%</a:t>
            </a:r>
          </a:p>
        </p:txBody>
      </p:sp>
      <p:sp>
        <p:nvSpPr>
          <p:cNvPr id="32" name="TextBox 31"/>
          <p:cNvSpPr txBox="1"/>
          <p:nvPr/>
        </p:nvSpPr>
        <p:spPr>
          <a:xfrm>
            <a:off x="5943600" y="5568696"/>
            <a:ext cx="1709928" cy="502920"/>
          </a:xfrm>
          <a:prstGeom prst="rect">
            <a:avLst/>
          </a:prstGeom>
          <a:noFill/>
        </p:spPr>
        <p:txBody>
          <a:bodyPr wrap="square" lIns="0" tIns="0" rIns="0" bIns="0" anchor="t">
            <a:spAutoFit/>
          </a:bodyPr>
          <a:lstStyle/>
          <a:p>
            <a:pPr algn="l">
              <a:lnSpc>
                <a:spcPct val="120000"/>
              </a:lnSpc>
            </a:pPr>
            <a:r>
              <a:rPr sz="900" b="0" i="0" dirty="0">
                <a:solidFill>
                  <a:srgbClr val="555555"/>
                </a:solidFill>
                <a:latin typeface="DM Sans"/>
              </a:rPr>
              <a:t>System NPL — recognition shock now visible</a:t>
            </a:r>
          </a:p>
        </p:txBody>
      </p:sp>
      <p:sp>
        <p:nvSpPr>
          <p:cNvPr id="33" name="Rounded Rectangle 32"/>
          <p:cNvSpPr/>
          <p:nvPr/>
        </p:nvSpPr>
        <p:spPr>
          <a:xfrm>
            <a:off x="8001000" y="3520440"/>
            <a:ext cx="3584448" cy="2606040"/>
          </a:xfrm>
          <a:prstGeom prst="roundRect">
            <a:avLst>
              <a:gd name="adj" fmla="val 5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001000" y="3520440"/>
            <a:ext cx="3584448" cy="91440"/>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29600" y="3721608"/>
            <a:ext cx="3127248" cy="274320"/>
          </a:xfrm>
          <a:prstGeom prst="rect">
            <a:avLst/>
          </a:prstGeom>
          <a:noFill/>
        </p:spPr>
        <p:txBody>
          <a:bodyPr wrap="square" lIns="0" tIns="0" rIns="0" bIns="0" anchor="t">
            <a:spAutoFit/>
          </a:bodyPr>
          <a:lstStyle/>
          <a:p>
            <a:pPr algn="l">
              <a:lnSpc>
                <a:spcPct val="115000"/>
              </a:lnSpc>
            </a:pPr>
            <a:r>
              <a:rPr sz="850" b="1" i="0">
                <a:solidFill>
                  <a:srgbClr val="01A7E1"/>
                </a:solidFill>
                <a:latin typeface="DM Sans"/>
              </a:rPr>
              <a:t>03  ·  TAILWINDS</a:t>
            </a:r>
          </a:p>
        </p:txBody>
      </p:sp>
      <p:sp>
        <p:nvSpPr>
          <p:cNvPr id="36" name="TextBox 35"/>
          <p:cNvSpPr txBox="1"/>
          <p:nvPr/>
        </p:nvSpPr>
        <p:spPr>
          <a:xfrm>
            <a:off x="8229600" y="4023360"/>
            <a:ext cx="3127248" cy="411480"/>
          </a:xfrm>
          <a:prstGeom prst="rect">
            <a:avLst/>
          </a:prstGeom>
          <a:noFill/>
        </p:spPr>
        <p:txBody>
          <a:bodyPr wrap="square" lIns="0" tIns="0" rIns="0" bIns="0" anchor="t">
            <a:spAutoFit/>
          </a:bodyPr>
          <a:lstStyle/>
          <a:p>
            <a:pPr algn="l">
              <a:lnSpc>
                <a:spcPct val="115000"/>
              </a:lnSpc>
            </a:pPr>
            <a:r>
              <a:rPr sz="1550" b="1" i="0">
                <a:solidFill>
                  <a:srgbClr val="2F3691"/>
                </a:solidFill>
                <a:latin typeface="DM Sans"/>
              </a:rPr>
              <a:t>Reforms compound</a:t>
            </a:r>
          </a:p>
        </p:txBody>
      </p:sp>
      <p:sp>
        <p:nvSpPr>
          <p:cNvPr id="37" name="TextBox 36"/>
          <p:cNvSpPr txBox="1"/>
          <p:nvPr/>
        </p:nvSpPr>
        <p:spPr>
          <a:xfrm>
            <a:off x="8229600" y="4526280"/>
            <a:ext cx="1417320" cy="292608"/>
          </a:xfrm>
          <a:prstGeom prst="rect">
            <a:avLst/>
          </a:prstGeom>
          <a:noFill/>
        </p:spPr>
        <p:txBody>
          <a:bodyPr wrap="square" lIns="0" tIns="0" rIns="0" bIns="0" anchor="t">
            <a:spAutoFit/>
          </a:bodyPr>
          <a:lstStyle/>
          <a:p>
            <a:pPr algn="l">
              <a:lnSpc>
                <a:spcPct val="115000"/>
              </a:lnSpc>
            </a:pPr>
            <a:r>
              <a:rPr sz="1300" b="1" i="0">
                <a:solidFill>
                  <a:srgbClr val="01A7E1"/>
                </a:solidFill>
                <a:latin typeface="DM Sans"/>
              </a:rPr>
              <a:t>FY27 Budget</a:t>
            </a:r>
          </a:p>
        </p:txBody>
      </p:sp>
      <p:sp>
        <p:nvSpPr>
          <p:cNvPr id="38" name="TextBox 37"/>
          <p:cNvSpPr txBox="1"/>
          <p:nvPr/>
        </p:nvSpPr>
        <p:spPr>
          <a:xfrm>
            <a:off x="9692640" y="4562856"/>
            <a:ext cx="1709928" cy="502920"/>
          </a:xfrm>
          <a:prstGeom prst="rect">
            <a:avLst/>
          </a:prstGeom>
          <a:noFill/>
        </p:spPr>
        <p:txBody>
          <a:bodyPr wrap="square" lIns="0" tIns="0" rIns="0" bIns="0" anchor="t">
            <a:spAutoFit/>
          </a:bodyPr>
          <a:lstStyle/>
          <a:p>
            <a:pPr algn="l">
              <a:lnSpc>
                <a:spcPct val="120000"/>
              </a:lnSpc>
            </a:pPr>
            <a:r>
              <a:rPr sz="900" b="0" i="0">
                <a:solidFill>
                  <a:srgbClr val="555555"/>
                </a:solidFill>
                <a:latin typeface="DM Sans"/>
              </a:rPr>
              <a:t>BNP govt's first budget on 11 Jun-26 — tax-relief asks queued</a:t>
            </a:r>
          </a:p>
        </p:txBody>
      </p:sp>
      <p:sp>
        <p:nvSpPr>
          <p:cNvPr id="39" name="TextBox 38"/>
          <p:cNvSpPr txBox="1"/>
          <p:nvPr/>
        </p:nvSpPr>
        <p:spPr>
          <a:xfrm>
            <a:off x="8229600" y="5029200"/>
            <a:ext cx="1417320" cy="292608"/>
          </a:xfrm>
          <a:prstGeom prst="rect">
            <a:avLst/>
          </a:prstGeom>
          <a:noFill/>
        </p:spPr>
        <p:txBody>
          <a:bodyPr wrap="square" lIns="0" tIns="0" rIns="0" bIns="0" anchor="t">
            <a:spAutoFit/>
          </a:bodyPr>
          <a:lstStyle/>
          <a:p>
            <a:pPr algn="l">
              <a:lnSpc>
                <a:spcPct val="115000"/>
              </a:lnSpc>
            </a:pPr>
            <a:r>
              <a:rPr sz="1300" b="1" i="0">
                <a:solidFill>
                  <a:srgbClr val="01A7E1"/>
                </a:solidFill>
                <a:latin typeface="DM Sans"/>
              </a:rPr>
              <a:t>BSEC reset</a:t>
            </a:r>
          </a:p>
        </p:txBody>
      </p:sp>
      <p:sp>
        <p:nvSpPr>
          <p:cNvPr id="40" name="TextBox 39"/>
          <p:cNvSpPr txBox="1"/>
          <p:nvPr/>
        </p:nvSpPr>
        <p:spPr>
          <a:xfrm>
            <a:off x="9692640" y="5065776"/>
            <a:ext cx="1709928" cy="502920"/>
          </a:xfrm>
          <a:prstGeom prst="rect">
            <a:avLst/>
          </a:prstGeom>
          <a:noFill/>
        </p:spPr>
        <p:txBody>
          <a:bodyPr wrap="square" lIns="0" tIns="0" rIns="0" bIns="0" anchor="t">
            <a:spAutoFit/>
          </a:bodyPr>
          <a:lstStyle/>
          <a:p>
            <a:pPr algn="l">
              <a:lnSpc>
                <a:spcPct val="120000"/>
              </a:lnSpc>
            </a:pPr>
            <a:r>
              <a:rPr sz="900" b="0" i="0" dirty="0">
                <a:solidFill>
                  <a:srgbClr val="555555"/>
                </a:solidFill>
                <a:latin typeface="DM Sans"/>
              </a:rPr>
              <a:t>New chairman appointment imminent — institutional, not personal</a:t>
            </a:r>
          </a:p>
        </p:txBody>
      </p:sp>
      <p:sp>
        <p:nvSpPr>
          <p:cNvPr id="41" name="TextBox 40"/>
          <p:cNvSpPr txBox="1"/>
          <p:nvPr/>
        </p:nvSpPr>
        <p:spPr>
          <a:xfrm>
            <a:off x="8229600" y="5532120"/>
            <a:ext cx="1417320" cy="292608"/>
          </a:xfrm>
          <a:prstGeom prst="rect">
            <a:avLst/>
          </a:prstGeom>
          <a:noFill/>
        </p:spPr>
        <p:txBody>
          <a:bodyPr wrap="square" lIns="0" tIns="0" rIns="0" bIns="0" anchor="t">
            <a:spAutoFit/>
          </a:bodyPr>
          <a:lstStyle/>
          <a:p>
            <a:pPr algn="l">
              <a:lnSpc>
                <a:spcPct val="115000"/>
              </a:lnSpc>
            </a:pPr>
            <a:r>
              <a:rPr sz="1300" b="1" i="0">
                <a:solidFill>
                  <a:srgbClr val="01A7E1"/>
                </a:solidFill>
                <a:latin typeface="DM Sans"/>
              </a:rPr>
              <a:t>CCBL + T+1</a:t>
            </a:r>
          </a:p>
        </p:txBody>
      </p:sp>
      <p:sp>
        <p:nvSpPr>
          <p:cNvPr id="42" name="TextBox 41"/>
          <p:cNvSpPr txBox="1"/>
          <p:nvPr/>
        </p:nvSpPr>
        <p:spPr>
          <a:xfrm>
            <a:off x="9692640" y="5568696"/>
            <a:ext cx="1709928" cy="502920"/>
          </a:xfrm>
          <a:prstGeom prst="rect">
            <a:avLst/>
          </a:prstGeom>
          <a:noFill/>
        </p:spPr>
        <p:txBody>
          <a:bodyPr wrap="square" lIns="0" tIns="0" rIns="0" bIns="0" anchor="t">
            <a:spAutoFit/>
          </a:bodyPr>
          <a:lstStyle/>
          <a:p>
            <a:pPr algn="l">
              <a:lnSpc>
                <a:spcPct val="120000"/>
              </a:lnSpc>
            </a:pPr>
            <a:r>
              <a:rPr sz="900" b="0" i="0">
                <a:solidFill>
                  <a:srgbClr val="555555"/>
                </a:solidFill>
                <a:latin typeface="DM Sans"/>
              </a:rPr>
              <a:t>MSCI accessibility plumbing in build-out</a:t>
            </a:r>
          </a:p>
        </p:txBody>
      </p:sp>
      <p:sp>
        <p:nvSpPr>
          <p:cNvPr id="43" name="TextBox 42"/>
          <p:cNvSpPr txBox="1"/>
          <p:nvPr/>
        </p:nvSpPr>
        <p:spPr>
          <a:xfrm>
            <a:off x="502920" y="6537960"/>
            <a:ext cx="9144000" cy="228600"/>
          </a:xfrm>
          <a:prstGeom prst="rect">
            <a:avLst/>
          </a:prstGeom>
          <a:noFill/>
        </p:spPr>
        <p:txBody>
          <a:bodyPr wrap="square" lIns="0" tIns="0" rIns="0" bIns="0" anchor="t">
            <a:spAutoFit/>
          </a:bodyPr>
          <a:lstStyle/>
          <a:p>
            <a:pPr algn="l">
              <a:lnSpc>
                <a:spcPct val="115000"/>
              </a:lnSpc>
            </a:pPr>
            <a:r>
              <a:rPr sz="750" b="0" i="1">
                <a:solidFill>
                  <a:srgbClr val="8A8A8A"/>
                </a:solidFill>
                <a:latin typeface="DM Sans"/>
              </a:rPr>
              <a:t>Sources: CAL Bangladesh Research synthesis; CEIC; DSE; TBS; IMF (Jan-26 Article IV); World Bank (Apr-26 BDU); BSEC</a:t>
            </a:r>
          </a:p>
        </p:txBody>
      </p:sp>
      <p:sp>
        <p:nvSpPr>
          <p:cNvPr id="44" name="TextBox 43"/>
          <p:cNvSpPr txBox="1"/>
          <p:nvPr/>
        </p:nvSpPr>
        <p:spPr>
          <a:xfrm>
            <a:off x="10515600" y="6537960"/>
            <a:ext cx="1188720" cy="135486"/>
          </a:xfrm>
          <a:prstGeom prst="rect">
            <a:avLst/>
          </a:prstGeom>
          <a:noFill/>
        </p:spPr>
        <p:txBody>
          <a:bodyPr wrap="square" lIns="0" tIns="0" rIns="0" bIns="0" anchor="t">
            <a:spAutoFit/>
          </a:bodyPr>
          <a:lstStyle/>
          <a:p>
            <a:pPr algn="r">
              <a:lnSpc>
                <a:spcPct val="115000"/>
              </a:lnSpc>
            </a:pPr>
            <a:r>
              <a:rPr lang="en-US" sz="800" dirty="0">
                <a:solidFill>
                  <a:srgbClr val="8A8A8A"/>
                </a:solidFill>
                <a:latin typeface="DM Sans"/>
              </a:rPr>
              <a:t>2</a:t>
            </a:r>
            <a:endParaRPr sz="800" b="0" i="0" dirty="0">
              <a:solidFill>
                <a:srgbClr val="8A8A8A"/>
              </a:solidFill>
              <a:latin typeface="DM Sans"/>
            </a:endParaRPr>
          </a:p>
        </p:txBody>
      </p:sp>
      <p:pic>
        <p:nvPicPr>
          <p:cNvPr id="45" name="Picture 44">
            <a:extLst>
              <a:ext uri="{FF2B5EF4-FFF2-40B4-BE49-F238E27FC236}">
                <a16:creationId xmlns:a16="http://schemas.microsoft.com/office/drawing/2014/main" id="{971DCDE9-A305-1DC6-98A0-832A1178ED1D}"/>
              </a:ext>
            </a:extLst>
          </p:cNvPr>
          <p:cNvPicPr>
            <a:picLocks noChangeAspect="1"/>
          </p:cNvPicPr>
          <p:nvPr/>
        </p:nvPicPr>
        <p:blipFill>
          <a:blip r:embed="rId2"/>
          <a:stretch>
            <a:fillRect/>
          </a:stretch>
        </p:blipFill>
        <p:spPr>
          <a:xfrm>
            <a:off x="432816" y="131673"/>
            <a:ext cx="1072825" cy="54370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0" y="292608"/>
            <a:ext cx="7315200" cy="274320"/>
          </a:xfrm>
          <a:prstGeom prst="rect">
            <a:avLst/>
          </a:prstGeom>
          <a:noFill/>
        </p:spPr>
        <p:txBody>
          <a:bodyPr wrap="square" lIns="0" tIns="0" rIns="0" bIns="0" anchor="t">
            <a:spAutoFit/>
          </a:bodyPr>
          <a:lstStyle/>
          <a:p>
            <a:pPr algn="l">
              <a:lnSpc>
                <a:spcPct val="115000"/>
              </a:lnSpc>
            </a:pPr>
            <a:r>
              <a:rPr sz="900" b="0" i="0">
                <a:solidFill>
                  <a:srgbClr val="8A8A8A"/>
                </a:solidFill>
                <a:latin typeface="DM Sans"/>
              </a:rPr>
              <a:t>EQUITY MARKET UPDATE  ·  MAY 2026</a:t>
            </a:r>
          </a:p>
        </p:txBody>
      </p:sp>
      <p:sp>
        <p:nvSpPr>
          <p:cNvPr id="5" name="Oval 4"/>
          <p:cNvSpPr/>
          <p:nvPr/>
        </p:nvSpPr>
        <p:spPr>
          <a:xfrm>
            <a:off x="11283696" y="338328"/>
            <a:ext cx="109728" cy="109728"/>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466576" y="338328"/>
            <a:ext cx="109728" cy="109728"/>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49456" y="338328"/>
            <a:ext cx="109728" cy="109728"/>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731520"/>
            <a:ext cx="11201400" cy="761940"/>
          </a:xfrm>
          <a:prstGeom prst="rect">
            <a:avLst/>
          </a:prstGeom>
          <a:noFill/>
        </p:spPr>
        <p:txBody>
          <a:bodyPr wrap="square" lIns="0" tIns="0" rIns="0" bIns="0" anchor="t">
            <a:spAutoFit/>
          </a:bodyPr>
          <a:lstStyle/>
          <a:p>
            <a:pPr algn="l">
              <a:lnSpc>
                <a:spcPct val="115000"/>
              </a:lnSpc>
            </a:pPr>
            <a:r>
              <a:rPr sz="2200" b="1" i="0" dirty="0">
                <a:solidFill>
                  <a:srgbClr val="2F3691"/>
                </a:solidFill>
                <a:latin typeface="DM Sans"/>
              </a:rPr>
              <a:t>DSEX trades at a </a:t>
            </a:r>
            <a:r>
              <a:rPr lang="en-US" sz="2200" b="1" dirty="0">
                <a:solidFill>
                  <a:srgbClr val="2F3691"/>
                </a:solidFill>
                <a:latin typeface="DM Sans"/>
              </a:rPr>
              <a:t>29</a:t>
            </a:r>
            <a:r>
              <a:rPr sz="2200" b="1" i="0" dirty="0">
                <a:solidFill>
                  <a:srgbClr val="2F3691"/>
                </a:solidFill>
                <a:latin typeface="DM Sans"/>
              </a:rPr>
              <a:t>% discount to history and a 4</a:t>
            </a:r>
            <a:r>
              <a:rPr lang="en-US" sz="2200" b="1" i="0" dirty="0">
                <a:solidFill>
                  <a:srgbClr val="2F3691"/>
                </a:solidFill>
                <a:latin typeface="DM Sans"/>
              </a:rPr>
              <a:t>8</a:t>
            </a:r>
            <a:r>
              <a:rPr sz="2200" b="1" i="0" dirty="0">
                <a:solidFill>
                  <a:srgbClr val="2F3691"/>
                </a:solidFill>
                <a:latin typeface="DM Sans"/>
              </a:rPr>
              <a:t>% discount to Vietnam — every lens flashes value</a:t>
            </a:r>
          </a:p>
        </p:txBody>
      </p:sp>
      <p:sp>
        <p:nvSpPr>
          <p:cNvPr id="9" name="TextBox 8"/>
          <p:cNvSpPr txBox="1"/>
          <p:nvPr/>
        </p:nvSpPr>
        <p:spPr>
          <a:xfrm>
            <a:off x="502920" y="1627632"/>
            <a:ext cx="11201400" cy="411480"/>
          </a:xfrm>
          <a:prstGeom prst="rect">
            <a:avLst/>
          </a:prstGeom>
          <a:noFill/>
        </p:spPr>
        <p:txBody>
          <a:bodyPr wrap="square" lIns="0" tIns="0" rIns="0" bIns="0" anchor="t">
            <a:spAutoFit/>
          </a:bodyPr>
          <a:lstStyle/>
          <a:p>
            <a:pPr algn="l">
              <a:lnSpc>
                <a:spcPct val="120000"/>
              </a:lnSpc>
            </a:pPr>
            <a:r>
              <a:rPr sz="1250" b="0" i="1">
                <a:solidFill>
                  <a:srgbClr val="555555"/>
                </a:solidFill>
                <a:latin typeface="DM Sans"/>
              </a:rPr>
              <a:t>P/E, drawdown and market-cap-to-GDP all point to a market priced for bad news</a:t>
            </a:r>
          </a:p>
        </p:txBody>
      </p:sp>
      <p:sp>
        <p:nvSpPr>
          <p:cNvPr id="10" name="TextBox 9"/>
          <p:cNvSpPr txBox="1"/>
          <p:nvPr/>
        </p:nvSpPr>
        <p:spPr>
          <a:xfrm>
            <a:off x="502920" y="2194560"/>
            <a:ext cx="5120640" cy="320040"/>
          </a:xfrm>
          <a:prstGeom prst="rect">
            <a:avLst/>
          </a:prstGeom>
          <a:noFill/>
        </p:spPr>
        <p:txBody>
          <a:bodyPr wrap="square" lIns="0" tIns="0" rIns="0" bIns="0" anchor="t">
            <a:spAutoFit/>
          </a:bodyPr>
          <a:lstStyle/>
          <a:p>
            <a:pPr algn="l">
              <a:lnSpc>
                <a:spcPct val="115000"/>
              </a:lnSpc>
            </a:pPr>
            <a:r>
              <a:rPr sz="1200" b="1" i="0">
                <a:solidFill>
                  <a:srgbClr val="2F3691"/>
                </a:solidFill>
                <a:latin typeface="DM Sans"/>
              </a:rPr>
              <a:t>Trailing P/E — DSEX vs frontier peers</a:t>
            </a:r>
          </a:p>
        </p:txBody>
      </p:sp>
      <p:sp>
        <p:nvSpPr>
          <p:cNvPr id="12" name="TextBox 11"/>
          <p:cNvSpPr txBox="1"/>
          <p:nvPr/>
        </p:nvSpPr>
        <p:spPr>
          <a:xfrm>
            <a:off x="502920" y="2962229"/>
            <a:ext cx="1737360" cy="256032"/>
          </a:xfrm>
          <a:prstGeom prst="rect">
            <a:avLst/>
          </a:prstGeom>
          <a:noFill/>
        </p:spPr>
        <p:txBody>
          <a:bodyPr wrap="square" lIns="0" tIns="0" rIns="0" bIns="0" anchor="t">
            <a:spAutoFit/>
          </a:bodyPr>
          <a:lstStyle/>
          <a:p>
            <a:pPr algn="l">
              <a:lnSpc>
                <a:spcPct val="115000"/>
              </a:lnSpc>
            </a:pPr>
            <a:r>
              <a:rPr sz="950" b="0" i="0">
                <a:solidFill>
                  <a:srgbClr val="1A1A1A"/>
                </a:solidFill>
                <a:latin typeface="DM Sans"/>
              </a:rPr>
              <a:t>Egypt (select banks)</a:t>
            </a:r>
          </a:p>
        </p:txBody>
      </p:sp>
      <p:sp>
        <p:nvSpPr>
          <p:cNvPr id="13" name="Rectangle 12"/>
          <p:cNvSpPr/>
          <p:nvPr/>
        </p:nvSpPr>
        <p:spPr>
          <a:xfrm>
            <a:off x="2286000" y="2916509"/>
            <a:ext cx="721359" cy="329184"/>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080512" y="2962229"/>
            <a:ext cx="822960" cy="256032"/>
          </a:xfrm>
          <a:prstGeom prst="rect">
            <a:avLst/>
          </a:prstGeom>
          <a:noFill/>
        </p:spPr>
        <p:txBody>
          <a:bodyPr wrap="square" lIns="0" tIns="0" rIns="0" bIns="0" anchor="t">
            <a:spAutoFit/>
          </a:bodyPr>
          <a:lstStyle/>
          <a:p>
            <a:pPr algn="l">
              <a:lnSpc>
                <a:spcPct val="115000"/>
              </a:lnSpc>
            </a:pPr>
            <a:r>
              <a:rPr sz="1050" b="1" i="0">
                <a:solidFill>
                  <a:srgbClr val="01A7E1"/>
                </a:solidFill>
                <a:latin typeface="DM Sans"/>
              </a:rPr>
              <a:t>4.0x</a:t>
            </a:r>
          </a:p>
        </p:txBody>
      </p:sp>
      <p:sp>
        <p:nvSpPr>
          <p:cNvPr id="15" name="TextBox 14"/>
          <p:cNvSpPr txBox="1"/>
          <p:nvPr/>
        </p:nvSpPr>
        <p:spPr>
          <a:xfrm>
            <a:off x="502920" y="3492581"/>
            <a:ext cx="1737360" cy="256032"/>
          </a:xfrm>
          <a:prstGeom prst="rect">
            <a:avLst/>
          </a:prstGeom>
          <a:noFill/>
        </p:spPr>
        <p:txBody>
          <a:bodyPr wrap="square" lIns="0" tIns="0" rIns="0" bIns="0" anchor="t">
            <a:spAutoFit/>
          </a:bodyPr>
          <a:lstStyle/>
          <a:p>
            <a:pPr algn="l">
              <a:lnSpc>
                <a:spcPct val="115000"/>
              </a:lnSpc>
            </a:pPr>
            <a:r>
              <a:rPr sz="950" b="0" i="0">
                <a:solidFill>
                  <a:srgbClr val="1A1A1A"/>
                </a:solidFill>
                <a:latin typeface="DM Sans"/>
              </a:rPr>
              <a:t>Pakistan KSE-100</a:t>
            </a:r>
          </a:p>
        </p:txBody>
      </p:sp>
      <p:sp>
        <p:nvSpPr>
          <p:cNvPr id="16" name="Rectangle 15"/>
          <p:cNvSpPr/>
          <p:nvPr/>
        </p:nvSpPr>
        <p:spPr>
          <a:xfrm>
            <a:off x="2286000" y="3446861"/>
            <a:ext cx="991870" cy="329184"/>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51022" y="3492581"/>
            <a:ext cx="822960" cy="256032"/>
          </a:xfrm>
          <a:prstGeom prst="rect">
            <a:avLst/>
          </a:prstGeom>
          <a:noFill/>
        </p:spPr>
        <p:txBody>
          <a:bodyPr wrap="square" lIns="0" tIns="0" rIns="0" bIns="0" anchor="t">
            <a:spAutoFit/>
          </a:bodyPr>
          <a:lstStyle/>
          <a:p>
            <a:pPr algn="l">
              <a:lnSpc>
                <a:spcPct val="115000"/>
              </a:lnSpc>
            </a:pPr>
            <a:r>
              <a:rPr sz="1050" b="1" i="0">
                <a:solidFill>
                  <a:srgbClr val="01A7E1"/>
                </a:solidFill>
                <a:latin typeface="DM Sans"/>
              </a:rPr>
              <a:t>5.5x</a:t>
            </a:r>
          </a:p>
        </p:txBody>
      </p:sp>
      <p:sp>
        <p:nvSpPr>
          <p:cNvPr id="18" name="TextBox 17"/>
          <p:cNvSpPr txBox="1"/>
          <p:nvPr/>
        </p:nvSpPr>
        <p:spPr>
          <a:xfrm>
            <a:off x="502920" y="4022933"/>
            <a:ext cx="1737360" cy="256032"/>
          </a:xfrm>
          <a:prstGeom prst="rect">
            <a:avLst/>
          </a:prstGeom>
          <a:noFill/>
        </p:spPr>
        <p:txBody>
          <a:bodyPr wrap="square" lIns="0" tIns="0" rIns="0" bIns="0" anchor="t">
            <a:spAutoFit/>
          </a:bodyPr>
          <a:lstStyle/>
          <a:p>
            <a:pPr algn="l">
              <a:lnSpc>
                <a:spcPct val="115000"/>
              </a:lnSpc>
            </a:pPr>
            <a:r>
              <a:rPr sz="950" b="0" i="0">
                <a:solidFill>
                  <a:srgbClr val="1A1A1A"/>
                </a:solidFill>
                <a:latin typeface="DM Sans"/>
              </a:rPr>
              <a:t>Bangladesh DSEX</a:t>
            </a:r>
          </a:p>
        </p:txBody>
      </p:sp>
      <p:sp>
        <p:nvSpPr>
          <p:cNvPr id="19" name="Rectangle 18"/>
          <p:cNvSpPr/>
          <p:nvPr/>
        </p:nvSpPr>
        <p:spPr>
          <a:xfrm>
            <a:off x="2286000" y="3977214"/>
            <a:ext cx="1821433" cy="329184"/>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80585" y="4022933"/>
            <a:ext cx="822960" cy="177869"/>
          </a:xfrm>
          <a:prstGeom prst="rect">
            <a:avLst/>
          </a:prstGeom>
          <a:noFill/>
        </p:spPr>
        <p:txBody>
          <a:bodyPr wrap="square" lIns="0" tIns="0" rIns="0" bIns="0" anchor="t">
            <a:spAutoFit/>
          </a:bodyPr>
          <a:lstStyle/>
          <a:p>
            <a:pPr algn="l">
              <a:lnSpc>
                <a:spcPct val="115000"/>
              </a:lnSpc>
            </a:pPr>
            <a:r>
              <a:rPr lang="en-US" sz="1050" b="1" dirty="0">
                <a:solidFill>
                  <a:srgbClr val="C6198D"/>
                </a:solidFill>
                <a:latin typeface="DM Sans"/>
              </a:rPr>
              <a:t>8.5</a:t>
            </a:r>
            <a:r>
              <a:rPr sz="1050" b="1" i="0" dirty="0">
                <a:solidFill>
                  <a:srgbClr val="C6198D"/>
                </a:solidFill>
                <a:latin typeface="DM Sans"/>
              </a:rPr>
              <a:t>x</a:t>
            </a:r>
          </a:p>
        </p:txBody>
      </p:sp>
      <p:sp>
        <p:nvSpPr>
          <p:cNvPr id="21" name="TextBox 20"/>
          <p:cNvSpPr txBox="1"/>
          <p:nvPr/>
        </p:nvSpPr>
        <p:spPr>
          <a:xfrm>
            <a:off x="502920" y="4553286"/>
            <a:ext cx="1737360" cy="256032"/>
          </a:xfrm>
          <a:prstGeom prst="rect">
            <a:avLst/>
          </a:prstGeom>
          <a:noFill/>
        </p:spPr>
        <p:txBody>
          <a:bodyPr wrap="square" lIns="0" tIns="0" rIns="0" bIns="0" anchor="t">
            <a:spAutoFit/>
          </a:bodyPr>
          <a:lstStyle/>
          <a:p>
            <a:pPr algn="l">
              <a:lnSpc>
                <a:spcPct val="115000"/>
              </a:lnSpc>
            </a:pPr>
            <a:r>
              <a:rPr sz="950" b="0" i="0">
                <a:solidFill>
                  <a:srgbClr val="1A1A1A"/>
                </a:solidFill>
                <a:latin typeface="DM Sans"/>
              </a:rPr>
              <a:t>DSEX 10-yr avg</a:t>
            </a:r>
          </a:p>
        </p:txBody>
      </p:sp>
      <p:sp>
        <p:nvSpPr>
          <p:cNvPr id="22" name="Rectangle 21"/>
          <p:cNvSpPr/>
          <p:nvPr/>
        </p:nvSpPr>
        <p:spPr>
          <a:xfrm>
            <a:off x="2286000" y="4507566"/>
            <a:ext cx="2182113" cy="329184"/>
          </a:xfrm>
          <a:prstGeom prst="rect">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41265" y="4553286"/>
            <a:ext cx="822960" cy="256032"/>
          </a:xfrm>
          <a:prstGeom prst="rect">
            <a:avLst/>
          </a:prstGeom>
          <a:noFill/>
        </p:spPr>
        <p:txBody>
          <a:bodyPr wrap="square" lIns="0" tIns="0" rIns="0" bIns="0" anchor="t">
            <a:spAutoFit/>
          </a:bodyPr>
          <a:lstStyle/>
          <a:p>
            <a:pPr algn="l">
              <a:lnSpc>
                <a:spcPct val="115000"/>
              </a:lnSpc>
            </a:pPr>
            <a:r>
              <a:rPr sz="1050" b="1" i="0">
                <a:solidFill>
                  <a:srgbClr val="2F3691"/>
                </a:solidFill>
                <a:latin typeface="DM Sans"/>
              </a:rPr>
              <a:t>12.1x</a:t>
            </a:r>
          </a:p>
        </p:txBody>
      </p:sp>
      <p:sp>
        <p:nvSpPr>
          <p:cNvPr id="24" name="TextBox 23"/>
          <p:cNvSpPr txBox="1"/>
          <p:nvPr/>
        </p:nvSpPr>
        <p:spPr>
          <a:xfrm>
            <a:off x="502920" y="5083638"/>
            <a:ext cx="1737360" cy="256032"/>
          </a:xfrm>
          <a:prstGeom prst="rect">
            <a:avLst/>
          </a:prstGeom>
          <a:noFill/>
        </p:spPr>
        <p:txBody>
          <a:bodyPr wrap="square" lIns="0" tIns="0" rIns="0" bIns="0" anchor="t">
            <a:spAutoFit/>
          </a:bodyPr>
          <a:lstStyle/>
          <a:p>
            <a:pPr algn="l">
              <a:lnSpc>
                <a:spcPct val="115000"/>
              </a:lnSpc>
            </a:pPr>
            <a:r>
              <a:rPr sz="950" b="0" i="0">
                <a:solidFill>
                  <a:srgbClr val="1A1A1A"/>
                </a:solidFill>
                <a:latin typeface="DM Sans"/>
              </a:rPr>
              <a:t>Vietnam VN-Index</a:t>
            </a:r>
          </a:p>
        </p:txBody>
      </p:sp>
      <p:sp>
        <p:nvSpPr>
          <p:cNvPr id="25" name="Rectangle 24"/>
          <p:cNvSpPr/>
          <p:nvPr/>
        </p:nvSpPr>
        <p:spPr>
          <a:xfrm>
            <a:off x="2286000" y="5037918"/>
            <a:ext cx="2834640" cy="32918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238249" y="5083638"/>
            <a:ext cx="822960" cy="177869"/>
          </a:xfrm>
          <a:prstGeom prst="rect">
            <a:avLst/>
          </a:prstGeom>
          <a:noFill/>
        </p:spPr>
        <p:txBody>
          <a:bodyPr wrap="square" lIns="0" tIns="0" rIns="0" bIns="0" anchor="t">
            <a:spAutoFit/>
          </a:bodyPr>
          <a:lstStyle/>
          <a:p>
            <a:pPr algn="l">
              <a:lnSpc>
                <a:spcPct val="115000"/>
              </a:lnSpc>
            </a:pPr>
            <a:r>
              <a:rPr sz="1050" b="1" i="0" dirty="0">
                <a:solidFill>
                  <a:srgbClr val="8A8A8A"/>
                </a:solidFill>
                <a:latin typeface="DM Sans"/>
              </a:rPr>
              <a:t>1</a:t>
            </a:r>
            <a:r>
              <a:rPr lang="en-US" sz="1050" b="1" i="0" dirty="0">
                <a:solidFill>
                  <a:srgbClr val="8A8A8A"/>
                </a:solidFill>
                <a:latin typeface="DM Sans"/>
              </a:rPr>
              <a:t>6.6</a:t>
            </a:r>
            <a:r>
              <a:rPr sz="1050" b="1" i="0" dirty="0">
                <a:solidFill>
                  <a:srgbClr val="8A8A8A"/>
                </a:solidFill>
                <a:latin typeface="DM Sans"/>
              </a:rPr>
              <a:t>x</a:t>
            </a:r>
          </a:p>
        </p:txBody>
      </p:sp>
      <p:sp>
        <p:nvSpPr>
          <p:cNvPr id="27" name="Rectangle 26"/>
          <p:cNvSpPr/>
          <p:nvPr/>
        </p:nvSpPr>
        <p:spPr>
          <a:xfrm>
            <a:off x="5806440" y="2194560"/>
            <a:ext cx="10972" cy="406908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080760" y="2194560"/>
            <a:ext cx="5669280" cy="292608"/>
          </a:xfrm>
          <a:prstGeom prst="rect">
            <a:avLst/>
          </a:prstGeom>
          <a:noFill/>
        </p:spPr>
        <p:txBody>
          <a:bodyPr wrap="square" lIns="0" tIns="0" rIns="0" bIns="0" anchor="t">
            <a:spAutoFit/>
          </a:bodyPr>
          <a:lstStyle/>
          <a:p>
            <a:pPr algn="l">
              <a:lnSpc>
                <a:spcPct val="115000"/>
              </a:lnSpc>
            </a:pPr>
            <a:r>
              <a:rPr sz="1050" b="1" i="0">
                <a:solidFill>
                  <a:srgbClr val="C6198D"/>
                </a:solidFill>
                <a:latin typeface="DM Sans"/>
              </a:rPr>
              <a:t>1   DSEX drawdown from peak</a:t>
            </a:r>
          </a:p>
        </p:txBody>
      </p:sp>
      <p:sp>
        <p:nvSpPr>
          <p:cNvPr id="29" name="TextBox 28"/>
          <p:cNvSpPr txBox="1"/>
          <p:nvPr/>
        </p:nvSpPr>
        <p:spPr>
          <a:xfrm>
            <a:off x="6080760" y="2514600"/>
            <a:ext cx="5669280" cy="640080"/>
          </a:xfrm>
          <a:prstGeom prst="rect">
            <a:avLst/>
          </a:prstGeom>
          <a:noFill/>
        </p:spPr>
        <p:txBody>
          <a:bodyPr wrap="square" lIns="0" tIns="0" rIns="0" bIns="0" anchor="t">
            <a:spAutoFit/>
          </a:bodyPr>
          <a:lstStyle/>
          <a:p>
            <a:pPr algn="l">
              <a:lnSpc>
                <a:spcPct val="120000"/>
              </a:lnSpc>
            </a:pPr>
            <a:r>
              <a:rPr sz="3800" b="1" i="0">
                <a:solidFill>
                  <a:srgbClr val="2F3691"/>
                </a:solidFill>
                <a:latin typeface="DM Sans"/>
              </a:rPr>
              <a:t>-28.6%</a:t>
            </a:r>
          </a:p>
        </p:txBody>
      </p:sp>
      <p:sp>
        <p:nvSpPr>
          <p:cNvPr id="30" name="TextBox 29"/>
          <p:cNvSpPr txBox="1"/>
          <p:nvPr/>
        </p:nvSpPr>
        <p:spPr>
          <a:xfrm>
            <a:off x="6080760" y="3154680"/>
            <a:ext cx="5669280" cy="373244"/>
          </a:xfrm>
          <a:prstGeom prst="rect">
            <a:avLst/>
          </a:prstGeom>
          <a:noFill/>
        </p:spPr>
        <p:txBody>
          <a:bodyPr wrap="square" lIns="0" tIns="0" rIns="0" bIns="0" anchor="t">
            <a:spAutoFit/>
          </a:bodyPr>
          <a:lstStyle/>
          <a:p>
            <a:pPr algn="l">
              <a:lnSpc>
                <a:spcPct val="125000"/>
              </a:lnSpc>
            </a:pPr>
            <a:r>
              <a:rPr sz="1000" b="0" i="0" dirty="0">
                <a:solidFill>
                  <a:srgbClr val="555555"/>
                </a:solidFill>
                <a:latin typeface="DM Sans"/>
              </a:rPr>
              <a:t>5,2</a:t>
            </a:r>
            <a:r>
              <a:rPr lang="en-US" sz="1000" b="0" i="0" dirty="0">
                <a:solidFill>
                  <a:srgbClr val="555555"/>
                </a:solidFill>
                <a:latin typeface="DM Sans"/>
              </a:rPr>
              <a:t>11</a:t>
            </a:r>
            <a:r>
              <a:rPr sz="1000" b="0" i="0" dirty="0">
                <a:solidFill>
                  <a:srgbClr val="555555"/>
                </a:solidFill>
                <a:latin typeface="DM Sans"/>
              </a:rPr>
              <a:t> (1</a:t>
            </a:r>
            <a:r>
              <a:rPr lang="en-US" sz="1000" b="0" i="0" dirty="0">
                <a:solidFill>
                  <a:srgbClr val="555555"/>
                </a:solidFill>
                <a:latin typeface="DM Sans"/>
              </a:rPr>
              <a:t>9</a:t>
            </a:r>
            <a:r>
              <a:rPr sz="1000" b="0" i="0" dirty="0">
                <a:solidFill>
                  <a:srgbClr val="555555"/>
                </a:solidFill>
                <a:latin typeface="DM Sans"/>
              </a:rPr>
              <a:t> May 2026) vs 7,329 all-time high (Sep 2021). A 41% rally off the Jan-2025 trough still leaves substantial valuation runway.</a:t>
            </a:r>
          </a:p>
        </p:txBody>
      </p:sp>
      <p:sp>
        <p:nvSpPr>
          <p:cNvPr id="31" name="TextBox 30"/>
          <p:cNvSpPr txBox="1"/>
          <p:nvPr/>
        </p:nvSpPr>
        <p:spPr>
          <a:xfrm>
            <a:off x="6080760" y="3749039"/>
            <a:ext cx="5669280" cy="292608"/>
          </a:xfrm>
          <a:prstGeom prst="rect">
            <a:avLst/>
          </a:prstGeom>
          <a:noFill/>
        </p:spPr>
        <p:txBody>
          <a:bodyPr wrap="square" lIns="0" tIns="0" rIns="0" bIns="0" anchor="t">
            <a:spAutoFit/>
          </a:bodyPr>
          <a:lstStyle/>
          <a:p>
            <a:pPr algn="l">
              <a:lnSpc>
                <a:spcPct val="115000"/>
              </a:lnSpc>
            </a:pPr>
            <a:r>
              <a:rPr sz="1050" b="1" i="0">
                <a:solidFill>
                  <a:srgbClr val="01A7E1"/>
                </a:solidFill>
                <a:latin typeface="DM Sans"/>
              </a:rPr>
              <a:t>2   Discount to 10-year average P/E</a:t>
            </a:r>
          </a:p>
        </p:txBody>
      </p:sp>
      <p:sp>
        <p:nvSpPr>
          <p:cNvPr id="32" name="TextBox 31"/>
          <p:cNvSpPr txBox="1"/>
          <p:nvPr/>
        </p:nvSpPr>
        <p:spPr>
          <a:xfrm>
            <a:off x="6080760" y="4069079"/>
            <a:ext cx="5669280" cy="665503"/>
          </a:xfrm>
          <a:prstGeom prst="rect">
            <a:avLst/>
          </a:prstGeom>
          <a:noFill/>
        </p:spPr>
        <p:txBody>
          <a:bodyPr wrap="square" lIns="0" tIns="0" rIns="0" bIns="0" anchor="t">
            <a:spAutoFit/>
          </a:bodyPr>
          <a:lstStyle/>
          <a:p>
            <a:pPr algn="l">
              <a:lnSpc>
                <a:spcPct val="120000"/>
              </a:lnSpc>
            </a:pPr>
            <a:r>
              <a:rPr sz="3800" b="1" i="0" dirty="0">
                <a:solidFill>
                  <a:srgbClr val="2F3691"/>
                </a:solidFill>
                <a:latin typeface="DM Sans"/>
              </a:rPr>
              <a:t>-</a:t>
            </a:r>
            <a:r>
              <a:rPr lang="en-US" sz="3800" b="1" dirty="0">
                <a:solidFill>
                  <a:srgbClr val="2F3691"/>
                </a:solidFill>
                <a:latin typeface="DM Sans"/>
              </a:rPr>
              <a:t>29.7</a:t>
            </a:r>
            <a:r>
              <a:rPr sz="3800" b="1" i="0" dirty="0">
                <a:solidFill>
                  <a:srgbClr val="2F3691"/>
                </a:solidFill>
                <a:latin typeface="DM Sans"/>
              </a:rPr>
              <a:t>%</a:t>
            </a:r>
          </a:p>
        </p:txBody>
      </p:sp>
      <p:sp>
        <p:nvSpPr>
          <p:cNvPr id="33" name="TextBox 32"/>
          <p:cNvSpPr txBox="1"/>
          <p:nvPr/>
        </p:nvSpPr>
        <p:spPr>
          <a:xfrm>
            <a:off x="6080760" y="4709160"/>
            <a:ext cx="5669280" cy="180883"/>
          </a:xfrm>
          <a:prstGeom prst="rect">
            <a:avLst/>
          </a:prstGeom>
          <a:noFill/>
        </p:spPr>
        <p:txBody>
          <a:bodyPr wrap="square" lIns="0" tIns="0" rIns="0" bIns="0" anchor="t">
            <a:spAutoFit/>
          </a:bodyPr>
          <a:lstStyle/>
          <a:p>
            <a:pPr algn="l">
              <a:lnSpc>
                <a:spcPct val="125000"/>
              </a:lnSpc>
            </a:pPr>
            <a:r>
              <a:rPr sz="1000" b="0" i="0" dirty="0">
                <a:solidFill>
                  <a:srgbClr val="555555"/>
                </a:solidFill>
                <a:latin typeface="DM Sans"/>
              </a:rPr>
              <a:t>Re-rating to the long-run mean alone implies +</a:t>
            </a:r>
            <a:r>
              <a:rPr lang="en-US" sz="1000" b="0" i="0" dirty="0">
                <a:solidFill>
                  <a:srgbClr val="555555"/>
                </a:solidFill>
                <a:latin typeface="DM Sans"/>
              </a:rPr>
              <a:t>42</a:t>
            </a:r>
            <a:r>
              <a:rPr sz="1000" b="0" i="0" dirty="0">
                <a:solidFill>
                  <a:srgbClr val="555555"/>
                </a:solidFill>
                <a:latin typeface="DM Sans"/>
              </a:rPr>
              <a:t>% upside, ex-EPS growth. </a:t>
            </a:r>
          </a:p>
        </p:txBody>
      </p:sp>
      <p:sp>
        <p:nvSpPr>
          <p:cNvPr id="34" name="TextBox 33"/>
          <p:cNvSpPr txBox="1"/>
          <p:nvPr/>
        </p:nvSpPr>
        <p:spPr>
          <a:xfrm>
            <a:off x="6080760" y="5303520"/>
            <a:ext cx="5669280" cy="292608"/>
          </a:xfrm>
          <a:prstGeom prst="rect">
            <a:avLst/>
          </a:prstGeom>
          <a:noFill/>
        </p:spPr>
        <p:txBody>
          <a:bodyPr wrap="square" lIns="0" tIns="0" rIns="0" bIns="0" anchor="t">
            <a:spAutoFit/>
          </a:bodyPr>
          <a:lstStyle/>
          <a:p>
            <a:pPr algn="l">
              <a:lnSpc>
                <a:spcPct val="115000"/>
              </a:lnSpc>
            </a:pPr>
            <a:r>
              <a:rPr sz="1050" b="1" i="0">
                <a:solidFill>
                  <a:srgbClr val="2F3691"/>
                </a:solidFill>
                <a:latin typeface="DM Sans"/>
              </a:rPr>
              <a:t>3   Market cap to GDP</a:t>
            </a:r>
          </a:p>
        </p:txBody>
      </p:sp>
      <p:sp>
        <p:nvSpPr>
          <p:cNvPr id="35" name="TextBox 34"/>
          <p:cNvSpPr txBox="1"/>
          <p:nvPr/>
        </p:nvSpPr>
        <p:spPr>
          <a:xfrm>
            <a:off x="6080760" y="5623560"/>
            <a:ext cx="5669280" cy="665503"/>
          </a:xfrm>
          <a:prstGeom prst="rect">
            <a:avLst/>
          </a:prstGeom>
          <a:noFill/>
        </p:spPr>
        <p:txBody>
          <a:bodyPr wrap="square" lIns="0" tIns="0" rIns="0" bIns="0" anchor="t">
            <a:spAutoFit/>
          </a:bodyPr>
          <a:lstStyle/>
          <a:p>
            <a:pPr algn="l">
              <a:lnSpc>
                <a:spcPct val="120000"/>
              </a:lnSpc>
            </a:pPr>
            <a:r>
              <a:rPr lang="en-US" sz="3800" b="1" dirty="0">
                <a:solidFill>
                  <a:srgbClr val="2F3691"/>
                </a:solidFill>
                <a:latin typeface="DM Sans"/>
              </a:rPr>
              <a:t>c5.9</a:t>
            </a:r>
            <a:r>
              <a:rPr sz="3800" b="1" i="0" dirty="0">
                <a:solidFill>
                  <a:srgbClr val="2F3691"/>
                </a:solidFill>
                <a:latin typeface="DM Sans"/>
              </a:rPr>
              <a:t>%</a:t>
            </a:r>
          </a:p>
        </p:txBody>
      </p:sp>
      <p:sp>
        <p:nvSpPr>
          <p:cNvPr id="36" name="TextBox 35"/>
          <p:cNvSpPr txBox="1"/>
          <p:nvPr/>
        </p:nvSpPr>
        <p:spPr>
          <a:xfrm>
            <a:off x="6080760" y="6263640"/>
            <a:ext cx="5669280" cy="320040"/>
          </a:xfrm>
          <a:prstGeom prst="rect">
            <a:avLst/>
          </a:prstGeom>
          <a:noFill/>
        </p:spPr>
        <p:txBody>
          <a:bodyPr wrap="square" lIns="0" tIns="0" rIns="0" bIns="0" anchor="t">
            <a:spAutoFit/>
          </a:bodyPr>
          <a:lstStyle/>
          <a:p>
            <a:pPr algn="l">
              <a:lnSpc>
                <a:spcPct val="125000"/>
              </a:lnSpc>
            </a:pPr>
            <a:r>
              <a:rPr sz="1000" b="0" i="0">
                <a:solidFill>
                  <a:srgbClr val="555555"/>
                </a:solidFill>
                <a:latin typeface="DM Sans"/>
              </a:rPr>
              <a:t>Vietnam: 51% · EM avg: &gt;70% · A long structural runway as capital formation deepens.</a:t>
            </a:r>
          </a:p>
        </p:txBody>
      </p:sp>
      <p:sp>
        <p:nvSpPr>
          <p:cNvPr id="37" name="TextBox 36"/>
          <p:cNvSpPr txBox="1"/>
          <p:nvPr/>
        </p:nvSpPr>
        <p:spPr>
          <a:xfrm>
            <a:off x="502920" y="6537960"/>
            <a:ext cx="9144000" cy="228600"/>
          </a:xfrm>
          <a:prstGeom prst="rect">
            <a:avLst/>
          </a:prstGeom>
          <a:noFill/>
        </p:spPr>
        <p:txBody>
          <a:bodyPr wrap="square" lIns="0" tIns="0" rIns="0" bIns="0" anchor="t">
            <a:spAutoFit/>
          </a:bodyPr>
          <a:lstStyle/>
          <a:p>
            <a:pPr algn="l">
              <a:lnSpc>
                <a:spcPct val="115000"/>
              </a:lnSpc>
            </a:pPr>
            <a:r>
              <a:rPr sz="750" b="0" i="1" dirty="0">
                <a:solidFill>
                  <a:srgbClr val="8A8A8A"/>
                </a:solidFill>
                <a:latin typeface="DM Sans"/>
              </a:rPr>
              <a:t>Sources: CEIC (Feb 2026); DSE; </a:t>
            </a:r>
            <a:r>
              <a:rPr sz="750" b="0" i="1" dirty="0" err="1">
                <a:solidFill>
                  <a:srgbClr val="8A8A8A"/>
                </a:solidFill>
                <a:latin typeface="DM Sans"/>
              </a:rPr>
              <a:t>Taprobane</a:t>
            </a:r>
            <a:r>
              <a:rPr sz="750" b="0" i="1" dirty="0">
                <a:solidFill>
                  <a:srgbClr val="8A8A8A"/>
                </a:solidFill>
                <a:latin typeface="DM Sans"/>
              </a:rPr>
              <a:t> Market Lens; CAL calculations. P/E peer values are trailing.</a:t>
            </a:r>
          </a:p>
        </p:txBody>
      </p:sp>
      <p:sp>
        <p:nvSpPr>
          <p:cNvPr id="38" name="TextBox 37"/>
          <p:cNvSpPr txBox="1"/>
          <p:nvPr/>
        </p:nvSpPr>
        <p:spPr>
          <a:xfrm>
            <a:off x="10515600" y="6537960"/>
            <a:ext cx="1188720" cy="135486"/>
          </a:xfrm>
          <a:prstGeom prst="rect">
            <a:avLst/>
          </a:prstGeom>
          <a:noFill/>
        </p:spPr>
        <p:txBody>
          <a:bodyPr wrap="square" lIns="0" tIns="0" rIns="0" bIns="0" anchor="t">
            <a:spAutoFit/>
          </a:bodyPr>
          <a:lstStyle/>
          <a:p>
            <a:pPr algn="r">
              <a:lnSpc>
                <a:spcPct val="115000"/>
              </a:lnSpc>
            </a:pPr>
            <a:r>
              <a:rPr sz="800" b="0" i="0" dirty="0">
                <a:solidFill>
                  <a:srgbClr val="8A8A8A"/>
                </a:solidFill>
                <a:latin typeface="DM Sans"/>
              </a:rPr>
              <a:t>3</a:t>
            </a:r>
          </a:p>
        </p:txBody>
      </p:sp>
      <p:pic>
        <p:nvPicPr>
          <p:cNvPr id="39" name="Picture 38">
            <a:extLst>
              <a:ext uri="{FF2B5EF4-FFF2-40B4-BE49-F238E27FC236}">
                <a16:creationId xmlns:a16="http://schemas.microsoft.com/office/drawing/2014/main" id="{57AFE725-164F-C20A-27DE-9060C8BA4FA1}"/>
              </a:ext>
            </a:extLst>
          </p:cNvPr>
          <p:cNvPicPr>
            <a:picLocks noChangeAspect="1"/>
          </p:cNvPicPr>
          <p:nvPr/>
        </p:nvPicPr>
        <p:blipFill>
          <a:blip r:embed="rId2"/>
          <a:stretch>
            <a:fillRect/>
          </a:stretch>
        </p:blipFill>
        <p:spPr>
          <a:xfrm>
            <a:off x="432816" y="131673"/>
            <a:ext cx="1072825" cy="54370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0" y="292608"/>
            <a:ext cx="7315200" cy="274320"/>
          </a:xfrm>
          <a:prstGeom prst="rect">
            <a:avLst/>
          </a:prstGeom>
          <a:noFill/>
        </p:spPr>
        <p:txBody>
          <a:bodyPr wrap="square" lIns="0" tIns="0" rIns="0" bIns="0" anchor="t">
            <a:spAutoFit/>
          </a:bodyPr>
          <a:lstStyle/>
          <a:p>
            <a:pPr algn="l">
              <a:lnSpc>
                <a:spcPct val="115000"/>
              </a:lnSpc>
            </a:pPr>
            <a:r>
              <a:rPr sz="900" b="0" i="0">
                <a:solidFill>
                  <a:srgbClr val="8A8A8A"/>
                </a:solidFill>
                <a:latin typeface="DM Sans"/>
              </a:rPr>
              <a:t>EQUITY MARKET UPDATE  ·  MAY 2026</a:t>
            </a:r>
          </a:p>
        </p:txBody>
      </p:sp>
      <p:sp>
        <p:nvSpPr>
          <p:cNvPr id="5" name="Oval 4"/>
          <p:cNvSpPr/>
          <p:nvPr/>
        </p:nvSpPr>
        <p:spPr>
          <a:xfrm>
            <a:off x="11283696" y="338328"/>
            <a:ext cx="109728" cy="109728"/>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466576" y="338328"/>
            <a:ext cx="109728" cy="109728"/>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49456" y="338328"/>
            <a:ext cx="109728" cy="109728"/>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731520"/>
            <a:ext cx="11201400" cy="914400"/>
          </a:xfrm>
          <a:prstGeom prst="rect">
            <a:avLst/>
          </a:prstGeom>
          <a:noFill/>
        </p:spPr>
        <p:txBody>
          <a:bodyPr wrap="square" lIns="0" tIns="0" rIns="0" bIns="0" anchor="t">
            <a:spAutoFit/>
          </a:bodyPr>
          <a:lstStyle/>
          <a:p>
            <a:pPr algn="l">
              <a:lnSpc>
                <a:spcPct val="115000"/>
              </a:lnSpc>
            </a:pPr>
            <a:r>
              <a:rPr sz="2200" b="1" i="0">
                <a:solidFill>
                  <a:srgbClr val="2F3691"/>
                </a:solidFill>
                <a:latin typeface="DM Sans"/>
              </a:rPr>
              <a:t>Liquidity is rebuilding off a five-year low — but foreign capital is still a net seller</a:t>
            </a:r>
          </a:p>
        </p:txBody>
      </p:sp>
      <p:sp>
        <p:nvSpPr>
          <p:cNvPr id="9" name="TextBox 8"/>
          <p:cNvSpPr txBox="1"/>
          <p:nvPr/>
        </p:nvSpPr>
        <p:spPr>
          <a:xfrm>
            <a:off x="502920" y="1627632"/>
            <a:ext cx="11201400" cy="411480"/>
          </a:xfrm>
          <a:prstGeom prst="rect">
            <a:avLst/>
          </a:prstGeom>
          <a:noFill/>
        </p:spPr>
        <p:txBody>
          <a:bodyPr wrap="square" lIns="0" tIns="0" rIns="0" bIns="0" anchor="t">
            <a:spAutoFit/>
          </a:bodyPr>
          <a:lstStyle/>
          <a:p>
            <a:pPr algn="l">
              <a:lnSpc>
                <a:spcPct val="120000"/>
              </a:lnSpc>
            </a:pPr>
            <a:r>
              <a:rPr sz="1250" b="0" i="1">
                <a:solidFill>
                  <a:srgbClr val="555555"/>
                </a:solidFill>
                <a:latin typeface="DM Sans"/>
              </a:rPr>
              <a:t>Turnover has doubled off the Jan-2025 trough; FPI outflows widened 7x in Jul–Oct FY26</a:t>
            </a:r>
          </a:p>
        </p:txBody>
      </p:sp>
      <p:sp>
        <p:nvSpPr>
          <p:cNvPr id="10" name="Rounded Rectangle 9"/>
          <p:cNvSpPr/>
          <p:nvPr/>
        </p:nvSpPr>
        <p:spPr>
          <a:xfrm>
            <a:off x="502920" y="2194560"/>
            <a:ext cx="6903720" cy="2423160"/>
          </a:xfrm>
          <a:prstGeom prst="roundRect">
            <a:avLst>
              <a:gd name="adj" fmla="val 4000"/>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377440"/>
            <a:ext cx="6400800" cy="292608"/>
          </a:xfrm>
          <a:prstGeom prst="rect">
            <a:avLst/>
          </a:prstGeom>
          <a:noFill/>
        </p:spPr>
        <p:txBody>
          <a:bodyPr wrap="square" lIns="0" tIns="0" rIns="0" bIns="0" anchor="t">
            <a:spAutoFit/>
          </a:bodyPr>
          <a:lstStyle/>
          <a:p>
            <a:pPr algn="l">
              <a:lnSpc>
                <a:spcPct val="115000"/>
              </a:lnSpc>
            </a:pPr>
            <a:r>
              <a:rPr sz="1150" b="1" i="0">
                <a:solidFill>
                  <a:srgbClr val="2F3691"/>
                </a:solidFill>
                <a:latin typeface="DM Sans"/>
              </a:rPr>
              <a:t>DSE average daily turnover, BDT crore</a:t>
            </a:r>
          </a:p>
        </p:txBody>
      </p:sp>
      <p:sp>
        <p:nvSpPr>
          <p:cNvPr id="12" name="TextBox 11"/>
          <p:cNvSpPr txBox="1"/>
          <p:nvPr/>
        </p:nvSpPr>
        <p:spPr>
          <a:xfrm>
            <a:off x="731520" y="2651760"/>
            <a:ext cx="6400800" cy="256032"/>
          </a:xfrm>
          <a:prstGeom prst="rect">
            <a:avLst/>
          </a:prstGeom>
          <a:noFill/>
        </p:spPr>
        <p:txBody>
          <a:bodyPr wrap="square" lIns="0" tIns="0" rIns="0" bIns="0" anchor="t">
            <a:spAutoFit/>
          </a:bodyPr>
          <a:lstStyle/>
          <a:p>
            <a:pPr algn="l">
              <a:lnSpc>
                <a:spcPct val="115000"/>
              </a:lnSpc>
            </a:pPr>
            <a:r>
              <a:rPr sz="900" b="0" i="1">
                <a:solidFill>
                  <a:srgbClr val="8A8A8A"/>
                </a:solidFill>
                <a:latin typeface="DM Sans"/>
              </a:rPr>
              <a:t>Off the early-2025 trough but still well below the 2021 peak</a:t>
            </a:r>
          </a:p>
        </p:txBody>
      </p:sp>
      <p:sp>
        <p:nvSpPr>
          <p:cNvPr id="13" name="Rectangle 12"/>
          <p:cNvSpPr/>
          <p:nvPr/>
        </p:nvSpPr>
        <p:spPr>
          <a:xfrm>
            <a:off x="777240" y="3860413"/>
            <a:ext cx="571499" cy="528706"/>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19" y="3586093"/>
            <a:ext cx="845819" cy="228600"/>
          </a:xfrm>
          <a:prstGeom prst="rect">
            <a:avLst/>
          </a:prstGeom>
          <a:noFill/>
        </p:spPr>
        <p:txBody>
          <a:bodyPr wrap="square" lIns="0" tIns="0" rIns="0" bIns="0" anchor="t">
            <a:spAutoFit/>
          </a:bodyPr>
          <a:lstStyle/>
          <a:p>
            <a:pPr algn="ctr">
              <a:lnSpc>
                <a:spcPct val="115000"/>
              </a:lnSpc>
            </a:pPr>
            <a:r>
              <a:rPr sz="800" b="1" i="0">
                <a:solidFill>
                  <a:srgbClr val="2F3691"/>
                </a:solidFill>
                <a:latin typeface="DM Sans"/>
              </a:rPr>
              <a:t>413</a:t>
            </a:r>
          </a:p>
        </p:txBody>
      </p:sp>
      <p:sp>
        <p:nvSpPr>
          <p:cNvPr id="15" name="TextBox 14"/>
          <p:cNvSpPr txBox="1"/>
          <p:nvPr/>
        </p:nvSpPr>
        <p:spPr>
          <a:xfrm>
            <a:off x="731519" y="4434840"/>
            <a:ext cx="845819" cy="228600"/>
          </a:xfrm>
          <a:prstGeom prst="rect">
            <a:avLst/>
          </a:prstGeom>
          <a:noFill/>
        </p:spPr>
        <p:txBody>
          <a:bodyPr wrap="square" lIns="0" tIns="0" rIns="0" bIns="0" anchor="t">
            <a:spAutoFit/>
          </a:bodyPr>
          <a:lstStyle/>
          <a:p>
            <a:pPr algn="ctr">
              <a:lnSpc>
                <a:spcPct val="115000"/>
              </a:lnSpc>
            </a:pPr>
            <a:r>
              <a:rPr sz="800" b="0" i="0">
                <a:solidFill>
                  <a:srgbClr val="555555"/>
                </a:solidFill>
                <a:latin typeface="DM Sans"/>
              </a:rPr>
              <a:t>Jan-25</a:t>
            </a:r>
          </a:p>
        </p:txBody>
      </p:sp>
      <p:sp>
        <p:nvSpPr>
          <p:cNvPr id="16" name="Rectangle 15"/>
          <p:cNvSpPr/>
          <p:nvPr/>
        </p:nvSpPr>
        <p:spPr>
          <a:xfrm>
            <a:off x="1691639" y="3736238"/>
            <a:ext cx="571499" cy="652881"/>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645919" y="3461918"/>
            <a:ext cx="845819" cy="228600"/>
          </a:xfrm>
          <a:prstGeom prst="rect">
            <a:avLst/>
          </a:prstGeom>
          <a:noFill/>
        </p:spPr>
        <p:txBody>
          <a:bodyPr wrap="square" lIns="0" tIns="0" rIns="0" bIns="0" anchor="t">
            <a:spAutoFit/>
          </a:bodyPr>
          <a:lstStyle/>
          <a:p>
            <a:pPr algn="ctr">
              <a:lnSpc>
                <a:spcPct val="115000"/>
              </a:lnSpc>
            </a:pPr>
            <a:r>
              <a:rPr sz="800" b="1" i="0">
                <a:solidFill>
                  <a:srgbClr val="2F3691"/>
                </a:solidFill>
                <a:latin typeface="DM Sans"/>
              </a:rPr>
              <a:t>510</a:t>
            </a:r>
          </a:p>
        </p:txBody>
      </p:sp>
      <p:sp>
        <p:nvSpPr>
          <p:cNvPr id="18" name="TextBox 17"/>
          <p:cNvSpPr txBox="1"/>
          <p:nvPr/>
        </p:nvSpPr>
        <p:spPr>
          <a:xfrm>
            <a:off x="1645919" y="4434840"/>
            <a:ext cx="845819" cy="228600"/>
          </a:xfrm>
          <a:prstGeom prst="rect">
            <a:avLst/>
          </a:prstGeom>
          <a:noFill/>
        </p:spPr>
        <p:txBody>
          <a:bodyPr wrap="square" lIns="0" tIns="0" rIns="0" bIns="0" anchor="t">
            <a:spAutoFit/>
          </a:bodyPr>
          <a:lstStyle/>
          <a:p>
            <a:pPr algn="ctr">
              <a:lnSpc>
                <a:spcPct val="115000"/>
              </a:lnSpc>
            </a:pPr>
            <a:r>
              <a:rPr sz="800" b="0" i="0">
                <a:solidFill>
                  <a:srgbClr val="555555"/>
                </a:solidFill>
                <a:latin typeface="DM Sans"/>
              </a:rPr>
              <a:t>Mar-25</a:t>
            </a:r>
          </a:p>
        </p:txBody>
      </p:sp>
      <p:sp>
        <p:nvSpPr>
          <p:cNvPr id="19" name="Rectangle 18"/>
          <p:cNvSpPr/>
          <p:nvPr/>
        </p:nvSpPr>
        <p:spPr>
          <a:xfrm>
            <a:off x="2606039" y="3614623"/>
            <a:ext cx="571499" cy="774496"/>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60320" y="3340303"/>
            <a:ext cx="845819" cy="228600"/>
          </a:xfrm>
          <a:prstGeom prst="rect">
            <a:avLst/>
          </a:prstGeom>
          <a:noFill/>
        </p:spPr>
        <p:txBody>
          <a:bodyPr wrap="square" lIns="0" tIns="0" rIns="0" bIns="0" anchor="t">
            <a:spAutoFit/>
          </a:bodyPr>
          <a:lstStyle/>
          <a:p>
            <a:pPr algn="ctr">
              <a:lnSpc>
                <a:spcPct val="115000"/>
              </a:lnSpc>
            </a:pPr>
            <a:r>
              <a:rPr sz="800" b="1" i="0">
                <a:solidFill>
                  <a:srgbClr val="2F3691"/>
                </a:solidFill>
                <a:latin typeface="DM Sans"/>
              </a:rPr>
              <a:t>605</a:t>
            </a:r>
          </a:p>
        </p:txBody>
      </p:sp>
      <p:sp>
        <p:nvSpPr>
          <p:cNvPr id="21" name="TextBox 20"/>
          <p:cNvSpPr txBox="1"/>
          <p:nvPr/>
        </p:nvSpPr>
        <p:spPr>
          <a:xfrm>
            <a:off x="2560320" y="4434840"/>
            <a:ext cx="845819" cy="228600"/>
          </a:xfrm>
          <a:prstGeom prst="rect">
            <a:avLst/>
          </a:prstGeom>
          <a:noFill/>
        </p:spPr>
        <p:txBody>
          <a:bodyPr wrap="square" lIns="0" tIns="0" rIns="0" bIns="0" anchor="t">
            <a:spAutoFit/>
          </a:bodyPr>
          <a:lstStyle/>
          <a:p>
            <a:pPr algn="ctr">
              <a:lnSpc>
                <a:spcPct val="115000"/>
              </a:lnSpc>
            </a:pPr>
            <a:r>
              <a:rPr sz="800" b="0" i="0">
                <a:solidFill>
                  <a:srgbClr val="555555"/>
                </a:solidFill>
                <a:latin typeface="DM Sans"/>
              </a:rPr>
              <a:t>Jun-25</a:t>
            </a:r>
          </a:p>
        </p:txBody>
      </p:sp>
      <p:sp>
        <p:nvSpPr>
          <p:cNvPr id="22" name="Rectangle 21"/>
          <p:cNvSpPr/>
          <p:nvPr/>
        </p:nvSpPr>
        <p:spPr>
          <a:xfrm>
            <a:off x="3520439" y="3531412"/>
            <a:ext cx="571499" cy="857707"/>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0" y="3257092"/>
            <a:ext cx="845819" cy="228600"/>
          </a:xfrm>
          <a:prstGeom prst="rect">
            <a:avLst/>
          </a:prstGeom>
          <a:noFill/>
        </p:spPr>
        <p:txBody>
          <a:bodyPr wrap="square" lIns="0" tIns="0" rIns="0" bIns="0" anchor="t">
            <a:spAutoFit/>
          </a:bodyPr>
          <a:lstStyle/>
          <a:p>
            <a:pPr algn="ctr">
              <a:lnSpc>
                <a:spcPct val="115000"/>
              </a:lnSpc>
            </a:pPr>
            <a:r>
              <a:rPr sz="800" b="1" i="0">
                <a:solidFill>
                  <a:srgbClr val="2F3691"/>
                </a:solidFill>
                <a:latin typeface="DM Sans"/>
              </a:rPr>
              <a:t>670</a:t>
            </a:r>
          </a:p>
        </p:txBody>
      </p:sp>
      <p:sp>
        <p:nvSpPr>
          <p:cNvPr id="24" name="TextBox 23"/>
          <p:cNvSpPr txBox="1"/>
          <p:nvPr/>
        </p:nvSpPr>
        <p:spPr>
          <a:xfrm>
            <a:off x="3474720" y="4434840"/>
            <a:ext cx="845819" cy="228600"/>
          </a:xfrm>
          <a:prstGeom prst="rect">
            <a:avLst/>
          </a:prstGeom>
          <a:noFill/>
        </p:spPr>
        <p:txBody>
          <a:bodyPr wrap="square" lIns="0" tIns="0" rIns="0" bIns="0" anchor="t">
            <a:spAutoFit/>
          </a:bodyPr>
          <a:lstStyle/>
          <a:p>
            <a:pPr algn="ctr">
              <a:lnSpc>
                <a:spcPct val="115000"/>
              </a:lnSpc>
            </a:pPr>
            <a:r>
              <a:rPr sz="800" b="0" i="0">
                <a:solidFill>
                  <a:srgbClr val="555555"/>
                </a:solidFill>
                <a:latin typeface="DM Sans"/>
              </a:rPr>
              <a:t>Sep-25</a:t>
            </a:r>
          </a:p>
        </p:txBody>
      </p:sp>
      <p:sp>
        <p:nvSpPr>
          <p:cNvPr id="25" name="Rectangle 24"/>
          <p:cNvSpPr/>
          <p:nvPr/>
        </p:nvSpPr>
        <p:spPr>
          <a:xfrm>
            <a:off x="4434840" y="3467404"/>
            <a:ext cx="571499" cy="921715"/>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89120" y="3193084"/>
            <a:ext cx="845819" cy="228600"/>
          </a:xfrm>
          <a:prstGeom prst="rect">
            <a:avLst/>
          </a:prstGeom>
          <a:noFill/>
        </p:spPr>
        <p:txBody>
          <a:bodyPr wrap="square" lIns="0" tIns="0" rIns="0" bIns="0" anchor="t">
            <a:spAutoFit/>
          </a:bodyPr>
          <a:lstStyle/>
          <a:p>
            <a:pPr algn="ctr">
              <a:lnSpc>
                <a:spcPct val="115000"/>
              </a:lnSpc>
            </a:pPr>
            <a:r>
              <a:rPr sz="800" b="1" i="0">
                <a:solidFill>
                  <a:srgbClr val="2F3691"/>
                </a:solidFill>
                <a:latin typeface="DM Sans"/>
              </a:rPr>
              <a:t>720</a:t>
            </a:r>
          </a:p>
        </p:txBody>
      </p:sp>
      <p:sp>
        <p:nvSpPr>
          <p:cNvPr id="27" name="TextBox 26"/>
          <p:cNvSpPr txBox="1"/>
          <p:nvPr/>
        </p:nvSpPr>
        <p:spPr>
          <a:xfrm>
            <a:off x="4389120" y="4434840"/>
            <a:ext cx="845819" cy="228600"/>
          </a:xfrm>
          <a:prstGeom prst="rect">
            <a:avLst/>
          </a:prstGeom>
          <a:noFill/>
        </p:spPr>
        <p:txBody>
          <a:bodyPr wrap="square" lIns="0" tIns="0" rIns="0" bIns="0" anchor="t">
            <a:spAutoFit/>
          </a:bodyPr>
          <a:lstStyle/>
          <a:p>
            <a:pPr algn="ctr">
              <a:lnSpc>
                <a:spcPct val="115000"/>
              </a:lnSpc>
            </a:pPr>
            <a:r>
              <a:rPr sz="800" b="0" i="0">
                <a:solidFill>
                  <a:srgbClr val="555555"/>
                </a:solidFill>
                <a:latin typeface="DM Sans"/>
              </a:rPr>
              <a:t>Dec-25</a:t>
            </a:r>
          </a:p>
        </p:txBody>
      </p:sp>
      <p:sp>
        <p:nvSpPr>
          <p:cNvPr id="28" name="Rectangle 27"/>
          <p:cNvSpPr/>
          <p:nvPr/>
        </p:nvSpPr>
        <p:spPr>
          <a:xfrm>
            <a:off x="5349240" y="3339388"/>
            <a:ext cx="571499" cy="1049731"/>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303520" y="3065068"/>
            <a:ext cx="845819" cy="228600"/>
          </a:xfrm>
          <a:prstGeom prst="rect">
            <a:avLst/>
          </a:prstGeom>
          <a:noFill/>
        </p:spPr>
        <p:txBody>
          <a:bodyPr wrap="square" lIns="0" tIns="0" rIns="0" bIns="0" anchor="t">
            <a:spAutoFit/>
          </a:bodyPr>
          <a:lstStyle/>
          <a:p>
            <a:pPr algn="ctr">
              <a:lnSpc>
                <a:spcPct val="115000"/>
              </a:lnSpc>
            </a:pPr>
            <a:r>
              <a:rPr sz="800" b="1" i="0">
                <a:solidFill>
                  <a:srgbClr val="2F3691"/>
                </a:solidFill>
                <a:latin typeface="DM Sans"/>
              </a:rPr>
              <a:t>820</a:t>
            </a:r>
          </a:p>
        </p:txBody>
      </p:sp>
      <p:sp>
        <p:nvSpPr>
          <p:cNvPr id="30" name="TextBox 29"/>
          <p:cNvSpPr txBox="1"/>
          <p:nvPr/>
        </p:nvSpPr>
        <p:spPr>
          <a:xfrm>
            <a:off x="5303520" y="4434840"/>
            <a:ext cx="845819" cy="228600"/>
          </a:xfrm>
          <a:prstGeom prst="rect">
            <a:avLst/>
          </a:prstGeom>
          <a:noFill/>
        </p:spPr>
        <p:txBody>
          <a:bodyPr wrap="square" lIns="0" tIns="0" rIns="0" bIns="0" anchor="t">
            <a:spAutoFit/>
          </a:bodyPr>
          <a:lstStyle/>
          <a:p>
            <a:pPr algn="ctr">
              <a:lnSpc>
                <a:spcPct val="115000"/>
              </a:lnSpc>
            </a:pPr>
            <a:r>
              <a:rPr sz="800" b="0" i="0">
                <a:solidFill>
                  <a:srgbClr val="555555"/>
                </a:solidFill>
                <a:latin typeface="DM Sans"/>
              </a:rPr>
              <a:t>Mar-26</a:t>
            </a:r>
          </a:p>
        </p:txBody>
      </p:sp>
      <p:sp>
        <p:nvSpPr>
          <p:cNvPr id="31" name="Rectangle 30"/>
          <p:cNvSpPr/>
          <p:nvPr/>
        </p:nvSpPr>
        <p:spPr>
          <a:xfrm>
            <a:off x="6263640" y="3219053"/>
            <a:ext cx="571499" cy="1170066"/>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17920" y="2944733"/>
            <a:ext cx="845819" cy="228600"/>
          </a:xfrm>
          <a:prstGeom prst="rect">
            <a:avLst/>
          </a:prstGeom>
          <a:noFill/>
        </p:spPr>
        <p:txBody>
          <a:bodyPr wrap="square" lIns="0" tIns="0" rIns="0" bIns="0" anchor="t">
            <a:spAutoFit/>
          </a:bodyPr>
          <a:lstStyle/>
          <a:p>
            <a:pPr algn="ctr">
              <a:lnSpc>
                <a:spcPct val="115000"/>
              </a:lnSpc>
            </a:pPr>
            <a:r>
              <a:rPr sz="800" b="1" i="0">
                <a:solidFill>
                  <a:srgbClr val="2F3691"/>
                </a:solidFill>
                <a:latin typeface="DM Sans"/>
              </a:rPr>
              <a:t>914</a:t>
            </a:r>
          </a:p>
        </p:txBody>
      </p:sp>
      <p:sp>
        <p:nvSpPr>
          <p:cNvPr id="33" name="TextBox 32"/>
          <p:cNvSpPr txBox="1"/>
          <p:nvPr/>
        </p:nvSpPr>
        <p:spPr>
          <a:xfrm>
            <a:off x="6217920" y="4434840"/>
            <a:ext cx="845819" cy="228600"/>
          </a:xfrm>
          <a:prstGeom prst="rect">
            <a:avLst/>
          </a:prstGeom>
          <a:noFill/>
        </p:spPr>
        <p:txBody>
          <a:bodyPr wrap="square" lIns="0" tIns="0" rIns="0" bIns="0" anchor="t">
            <a:spAutoFit/>
          </a:bodyPr>
          <a:lstStyle/>
          <a:p>
            <a:pPr algn="ctr">
              <a:lnSpc>
                <a:spcPct val="115000"/>
              </a:lnSpc>
            </a:pPr>
            <a:r>
              <a:rPr sz="800" b="0" i="0">
                <a:solidFill>
                  <a:srgbClr val="555555"/>
                </a:solidFill>
                <a:latin typeface="DM Sans"/>
              </a:rPr>
              <a:t>May-26</a:t>
            </a:r>
          </a:p>
        </p:txBody>
      </p:sp>
      <p:sp>
        <p:nvSpPr>
          <p:cNvPr id="34" name="TextBox 33"/>
          <p:cNvSpPr txBox="1"/>
          <p:nvPr/>
        </p:nvSpPr>
        <p:spPr>
          <a:xfrm>
            <a:off x="4663440" y="2697480"/>
            <a:ext cx="2606040" cy="256032"/>
          </a:xfrm>
          <a:prstGeom prst="rect">
            <a:avLst/>
          </a:prstGeom>
          <a:noFill/>
        </p:spPr>
        <p:txBody>
          <a:bodyPr wrap="square" lIns="0" tIns="0" rIns="0" bIns="0" anchor="t">
            <a:spAutoFit/>
          </a:bodyPr>
          <a:lstStyle/>
          <a:p>
            <a:pPr algn="r">
              <a:lnSpc>
                <a:spcPct val="115000"/>
              </a:lnSpc>
            </a:pPr>
            <a:r>
              <a:rPr sz="850" b="0" i="1">
                <a:solidFill>
                  <a:srgbClr val="C6198D"/>
                </a:solidFill>
                <a:latin typeface="DM Sans"/>
              </a:rPr>
              <a:t>Ref: 2021 peak &gt;2,000 cr/day</a:t>
            </a:r>
          </a:p>
        </p:txBody>
      </p:sp>
      <p:sp>
        <p:nvSpPr>
          <p:cNvPr id="35" name="Rounded Rectangle 34"/>
          <p:cNvSpPr/>
          <p:nvPr/>
        </p:nvSpPr>
        <p:spPr>
          <a:xfrm>
            <a:off x="7589520" y="2194560"/>
            <a:ext cx="4160520" cy="2423160"/>
          </a:xfrm>
          <a:prstGeom prst="roundRect">
            <a:avLst>
              <a:gd name="adj" fmla="val 4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589520" y="2194560"/>
            <a:ext cx="4160520" cy="91440"/>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818120" y="2423160"/>
            <a:ext cx="3703320" cy="274320"/>
          </a:xfrm>
          <a:prstGeom prst="rect">
            <a:avLst/>
          </a:prstGeom>
          <a:noFill/>
        </p:spPr>
        <p:txBody>
          <a:bodyPr wrap="square" lIns="0" tIns="0" rIns="0" bIns="0" anchor="t">
            <a:spAutoFit/>
          </a:bodyPr>
          <a:lstStyle/>
          <a:p>
            <a:pPr algn="l">
              <a:lnSpc>
                <a:spcPct val="115000"/>
              </a:lnSpc>
            </a:pPr>
            <a:r>
              <a:rPr sz="900" b="1" i="0">
                <a:solidFill>
                  <a:srgbClr val="C6198D"/>
                </a:solidFill>
                <a:latin typeface="DM Sans"/>
              </a:rPr>
              <a:t>FOREIGN PORTFOLIO FLOWS</a:t>
            </a:r>
          </a:p>
        </p:txBody>
      </p:sp>
      <p:sp>
        <p:nvSpPr>
          <p:cNvPr id="38" name="TextBox 37"/>
          <p:cNvSpPr txBox="1"/>
          <p:nvPr/>
        </p:nvSpPr>
        <p:spPr>
          <a:xfrm>
            <a:off x="7818120" y="2697480"/>
            <a:ext cx="3703320" cy="320040"/>
          </a:xfrm>
          <a:prstGeom prst="rect">
            <a:avLst/>
          </a:prstGeom>
          <a:noFill/>
        </p:spPr>
        <p:txBody>
          <a:bodyPr wrap="square" lIns="0" tIns="0" rIns="0" bIns="0" anchor="t">
            <a:spAutoFit/>
          </a:bodyPr>
          <a:lstStyle/>
          <a:p>
            <a:pPr algn="l">
              <a:lnSpc>
                <a:spcPct val="115000"/>
              </a:lnSpc>
            </a:pPr>
            <a:r>
              <a:rPr sz="1350" b="1" i="0">
                <a:solidFill>
                  <a:srgbClr val="2F3691"/>
                </a:solidFill>
                <a:latin typeface="DM Sans"/>
              </a:rPr>
              <a:t>Net outflows widened 7x YoY</a:t>
            </a:r>
          </a:p>
        </p:txBody>
      </p:sp>
      <p:sp>
        <p:nvSpPr>
          <p:cNvPr id="39" name="TextBox 38"/>
          <p:cNvSpPr txBox="1"/>
          <p:nvPr/>
        </p:nvSpPr>
        <p:spPr>
          <a:xfrm>
            <a:off x="7818120" y="3154680"/>
            <a:ext cx="3703320" cy="274320"/>
          </a:xfrm>
          <a:prstGeom prst="rect">
            <a:avLst/>
          </a:prstGeom>
          <a:noFill/>
        </p:spPr>
        <p:txBody>
          <a:bodyPr wrap="square" lIns="0" tIns="0" rIns="0" bIns="0" anchor="t">
            <a:spAutoFit/>
          </a:bodyPr>
          <a:lstStyle/>
          <a:p>
            <a:pPr algn="l">
              <a:lnSpc>
                <a:spcPct val="115000"/>
              </a:lnSpc>
            </a:pPr>
            <a:r>
              <a:rPr sz="900" b="0" i="0">
                <a:solidFill>
                  <a:srgbClr val="8A8A8A"/>
                </a:solidFill>
                <a:latin typeface="DM Sans"/>
              </a:rPr>
              <a:t>Jul–Oct FY26</a:t>
            </a:r>
          </a:p>
        </p:txBody>
      </p:sp>
      <p:sp>
        <p:nvSpPr>
          <p:cNvPr id="40" name="TextBox 39"/>
          <p:cNvSpPr txBox="1"/>
          <p:nvPr/>
        </p:nvSpPr>
        <p:spPr>
          <a:xfrm>
            <a:off x="7818120" y="3383280"/>
            <a:ext cx="3703320" cy="457200"/>
          </a:xfrm>
          <a:prstGeom prst="rect">
            <a:avLst/>
          </a:prstGeom>
          <a:noFill/>
        </p:spPr>
        <p:txBody>
          <a:bodyPr wrap="square" lIns="0" tIns="0" rIns="0" bIns="0" anchor="t">
            <a:spAutoFit/>
          </a:bodyPr>
          <a:lstStyle/>
          <a:p>
            <a:pPr algn="l">
              <a:lnSpc>
                <a:spcPct val="120000"/>
              </a:lnSpc>
            </a:pPr>
            <a:r>
              <a:rPr sz="2200" b="1" i="0">
                <a:solidFill>
                  <a:srgbClr val="C6198D"/>
                </a:solidFill>
                <a:latin typeface="DM Sans"/>
              </a:rPr>
              <a:t>-USD 66 mn</a:t>
            </a:r>
          </a:p>
        </p:txBody>
      </p:sp>
      <p:sp>
        <p:nvSpPr>
          <p:cNvPr id="41" name="TextBox 40"/>
          <p:cNvSpPr txBox="1"/>
          <p:nvPr/>
        </p:nvSpPr>
        <p:spPr>
          <a:xfrm>
            <a:off x="7818120" y="3886200"/>
            <a:ext cx="3703320" cy="274320"/>
          </a:xfrm>
          <a:prstGeom prst="rect">
            <a:avLst/>
          </a:prstGeom>
          <a:noFill/>
        </p:spPr>
        <p:txBody>
          <a:bodyPr wrap="square" lIns="0" tIns="0" rIns="0" bIns="0" anchor="t">
            <a:spAutoFit/>
          </a:bodyPr>
          <a:lstStyle/>
          <a:p>
            <a:pPr algn="l">
              <a:lnSpc>
                <a:spcPct val="115000"/>
              </a:lnSpc>
            </a:pPr>
            <a:r>
              <a:rPr sz="900" b="0" i="0">
                <a:solidFill>
                  <a:srgbClr val="8A8A8A"/>
                </a:solidFill>
                <a:latin typeface="DM Sans"/>
              </a:rPr>
              <a:t>Same period FY25</a:t>
            </a:r>
          </a:p>
        </p:txBody>
      </p:sp>
      <p:sp>
        <p:nvSpPr>
          <p:cNvPr id="42" name="TextBox 41"/>
          <p:cNvSpPr txBox="1"/>
          <p:nvPr/>
        </p:nvSpPr>
        <p:spPr>
          <a:xfrm>
            <a:off x="7818120" y="4114800"/>
            <a:ext cx="3703320" cy="457200"/>
          </a:xfrm>
          <a:prstGeom prst="rect">
            <a:avLst/>
          </a:prstGeom>
          <a:noFill/>
        </p:spPr>
        <p:txBody>
          <a:bodyPr wrap="square" lIns="0" tIns="0" rIns="0" bIns="0" anchor="t">
            <a:spAutoFit/>
          </a:bodyPr>
          <a:lstStyle/>
          <a:p>
            <a:pPr algn="l">
              <a:lnSpc>
                <a:spcPct val="120000"/>
              </a:lnSpc>
            </a:pPr>
            <a:r>
              <a:rPr sz="1800" b="1" i="0">
                <a:solidFill>
                  <a:srgbClr val="555555"/>
                </a:solidFill>
                <a:latin typeface="DM Sans"/>
              </a:rPr>
              <a:t>-USD 9 mn</a:t>
            </a:r>
          </a:p>
        </p:txBody>
      </p:sp>
      <p:sp>
        <p:nvSpPr>
          <p:cNvPr id="43" name="TextBox 42"/>
          <p:cNvSpPr txBox="1"/>
          <p:nvPr/>
        </p:nvSpPr>
        <p:spPr>
          <a:xfrm>
            <a:off x="502920" y="4732864"/>
            <a:ext cx="6903720" cy="292608"/>
          </a:xfrm>
          <a:prstGeom prst="rect">
            <a:avLst/>
          </a:prstGeom>
          <a:noFill/>
        </p:spPr>
        <p:txBody>
          <a:bodyPr wrap="square" lIns="0" tIns="0" rIns="0" bIns="0" anchor="t">
            <a:spAutoFit/>
          </a:bodyPr>
          <a:lstStyle/>
          <a:p>
            <a:pPr algn="l">
              <a:lnSpc>
                <a:spcPct val="115000"/>
              </a:lnSpc>
            </a:pPr>
            <a:r>
              <a:rPr sz="1150" b="1" i="0">
                <a:solidFill>
                  <a:srgbClr val="2F3691"/>
                </a:solidFill>
                <a:latin typeface="DM Sans"/>
              </a:rPr>
              <a:t>Top 5 stocks ≈ 28–30% of DSE market cap — depth is concentrated</a:t>
            </a:r>
          </a:p>
        </p:txBody>
      </p:sp>
      <p:grpSp>
        <p:nvGrpSpPr>
          <p:cNvPr id="74" name="Group 73">
            <a:extLst>
              <a:ext uri="{FF2B5EF4-FFF2-40B4-BE49-F238E27FC236}">
                <a16:creationId xmlns:a16="http://schemas.microsoft.com/office/drawing/2014/main" id="{351465D3-8EDE-3F3A-A042-C606CABD7887}"/>
              </a:ext>
            </a:extLst>
          </p:cNvPr>
          <p:cNvGrpSpPr/>
          <p:nvPr/>
        </p:nvGrpSpPr>
        <p:grpSpPr>
          <a:xfrm>
            <a:off x="481654" y="5010061"/>
            <a:ext cx="6903720" cy="1435608"/>
            <a:chOff x="502920" y="4797407"/>
            <a:chExt cx="6903720" cy="1435608"/>
          </a:xfrm>
        </p:grpSpPr>
        <p:sp>
          <p:nvSpPr>
            <p:cNvPr id="44" name="TextBox 43"/>
            <p:cNvSpPr txBox="1"/>
            <p:nvPr/>
          </p:nvSpPr>
          <p:spPr>
            <a:xfrm>
              <a:off x="502920" y="4797407"/>
              <a:ext cx="2286000" cy="228600"/>
            </a:xfrm>
            <a:prstGeom prst="rect">
              <a:avLst/>
            </a:prstGeom>
            <a:noFill/>
          </p:spPr>
          <p:txBody>
            <a:bodyPr wrap="square" lIns="0" tIns="0" rIns="0" bIns="0" anchor="t">
              <a:spAutoFit/>
            </a:bodyPr>
            <a:lstStyle/>
            <a:p>
              <a:pPr algn="l">
                <a:lnSpc>
                  <a:spcPct val="115000"/>
                </a:lnSpc>
              </a:pPr>
              <a:r>
                <a:rPr sz="850" b="1" i="0">
                  <a:solidFill>
                    <a:srgbClr val="8A8A8A"/>
                  </a:solidFill>
                  <a:latin typeface="DM Sans"/>
                </a:rPr>
                <a:t>STOCK</a:t>
              </a:r>
            </a:p>
          </p:txBody>
        </p:sp>
        <p:sp>
          <p:nvSpPr>
            <p:cNvPr id="45" name="TextBox 44"/>
            <p:cNvSpPr txBox="1"/>
            <p:nvPr/>
          </p:nvSpPr>
          <p:spPr>
            <a:xfrm>
              <a:off x="2834640" y="4797407"/>
              <a:ext cx="1645920" cy="228600"/>
            </a:xfrm>
            <a:prstGeom prst="rect">
              <a:avLst/>
            </a:prstGeom>
            <a:noFill/>
          </p:spPr>
          <p:txBody>
            <a:bodyPr wrap="square" lIns="0" tIns="0" rIns="0" bIns="0" anchor="t">
              <a:spAutoFit/>
            </a:bodyPr>
            <a:lstStyle/>
            <a:p>
              <a:pPr algn="l">
                <a:lnSpc>
                  <a:spcPct val="115000"/>
                </a:lnSpc>
              </a:pPr>
              <a:r>
                <a:rPr sz="850" b="1" i="0">
                  <a:solidFill>
                    <a:srgbClr val="8A8A8A"/>
                  </a:solidFill>
                  <a:latin typeface="DM Sans"/>
                </a:rPr>
                <a:t>SECTOR</a:t>
              </a:r>
            </a:p>
          </p:txBody>
        </p:sp>
        <p:sp>
          <p:nvSpPr>
            <p:cNvPr id="46" name="TextBox 45"/>
            <p:cNvSpPr txBox="1"/>
            <p:nvPr/>
          </p:nvSpPr>
          <p:spPr>
            <a:xfrm>
              <a:off x="4663440" y="4797407"/>
              <a:ext cx="1371600" cy="228600"/>
            </a:xfrm>
            <a:prstGeom prst="rect">
              <a:avLst/>
            </a:prstGeom>
            <a:noFill/>
          </p:spPr>
          <p:txBody>
            <a:bodyPr wrap="square" lIns="0" tIns="0" rIns="0" bIns="0" anchor="t">
              <a:spAutoFit/>
            </a:bodyPr>
            <a:lstStyle/>
            <a:p>
              <a:pPr algn="r">
                <a:lnSpc>
                  <a:spcPct val="115000"/>
                </a:lnSpc>
              </a:pPr>
              <a:r>
                <a:rPr sz="850" b="1" i="0">
                  <a:solidFill>
                    <a:srgbClr val="8A8A8A"/>
                  </a:solidFill>
                  <a:latin typeface="DM Sans"/>
                </a:rPr>
                <a:t>MKT CAP (BDT cr)</a:t>
              </a:r>
            </a:p>
          </p:txBody>
        </p:sp>
        <p:sp>
          <p:nvSpPr>
            <p:cNvPr id="47" name="TextBox 46"/>
            <p:cNvSpPr txBox="1"/>
            <p:nvPr/>
          </p:nvSpPr>
          <p:spPr>
            <a:xfrm>
              <a:off x="6217920" y="4797407"/>
              <a:ext cx="1097280" cy="228600"/>
            </a:xfrm>
            <a:prstGeom prst="rect">
              <a:avLst/>
            </a:prstGeom>
            <a:noFill/>
          </p:spPr>
          <p:txBody>
            <a:bodyPr wrap="square" lIns="0" tIns="0" rIns="0" bIns="0" anchor="t">
              <a:spAutoFit/>
            </a:bodyPr>
            <a:lstStyle/>
            <a:p>
              <a:pPr algn="r">
                <a:lnSpc>
                  <a:spcPct val="115000"/>
                </a:lnSpc>
              </a:pPr>
              <a:r>
                <a:rPr sz="850" b="1" i="0">
                  <a:solidFill>
                    <a:srgbClr val="8A8A8A"/>
                  </a:solidFill>
                  <a:latin typeface="DM Sans"/>
                </a:rPr>
                <a:t>% OF DSE</a:t>
              </a:r>
            </a:p>
          </p:txBody>
        </p:sp>
        <p:sp>
          <p:nvSpPr>
            <p:cNvPr id="48" name="Rectangle 47"/>
            <p:cNvSpPr/>
            <p:nvPr/>
          </p:nvSpPr>
          <p:spPr>
            <a:xfrm>
              <a:off x="502920" y="5071727"/>
              <a:ext cx="6903720" cy="1097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30352" y="5263751"/>
              <a:ext cx="73152" cy="73152"/>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13232" y="5181455"/>
              <a:ext cx="2194560" cy="228600"/>
            </a:xfrm>
            <a:prstGeom prst="rect">
              <a:avLst/>
            </a:prstGeom>
            <a:noFill/>
          </p:spPr>
          <p:txBody>
            <a:bodyPr wrap="square" lIns="0" tIns="0" rIns="0" bIns="0" anchor="t">
              <a:spAutoFit/>
            </a:bodyPr>
            <a:lstStyle/>
            <a:p>
              <a:pPr algn="l">
                <a:lnSpc>
                  <a:spcPct val="115000"/>
                </a:lnSpc>
              </a:pPr>
              <a:r>
                <a:rPr sz="1000" b="1" i="0">
                  <a:solidFill>
                    <a:srgbClr val="1A1A1A"/>
                  </a:solidFill>
                  <a:latin typeface="DM Sans"/>
                </a:rPr>
                <a:t>Grameenphone</a:t>
              </a:r>
            </a:p>
          </p:txBody>
        </p:sp>
        <p:sp>
          <p:nvSpPr>
            <p:cNvPr id="51" name="TextBox 50"/>
            <p:cNvSpPr txBox="1"/>
            <p:nvPr/>
          </p:nvSpPr>
          <p:spPr>
            <a:xfrm>
              <a:off x="2834640" y="5181455"/>
              <a:ext cx="1645920" cy="228600"/>
            </a:xfrm>
            <a:prstGeom prst="rect">
              <a:avLst/>
            </a:prstGeom>
            <a:noFill/>
          </p:spPr>
          <p:txBody>
            <a:bodyPr wrap="square" lIns="0" tIns="0" rIns="0" bIns="0" anchor="t">
              <a:spAutoFit/>
            </a:bodyPr>
            <a:lstStyle/>
            <a:p>
              <a:pPr algn="l">
                <a:lnSpc>
                  <a:spcPct val="115000"/>
                </a:lnSpc>
              </a:pPr>
              <a:r>
                <a:rPr sz="950" b="0" i="0">
                  <a:solidFill>
                    <a:srgbClr val="555555"/>
                  </a:solidFill>
                  <a:latin typeface="DM Sans"/>
                </a:rPr>
                <a:t>Telecom</a:t>
              </a:r>
            </a:p>
          </p:txBody>
        </p:sp>
        <p:sp>
          <p:nvSpPr>
            <p:cNvPr id="52" name="TextBox 51"/>
            <p:cNvSpPr txBox="1"/>
            <p:nvPr/>
          </p:nvSpPr>
          <p:spPr>
            <a:xfrm>
              <a:off x="4663440" y="5181455"/>
              <a:ext cx="1371600" cy="169342"/>
            </a:xfrm>
            <a:prstGeom prst="rect">
              <a:avLst/>
            </a:prstGeom>
            <a:noFill/>
          </p:spPr>
          <p:txBody>
            <a:bodyPr wrap="square" lIns="0" tIns="0" rIns="0" bIns="0" anchor="t">
              <a:spAutoFit/>
            </a:bodyPr>
            <a:lstStyle/>
            <a:p>
              <a:pPr algn="r">
                <a:lnSpc>
                  <a:spcPct val="115000"/>
                </a:lnSpc>
              </a:pPr>
              <a:r>
                <a:rPr lang="en-US" sz="1000" b="0" i="0" dirty="0">
                  <a:solidFill>
                    <a:srgbClr val="1A1A1A"/>
                  </a:solidFill>
                  <a:latin typeface="DM Sans"/>
                </a:rPr>
                <a:t>32,150</a:t>
              </a:r>
              <a:endParaRPr sz="1000" b="0" i="0" dirty="0">
                <a:solidFill>
                  <a:srgbClr val="1A1A1A"/>
                </a:solidFill>
                <a:latin typeface="DM Sans"/>
              </a:endParaRPr>
            </a:p>
          </p:txBody>
        </p:sp>
        <p:sp>
          <p:nvSpPr>
            <p:cNvPr id="53" name="TextBox 52"/>
            <p:cNvSpPr txBox="1"/>
            <p:nvPr/>
          </p:nvSpPr>
          <p:spPr>
            <a:xfrm>
              <a:off x="6217920" y="5181455"/>
              <a:ext cx="1097280" cy="169342"/>
            </a:xfrm>
            <a:prstGeom prst="rect">
              <a:avLst/>
            </a:prstGeom>
            <a:noFill/>
          </p:spPr>
          <p:txBody>
            <a:bodyPr wrap="square" lIns="0" tIns="0" rIns="0" bIns="0" anchor="t">
              <a:spAutoFit/>
            </a:bodyPr>
            <a:lstStyle/>
            <a:p>
              <a:pPr algn="r">
                <a:lnSpc>
                  <a:spcPct val="115000"/>
                </a:lnSpc>
              </a:pPr>
              <a:r>
                <a:rPr lang="en-US" sz="1000" b="1" i="0" dirty="0">
                  <a:solidFill>
                    <a:srgbClr val="2F3691"/>
                  </a:solidFill>
                  <a:latin typeface="DM Sans"/>
                </a:rPr>
                <a:t>9.6</a:t>
              </a:r>
              <a:r>
                <a:rPr sz="1000" b="1" i="0" dirty="0">
                  <a:solidFill>
                    <a:srgbClr val="2F3691"/>
                  </a:solidFill>
                  <a:latin typeface="DM Sans"/>
                </a:rPr>
                <a:t>%</a:t>
              </a:r>
            </a:p>
          </p:txBody>
        </p:sp>
        <p:sp>
          <p:nvSpPr>
            <p:cNvPr id="54" name="Oval 53"/>
            <p:cNvSpPr/>
            <p:nvPr/>
          </p:nvSpPr>
          <p:spPr>
            <a:xfrm>
              <a:off x="530352" y="5538071"/>
              <a:ext cx="73152" cy="73152"/>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13232" y="5455775"/>
              <a:ext cx="2194560" cy="228600"/>
            </a:xfrm>
            <a:prstGeom prst="rect">
              <a:avLst/>
            </a:prstGeom>
            <a:noFill/>
          </p:spPr>
          <p:txBody>
            <a:bodyPr wrap="square" lIns="0" tIns="0" rIns="0" bIns="0" anchor="t">
              <a:spAutoFit/>
            </a:bodyPr>
            <a:lstStyle/>
            <a:p>
              <a:pPr algn="l">
                <a:lnSpc>
                  <a:spcPct val="115000"/>
                </a:lnSpc>
              </a:pPr>
              <a:r>
                <a:rPr sz="1000" b="1" i="0">
                  <a:solidFill>
                    <a:srgbClr val="1A1A1A"/>
                  </a:solidFill>
                  <a:latin typeface="DM Sans"/>
                </a:rPr>
                <a:t>Square Pharma</a:t>
              </a:r>
            </a:p>
          </p:txBody>
        </p:sp>
        <p:sp>
          <p:nvSpPr>
            <p:cNvPr id="56" name="TextBox 55"/>
            <p:cNvSpPr txBox="1"/>
            <p:nvPr/>
          </p:nvSpPr>
          <p:spPr>
            <a:xfrm>
              <a:off x="2834640" y="5455775"/>
              <a:ext cx="1645920" cy="228600"/>
            </a:xfrm>
            <a:prstGeom prst="rect">
              <a:avLst/>
            </a:prstGeom>
            <a:noFill/>
          </p:spPr>
          <p:txBody>
            <a:bodyPr wrap="square" lIns="0" tIns="0" rIns="0" bIns="0" anchor="t">
              <a:spAutoFit/>
            </a:bodyPr>
            <a:lstStyle/>
            <a:p>
              <a:pPr algn="l">
                <a:lnSpc>
                  <a:spcPct val="115000"/>
                </a:lnSpc>
              </a:pPr>
              <a:r>
                <a:rPr sz="950" b="0" i="0" dirty="0">
                  <a:solidFill>
                    <a:srgbClr val="555555"/>
                  </a:solidFill>
                  <a:latin typeface="DM Sans"/>
                </a:rPr>
                <a:t>Pharma</a:t>
              </a:r>
            </a:p>
          </p:txBody>
        </p:sp>
        <p:sp>
          <p:nvSpPr>
            <p:cNvPr id="57" name="TextBox 56"/>
            <p:cNvSpPr txBox="1"/>
            <p:nvPr/>
          </p:nvSpPr>
          <p:spPr>
            <a:xfrm>
              <a:off x="4663440" y="5455775"/>
              <a:ext cx="1371600" cy="169342"/>
            </a:xfrm>
            <a:prstGeom prst="rect">
              <a:avLst/>
            </a:prstGeom>
            <a:noFill/>
          </p:spPr>
          <p:txBody>
            <a:bodyPr wrap="square" lIns="0" tIns="0" rIns="0" bIns="0" anchor="t">
              <a:spAutoFit/>
            </a:bodyPr>
            <a:lstStyle/>
            <a:p>
              <a:pPr algn="r">
                <a:lnSpc>
                  <a:spcPct val="115000"/>
                </a:lnSpc>
              </a:pPr>
              <a:r>
                <a:rPr lang="en-US" sz="1000" b="0" i="0" dirty="0">
                  <a:solidFill>
                    <a:srgbClr val="1A1A1A"/>
                  </a:solidFill>
                  <a:latin typeface="DM Sans"/>
                </a:rPr>
                <a:t>18,429</a:t>
              </a:r>
              <a:endParaRPr sz="1000" b="0" i="0" dirty="0">
                <a:solidFill>
                  <a:srgbClr val="1A1A1A"/>
                </a:solidFill>
                <a:latin typeface="DM Sans"/>
              </a:endParaRPr>
            </a:p>
          </p:txBody>
        </p:sp>
        <p:sp>
          <p:nvSpPr>
            <p:cNvPr id="58" name="TextBox 57"/>
            <p:cNvSpPr txBox="1"/>
            <p:nvPr/>
          </p:nvSpPr>
          <p:spPr>
            <a:xfrm>
              <a:off x="6217920" y="5455775"/>
              <a:ext cx="1097280" cy="169342"/>
            </a:xfrm>
            <a:prstGeom prst="rect">
              <a:avLst/>
            </a:prstGeom>
            <a:noFill/>
          </p:spPr>
          <p:txBody>
            <a:bodyPr wrap="square" lIns="0" tIns="0" rIns="0" bIns="0" anchor="t">
              <a:spAutoFit/>
            </a:bodyPr>
            <a:lstStyle/>
            <a:p>
              <a:pPr algn="r">
                <a:lnSpc>
                  <a:spcPct val="115000"/>
                </a:lnSpc>
              </a:pPr>
              <a:r>
                <a:rPr sz="1000" b="1" i="0" dirty="0">
                  <a:solidFill>
                    <a:srgbClr val="2F3691"/>
                  </a:solidFill>
                  <a:latin typeface="DM Sans"/>
                </a:rPr>
                <a:t>5.</a:t>
              </a:r>
              <a:r>
                <a:rPr lang="en-US" sz="1000" b="1" i="0" dirty="0">
                  <a:solidFill>
                    <a:srgbClr val="2F3691"/>
                  </a:solidFill>
                  <a:latin typeface="DM Sans"/>
                </a:rPr>
                <a:t>5</a:t>
              </a:r>
              <a:r>
                <a:rPr sz="1000" b="1" i="0" dirty="0">
                  <a:solidFill>
                    <a:srgbClr val="2F3691"/>
                  </a:solidFill>
                  <a:latin typeface="DM Sans"/>
                </a:rPr>
                <a:t>%</a:t>
              </a:r>
            </a:p>
          </p:txBody>
        </p:sp>
        <p:sp>
          <p:nvSpPr>
            <p:cNvPr id="59" name="Oval 58"/>
            <p:cNvSpPr/>
            <p:nvPr/>
          </p:nvSpPr>
          <p:spPr>
            <a:xfrm>
              <a:off x="530352" y="5812391"/>
              <a:ext cx="73152" cy="73152"/>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13232" y="5730095"/>
              <a:ext cx="2194560" cy="228600"/>
            </a:xfrm>
            <a:prstGeom prst="rect">
              <a:avLst/>
            </a:prstGeom>
            <a:noFill/>
          </p:spPr>
          <p:txBody>
            <a:bodyPr wrap="square" lIns="0" tIns="0" rIns="0" bIns="0" anchor="t">
              <a:spAutoFit/>
            </a:bodyPr>
            <a:lstStyle/>
            <a:p>
              <a:pPr algn="l">
                <a:lnSpc>
                  <a:spcPct val="115000"/>
                </a:lnSpc>
              </a:pPr>
              <a:r>
                <a:rPr sz="1000" b="1" i="0">
                  <a:solidFill>
                    <a:srgbClr val="1A1A1A"/>
                  </a:solidFill>
                  <a:latin typeface="DM Sans"/>
                </a:rPr>
                <a:t>BAT Bangladesh</a:t>
              </a:r>
            </a:p>
          </p:txBody>
        </p:sp>
        <p:sp>
          <p:nvSpPr>
            <p:cNvPr id="61" name="TextBox 60"/>
            <p:cNvSpPr txBox="1"/>
            <p:nvPr/>
          </p:nvSpPr>
          <p:spPr>
            <a:xfrm>
              <a:off x="2834640" y="5730095"/>
              <a:ext cx="1645920" cy="228600"/>
            </a:xfrm>
            <a:prstGeom prst="rect">
              <a:avLst/>
            </a:prstGeom>
            <a:noFill/>
          </p:spPr>
          <p:txBody>
            <a:bodyPr wrap="square" lIns="0" tIns="0" rIns="0" bIns="0" anchor="t">
              <a:spAutoFit/>
            </a:bodyPr>
            <a:lstStyle/>
            <a:p>
              <a:pPr algn="l">
                <a:lnSpc>
                  <a:spcPct val="115000"/>
                </a:lnSpc>
              </a:pPr>
              <a:r>
                <a:rPr sz="950" b="0" i="0">
                  <a:solidFill>
                    <a:srgbClr val="555555"/>
                  </a:solidFill>
                  <a:latin typeface="DM Sans"/>
                </a:rPr>
                <a:t>Tobacco</a:t>
              </a:r>
            </a:p>
          </p:txBody>
        </p:sp>
        <p:sp>
          <p:nvSpPr>
            <p:cNvPr id="62" name="TextBox 61"/>
            <p:cNvSpPr txBox="1"/>
            <p:nvPr/>
          </p:nvSpPr>
          <p:spPr>
            <a:xfrm>
              <a:off x="4663440" y="5730095"/>
              <a:ext cx="1371600" cy="169342"/>
            </a:xfrm>
            <a:prstGeom prst="rect">
              <a:avLst/>
            </a:prstGeom>
            <a:noFill/>
          </p:spPr>
          <p:txBody>
            <a:bodyPr wrap="square" lIns="0" tIns="0" rIns="0" bIns="0" anchor="t">
              <a:spAutoFit/>
            </a:bodyPr>
            <a:lstStyle/>
            <a:p>
              <a:pPr algn="r">
                <a:lnSpc>
                  <a:spcPct val="115000"/>
                </a:lnSpc>
              </a:pPr>
              <a:r>
                <a:rPr lang="en-US" sz="1000" b="0" i="0" dirty="0">
                  <a:solidFill>
                    <a:srgbClr val="1A1A1A"/>
                  </a:solidFill>
                  <a:latin typeface="DM Sans"/>
                </a:rPr>
                <a:t>11,485</a:t>
              </a:r>
              <a:endParaRPr sz="1000" b="0" i="0" dirty="0">
                <a:solidFill>
                  <a:srgbClr val="1A1A1A"/>
                </a:solidFill>
                <a:latin typeface="DM Sans"/>
              </a:endParaRPr>
            </a:p>
          </p:txBody>
        </p:sp>
        <p:sp>
          <p:nvSpPr>
            <p:cNvPr id="63" name="TextBox 62"/>
            <p:cNvSpPr txBox="1"/>
            <p:nvPr/>
          </p:nvSpPr>
          <p:spPr>
            <a:xfrm>
              <a:off x="6217920" y="5730095"/>
              <a:ext cx="1097280" cy="169342"/>
            </a:xfrm>
            <a:prstGeom prst="rect">
              <a:avLst/>
            </a:prstGeom>
            <a:noFill/>
          </p:spPr>
          <p:txBody>
            <a:bodyPr wrap="square" lIns="0" tIns="0" rIns="0" bIns="0" anchor="t">
              <a:spAutoFit/>
            </a:bodyPr>
            <a:lstStyle/>
            <a:p>
              <a:pPr algn="r">
                <a:lnSpc>
                  <a:spcPct val="115000"/>
                </a:lnSpc>
              </a:pPr>
              <a:r>
                <a:rPr lang="en-US" sz="1000" b="1" i="0" dirty="0">
                  <a:solidFill>
                    <a:srgbClr val="2F3691"/>
                  </a:solidFill>
                  <a:latin typeface="DM Sans"/>
                </a:rPr>
                <a:t>3.4</a:t>
              </a:r>
              <a:r>
                <a:rPr sz="1000" b="1" i="0" dirty="0">
                  <a:solidFill>
                    <a:srgbClr val="2F3691"/>
                  </a:solidFill>
                  <a:latin typeface="DM Sans"/>
                </a:rPr>
                <a:t>%</a:t>
              </a:r>
            </a:p>
          </p:txBody>
        </p:sp>
        <p:sp>
          <p:nvSpPr>
            <p:cNvPr id="64" name="Oval 63"/>
            <p:cNvSpPr/>
            <p:nvPr/>
          </p:nvSpPr>
          <p:spPr>
            <a:xfrm>
              <a:off x="530352" y="6086710"/>
              <a:ext cx="73152" cy="73152"/>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13232" y="6004415"/>
              <a:ext cx="2194560" cy="228600"/>
            </a:xfrm>
            <a:prstGeom prst="rect">
              <a:avLst/>
            </a:prstGeom>
            <a:noFill/>
          </p:spPr>
          <p:txBody>
            <a:bodyPr wrap="square" lIns="0" tIns="0" rIns="0" bIns="0" anchor="t">
              <a:spAutoFit/>
            </a:bodyPr>
            <a:lstStyle/>
            <a:p>
              <a:pPr algn="l">
                <a:lnSpc>
                  <a:spcPct val="115000"/>
                </a:lnSpc>
              </a:pPr>
              <a:r>
                <a:rPr sz="1000" b="1" i="0">
                  <a:solidFill>
                    <a:srgbClr val="1A1A1A"/>
                  </a:solidFill>
                  <a:latin typeface="DM Sans"/>
                </a:rPr>
                <a:t>BRAC Bank</a:t>
              </a:r>
            </a:p>
          </p:txBody>
        </p:sp>
        <p:sp>
          <p:nvSpPr>
            <p:cNvPr id="66" name="TextBox 65"/>
            <p:cNvSpPr txBox="1"/>
            <p:nvPr/>
          </p:nvSpPr>
          <p:spPr>
            <a:xfrm>
              <a:off x="2834640" y="6004415"/>
              <a:ext cx="1645920" cy="228600"/>
            </a:xfrm>
            <a:prstGeom prst="rect">
              <a:avLst/>
            </a:prstGeom>
            <a:noFill/>
          </p:spPr>
          <p:txBody>
            <a:bodyPr wrap="square" lIns="0" tIns="0" rIns="0" bIns="0" anchor="t">
              <a:spAutoFit/>
            </a:bodyPr>
            <a:lstStyle/>
            <a:p>
              <a:pPr algn="l">
                <a:lnSpc>
                  <a:spcPct val="115000"/>
                </a:lnSpc>
              </a:pPr>
              <a:r>
                <a:rPr sz="950" b="0" i="0">
                  <a:solidFill>
                    <a:srgbClr val="555555"/>
                  </a:solidFill>
                  <a:latin typeface="DM Sans"/>
                </a:rPr>
                <a:t>Banks</a:t>
              </a:r>
            </a:p>
          </p:txBody>
        </p:sp>
        <p:sp>
          <p:nvSpPr>
            <p:cNvPr id="67" name="TextBox 66"/>
            <p:cNvSpPr txBox="1"/>
            <p:nvPr/>
          </p:nvSpPr>
          <p:spPr>
            <a:xfrm>
              <a:off x="4663440" y="6004415"/>
              <a:ext cx="1371600" cy="169342"/>
            </a:xfrm>
            <a:prstGeom prst="rect">
              <a:avLst/>
            </a:prstGeom>
            <a:noFill/>
          </p:spPr>
          <p:txBody>
            <a:bodyPr wrap="square" lIns="0" tIns="0" rIns="0" bIns="0" anchor="t">
              <a:spAutoFit/>
            </a:bodyPr>
            <a:lstStyle/>
            <a:p>
              <a:pPr algn="r">
                <a:lnSpc>
                  <a:spcPct val="115000"/>
                </a:lnSpc>
              </a:pPr>
              <a:r>
                <a:rPr lang="en-US" sz="1000" dirty="0">
                  <a:solidFill>
                    <a:srgbClr val="1A1A1A"/>
                  </a:solidFill>
                  <a:latin typeface="DM Sans"/>
                </a:rPr>
                <a:t>14,607</a:t>
              </a:r>
              <a:endParaRPr sz="1000" b="0" i="0" dirty="0">
                <a:solidFill>
                  <a:srgbClr val="1A1A1A"/>
                </a:solidFill>
                <a:latin typeface="DM Sans"/>
              </a:endParaRPr>
            </a:p>
          </p:txBody>
        </p:sp>
        <p:sp>
          <p:nvSpPr>
            <p:cNvPr id="68" name="TextBox 67"/>
            <p:cNvSpPr txBox="1"/>
            <p:nvPr/>
          </p:nvSpPr>
          <p:spPr>
            <a:xfrm>
              <a:off x="6217920" y="6004415"/>
              <a:ext cx="1097280" cy="169342"/>
            </a:xfrm>
            <a:prstGeom prst="rect">
              <a:avLst/>
            </a:prstGeom>
            <a:noFill/>
          </p:spPr>
          <p:txBody>
            <a:bodyPr wrap="square" lIns="0" tIns="0" rIns="0" bIns="0" anchor="t">
              <a:spAutoFit/>
            </a:bodyPr>
            <a:lstStyle/>
            <a:p>
              <a:pPr algn="r">
                <a:lnSpc>
                  <a:spcPct val="115000"/>
                </a:lnSpc>
              </a:pPr>
              <a:r>
                <a:rPr sz="1000" b="1" i="0" dirty="0">
                  <a:solidFill>
                    <a:srgbClr val="2F3691"/>
                  </a:solidFill>
                  <a:latin typeface="DM Sans"/>
                </a:rPr>
                <a:t>4.</a:t>
              </a:r>
              <a:r>
                <a:rPr lang="en-US" sz="1000" b="1" i="0" dirty="0">
                  <a:solidFill>
                    <a:srgbClr val="2F3691"/>
                  </a:solidFill>
                  <a:latin typeface="DM Sans"/>
                </a:rPr>
                <a:t>3</a:t>
              </a:r>
              <a:r>
                <a:rPr sz="1000" b="1" i="0" dirty="0">
                  <a:solidFill>
                    <a:srgbClr val="2F3691"/>
                  </a:solidFill>
                  <a:latin typeface="DM Sans"/>
                </a:rPr>
                <a:t>%</a:t>
              </a:r>
            </a:p>
          </p:txBody>
        </p:sp>
      </p:grpSp>
      <p:sp>
        <p:nvSpPr>
          <p:cNvPr id="69" name="Rounded Rectangle 68"/>
          <p:cNvSpPr/>
          <p:nvPr/>
        </p:nvSpPr>
        <p:spPr>
          <a:xfrm>
            <a:off x="7589520" y="4800600"/>
            <a:ext cx="4160520" cy="1691640"/>
          </a:xfrm>
          <a:prstGeom prst="roundRect">
            <a:avLst>
              <a:gd name="adj" fmla="val 4000"/>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818120" y="4965192"/>
            <a:ext cx="3703320" cy="274320"/>
          </a:xfrm>
          <a:prstGeom prst="rect">
            <a:avLst/>
          </a:prstGeom>
          <a:noFill/>
        </p:spPr>
        <p:txBody>
          <a:bodyPr wrap="square" lIns="0" tIns="0" rIns="0" bIns="0" anchor="t">
            <a:spAutoFit/>
          </a:bodyPr>
          <a:lstStyle/>
          <a:p>
            <a:pPr algn="l">
              <a:lnSpc>
                <a:spcPct val="115000"/>
              </a:lnSpc>
            </a:pPr>
            <a:r>
              <a:rPr sz="900" b="1" i="0">
                <a:solidFill>
                  <a:srgbClr val="C6198D"/>
                </a:solidFill>
                <a:latin typeface="DM Sans"/>
              </a:rPr>
              <a:t>WHAT IT MEANS</a:t>
            </a:r>
          </a:p>
        </p:txBody>
      </p:sp>
      <p:sp>
        <p:nvSpPr>
          <p:cNvPr id="71" name="TextBox 70"/>
          <p:cNvSpPr txBox="1"/>
          <p:nvPr/>
        </p:nvSpPr>
        <p:spPr>
          <a:xfrm>
            <a:off x="7818120" y="5257800"/>
            <a:ext cx="3703320" cy="1280160"/>
          </a:xfrm>
          <a:prstGeom prst="rect">
            <a:avLst/>
          </a:prstGeom>
          <a:noFill/>
        </p:spPr>
        <p:txBody>
          <a:bodyPr wrap="square" lIns="0" tIns="0" rIns="0" bIns="0" anchor="t">
            <a:spAutoFit/>
          </a:bodyPr>
          <a:lstStyle/>
          <a:p>
            <a:pPr algn="l">
              <a:lnSpc>
                <a:spcPct val="130000"/>
              </a:lnSpc>
            </a:pPr>
            <a:r>
              <a:rPr sz="1000" b="0" i="0">
                <a:solidFill>
                  <a:srgbClr val="1A1A1A"/>
                </a:solidFill>
                <a:latin typeface="DM Sans"/>
              </a:rPr>
              <a:t>Foreign capital is still derisking around the post-election transition; a 7x worsening in outflows is the contra-indicator we want to see fade. Domestic liquidity is leading, but breadth is shallow — entry should target index heavyweights with re-rating optionality.</a:t>
            </a:r>
          </a:p>
        </p:txBody>
      </p:sp>
      <p:sp>
        <p:nvSpPr>
          <p:cNvPr id="72" name="TextBox 71"/>
          <p:cNvSpPr txBox="1"/>
          <p:nvPr/>
        </p:nvSpPr>
        <p:spPr>
          <a:xfrm>
            <a:off x="502920" y="6537960"/>
            <a:ext cx="9144000" cy="127086"/>
          </a:xfrm>
          <a:prstGeom prst="rect">
            <a:avLst/>
          </a:prstGeom>
          <a:noFill/>
        </p:spPr>
        <p:txBody>
          <a:bodyPr wrap="square" lIns="0" tIns="0" rIns="0" bIns="0" anchor="t">
            <a:spAutoFit/>
          </a:bodyPr>
          <a:lstStyle/>
          <a:p>
            <a:pPr algn="l">
              <a:lnSpc>
                <a:spcPct val="115000"/>
              </a:lnSpc>
            </a:pPr>
            <a:r>
              <a:rPr sz="750" b="0" i="1" dirty="0">
                <a:solidFill>
                  <a:srgbClr val="8A8A8A"/>
                </a:solidFill>
                <a:latin typeface="DM Sans"/>
              </a:rPr>
              <a:t>Sources: DSE; CEIC; The Business Standard; The Daily Star. </a:t>
            </a:r>
          </a:p>
        </p:txBody>
      </p:sp>
      <p:sp>
        <p:nvSpPr>
          <p:cNvPr id="73" name="TextBox 72"/>
          <p:cNvSpPr txBox="1"/>
          <p:nvPr/>
        </p:nvSpPr>
        <p:spPr>
          <a:xfrm>
            <a:off x="10515600" y="6537960"/>
            <a:ext cx="1188720" cy="135486"/>
          </a:xfrm>
          <a:prstGeom prst="rect">
            <a:avLst/>
          </a:prstGeom>
          <a:noFill/>
        </p:spPr>
        <p:txBody>
          <a:bodyPr wrap="square" lIns="0" tIns="0" rIns="0" bIns="0" anchor="t">
            <a:spAutoFit/>
          </a:bodyPr>
          <a:lstStyle/>
          <a:p>
            <a:pPr algn="r">
              <a:lnSpc>
                <a:spcPct val="115000"/>
              </a:lnSpc>
            </a:pPr>
            <a:r>
              <a:rPr lang="en-US" sz="800" dirty="0">
                <a:solidFill>
                  <a:srgbClr val="8A8A8A"/>
                </a:solidFill>
                <a:latin typeface="DM Sans"/>
              </a:rPr>
              <a:t>4</a:t>
            </a:r>
            <a:endParaRPr sz="800" b="0" i="0" dirty="0">
              <a:solidFill>
                <a:srgbClr val="8A8A8A"/>
              </a:solidFill>
              <a:latin typeface="DM Sans"/>
            </a:endParaRPr>
          </a:p>
        </p:txBody>
      </p:sp>
      <p:pic>
        <p:nvPicPr>
          <p:cNvPr id="75" name="Picture 74">
            <a:extLst>
              <a:ext uri="{FF2B5EF4-FFF2-40B4-BE49-F238E27FC236}">
                <a16:creationId xmlns:a16="http://schemas.microsoft.com/office/drawing/2014/main" id="{3A137577-27D7-4B35-ED38-7DD5C0EA35AE}"/>
              </a:ext>
            </a:extLst>
          </p:cNvPr>
          <p:cNvPicPr>
            <a:picLocks noChangeAspect="1"/>
          </p:cNvPicPr>
          <p:nvPr/>
        </p:nvPicPr>
        <p:blipFill>
          <a:blip r:embed="rId2"/>
          <a:stretch>
            <a:fillRect/>
          </a:stretch>
        </p:blipFill>
        <p:spPr>
          <a:xfrm>
            <a:off x="432816" y="131673"/>
            <a:ext cx="1072825" cy="5437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0" y="292608"/>
            <a:ext cx="7315200" cy="274320"/>
          </a:xfrm>
          <a:prstGeom prst="rect">
            <a:avLst/>
          </a:prstGeom>
          <a:noFill/>
        </p:spPr>
        <p:txBody>
          <a:bodyPr wrap="square" lIns="0" tIns="0" rIns="0" bIns="0" anchor="t">
            <a:spAutoFit/>
          </a:bodyPr>
          <a:lstStyle/>
          <a:p>
            <a:pPr algn="l">
              <a:lnSpc>
                <a:spcPct val="115000"/>
              </a:lnSpc>
            </a:pPr>
            <a:r>
              <a:rPr sz="900" b="0" i="0">
                <a:solidFill>
                  <a:srgbClr val="8A8A8A"/>
                </a:solidFill>
                <a:latin typeface="DM Sans"/>
              </a:rPr>
              <a:t>EQUITY MARKET UPDATE  ·  MAY 2026</a:t>
            </a:r>
          </a:p>
        </p:txBody>
      </p:sp>
      <p:sp>
        <p:nvSpPr>
          <p:cNvPr id="5" name="Oval 4"/>
          <p:cNvSpPr/>
          <p:nvPr/>
        </p:nvSpPr>
        <p:spPr>
          <a:xfrm>
            <a:off x="11283696" y="338328"/>
            <a:ext cx="109728" cy="109728"/>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466576" y="338328"/>
            <a:ext cx="109728" cy="109728"/>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49456" y="338328"/>
            <a:ext cx="109728" cy="109728"/>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731520"/>
            <a:ext cx="11201400" cy="914400"/>
          </a:xfrm>
          <a:prstGeom prst="rect">
            <a:avLst/>
          </a:prstGeom>
          <a:noFill/>
        </p:spPr>
        <p:txBody>
          <a:bodyPr wrap="square" lIns="0" tIns="0" rIns="0" bIns="0" anchor="t">
            <a:spAutoFit/>
          </a:bodyPr>
          <a:lstStyle/>
          <a:p>
            <a:pPr algn="l">
              <a:lnSpc>
                <a:spcPct val="115000"/>
              </a:lnSpc>
            </a:pPr>
            <a:r>
              <a:rPr sz="2200" b="1" i="0">
                <a:solidFill>
                  <a:srgbClr val="2F3691"/>
                </a:solidFill>
                <a:latin typeface="DM Sans"/>
              </a:rPr>
              <a:t>Cyclical and geopolitical headwinds anchor the entry point — but most are dated and priced</a:t>
            </a:r>
          </a:p>
        </p:txBody>
      </p:sp>
      <p:sp>
        <p:nvSpPr>
          <p:cNvPr id="9" name="TextBox 8"/>
          <p:cNvSpPr txBox="1"/>
          <p:nvPr/>
        </p:nvSpPr>
        <p:spPr>
          <a:xfrm>
            <a:off x="502920" y="1627632"/>
            <a:ext cx="11201400" cy="411480"/>
          </a:xfrm>
          <a:prstGeom prst="rect">
            <a:avLst/>
          </a:prstGeom>
          <a:noFill/>
        </p:spPr>
        <p:txBody>
          <a:bodyPr wrap="square" lIns="0" tIns="0" rIns="0" bIns="0" anchor="t">
            <a:spAutoFit/>
          </a:bodyPr>
          <a:lstStyle/>
          <a:p>
            <a:pPr algn="l">
              <a:lnSpc>
                <a:spcPct val="120000"/>
              </a:lnSpc>
            </a:pPr>
            <a:r>
              <a:rPr sz="1250" b="0" i="1">
                <a:solidFill>
                  <a:srgbClr val="555555"/>
                </a:solidFill>
                <a:latin typeface="DM Sans"/>
              </a:rPr>
              <a:t>Four risk vectors that have largely been absorbed by valuation; we look for inflection signals into H2-26</a:t>
            </a:r>
          </a:p>
        </p:txBody>
      </p:sp>
      <p:sp>
        <p:nvSpPr>
          <p:cNvPr id="10" name="Rounded Rectangle 9"/>
          <p:cNvSpPr/>
          <p:nvPr/>
        </p:nvSpPr>
        <p:spPr>
          <a:xfrm>
            <a:off x="502920" y="2194560"/>
            <a:ext cx="5577840" cy="1920240"/>
          </a:xfrm>
          <a:prstGeom prst="roundRect">
            <a:avLst>
              <a:gd name="adj" fmla="val 4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2194560"/>
            <a:ext cx="91440" cy="1920240"/>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2" y="2331720"/>
            <a:ext cx="5120640" cy="292608"/>
          </a:xfrm>
          <a:prstGeom prst="rect">
            <a:avLst/>
          </a:prstGeom>
          <a:noFill/>
        </p:spPr>
        <p:txBody>
          <a:bodyPr wrap="square" lIns="0" tIns="0" rIns="0" bIns="0" anchor="t">
            <a:spAutoFit/>
          </a:bodyPr>
          <a:lstStyle/>
          <a:p>
            <a:pPr algn="l">
              <a:lnSpc>
                <a:spcPct val="115000"/>
              </a:lnSpc>
            </a:pPr>
            <a:r>
              <a:rPr sz="1300" b="1" i="0">
                <a:solidFill>
                  <a:srgbClr val="2F3691"/>
                </a:solidFill>
                <a:latin typeface="DM Sans"/>
              </a:rPr>
              <a:t>Monetary tightness</a:t>
            </a:r>
          </a:p>
        </p:txBody>
      </p:sp>
      <p:sp>
        <p:nvSpPr>
          <p:cNvPr id="13" name="TextBox 12"/>
          <p:cNvSpPr txBox="1"/>
          <p:nvPr/>
        </p:nvSpPr>
        <p:spPr>
          <a:xfrm>
            <a:off x="758952" y="2633472"/>
            <a:ext cx="5120640" cy="256032"/>
          </a:xfrm>
          <a:prstGeom prst="rect">
            <a:avLst/>
          </a:prstGeom>
          <a:noFill/>
        </p:spPr>
        <p:txBody>
          <a:bodyPr wrap="square" lIns="0" tIns="0" rIns="0" bIns="0" anchor="t">
            <a:spAutoFit/>
          </a:bodyPr>
          <a:lstStyle/>
          <a:p>
            <a:pPr algn="l">
              <a:lnSpc>
                <a:spcPct val="115000"/>
              </a:lnSpc>
            </a:pPr>
            <a:r>
              <a:rPr sz="950" b="0" i="1">
                <a:solidFill>
                  <a:srgbClr val="C6198D"/>
                </a:solidFill>
                <a:latin typeface="DM Sans"/>
              </a:rPr>
              <a:t>Peak rates choke private credit</a:t>
            </a:r>
          </a:p>
        </p:txBody>
      </p:sp>
      <p:sp>
        <p:nvSpPr>
          <p:cNvPr id="14" name="TextBox 13"/>
          <p:cNvSpPr txBox="1"/>
          <p:nvPr/>
        </p:nvSpPr>
        <p:spPr>
          <a:xfrm>
            <a:off x="758952" y="2971800"/>
            <a:ext cx="164592" cy="228600"/>
          </a:xfrm>
          <a:prstGeom prst="rect">
            <a:avLst/>
          </a:prstGeom>
          <a:noFill/>
        </p:spPr>
        <p:txBody>
          <a:bodyPr wrap="square" lIns="0" tIns="0" rIns="0" bIns="0" anchor="t">
            <a:spAutoFit/>
          </a:bodyPr>
          <a:lstStyle/>
          <a:p>
            <a:pPr algn="l">
              <a:lnSpc>
                <a:spcPct val="115000"/>
              </a:lnSpc>
            </a:pPr>
            <a:r>
              <a:rPr sz="1100" b="1" i="0">
                <a:solidFill>
                  <a:srgbClr val="C6198D"/>
                </a:solidFill>
                <a:latin typeface="DM Sans"/>
              </a:rPr>
              <a:t>›</a:t>
            </a:r>
          </a:p>
        </p:txBody>
      </p:sp>
      <p:sp>
        <p:nvSpPr>
          <p:cNvPr id="15" name="TextBox 14"/>
          <p:cNvSpPr txBox="1"/>
          <p:nvPr/>
        </p:nvSpPr>
        <p:spPr>
          <a:xfrm>
            <a:off x="960120" y="2971800"/>
            <a:ext cx="4892040" cy="274320"/>
          </a:xfrm>
          <a:prstGeom prst="rect">
            <a:avLst/>
          </a:prstGeom>
          <a:noFill/>
        </p:spPr>
        <p:txBody>
          <a:bodyPr wrap="square" lIns="0" tIns="0" rIns="0" bIns="0" anchor="t">
            <a:spAutoFit/>
          </a:bodyPr>
          <a:lstStyle/>
          <a:p>
            <a:pPr algn="l">
              <a:lnSpc>
                <a:spcPct val="125000"/>
              </a:lnSpc>
            </a:pPr>
            <a:r>
              <a:rPr sz="1000" b="0" i="0">
                <a:solidFill>
                  <a:srgbClr val="1A1A1A"/>
                </a:solidFill>
                <a:latin typeface="DM Sans"/>
              </a:rPr>
              <a:t>Repo rate held at 10.00% (Jan-26 MPS) — highest in two decades</a:t>
            </a:r>
          </a:p>
        </p:txBody>
      </p:sp>
      <p:sp>
        <p:nvSpPr>
          <p:cNvPr id="16" name="TextBox 15"/>
          <p:cNvSpPr txBox="1"/>
          <p:nvPr/>
        </p:nvSpPr>
        <p:spPr>
          <a:xfrm>
            <a:off x="758952" y="3300984"/>
            <a:ext cx="164592" cy="228600"/>
          </a:xfrm>
          <a:prstGeom prst="rect">
            <a:avLst/>
          </a:prstGeom>
          <a:noFill/>
        </p:spPr>
        <p:txBody>
          <a:bodyPr wrap="square" lIns="0" tIns="0" rIns="0" bIns="0" anchor="t">
            <a:spAutoFit/>
          </a:bodyPr>
          <a:lstStyle/>
          <a:p>
            <a:pPr algn="l">
              <a:lnSpc>
                <a:spcPct val="115000"/>
              </a:lnSpc>
            </a:pPr>
            <a:r>
              <a:rPr sz="1100" b="1" i="0">
                <a:solidFill>
                  <a:srgbClr val="C6198D"/>
                </a:solidFill>
                <a:latin typeface="DM Sans"/>
              </a:rPr>
              <a:t>›</a:t>
            </a:r>
          </a:p>
        </p:txBody>
      </p:sp>
      <p:sp>
        <p:nvSpPr>
          <p:cNvPr id="17" name="TextBox 16"/>
          <p:cNvSpPr txBox="1"/>
          <p:nvPr/>
        </p:nvSpPr>
        <p:spPr>
          <a:xfrm>
            <a:off x="960120" y="3300984"/>
            <a:ext cx="4892040" cy="274320"/>
          </a:xfrm>
          <a:prstGeom prst="rect">
            <a:avLst/>
          </a:prstGeom>
          <a:noFill/>
        </p:spPr>
        <p:txBody>
          <a:bodyPr wrap="square" lIns="0" tIns="0" rIns="0" bIns="0" anchor="t">
            <a:spAutoFit/>
          </a:bodyPr>
          <a:lstStyle/>
          <a:p>
            <a:pPr algn="l">
              <a:lnSpc>
                <a:spcPct val="125000"/>
              </a:lnSpc>
            </a:pPr>
            <a:r>
              <a:rPr sz="1000" b="0" i="0">
                <a:solidFill>
                  <a:srgbClr val="1A1A1A"/>
                </a:solidFill>
                <a:latin typeface="DM Sans"/>
              </a:rPr>
              <a:t>Private credit growth 6.03% YoY (Feb-26) — 5-yr low vs 8.5% target</a:t>
            </a:r>
          </a:p>
        </p:txBody>
      </p:sp>
      <p:sp>
        <p:nvSpPr>
          <p:cNvPr id="18" name="TextBox 17"/>
          <p:cNvSpPr txBox="1"/>
          <p:nvPr/>
        </p:nvSpPr>
        <p:spPr>
          <a:xfrm>
            <a:off x="758952" y="3630168"/>
            <a:ext cx="164592" cy="228600"/>
          </a:xfrm>
          <a:prstGeom prst="rect">
            <a:avLst/>
          </a:prstGeom>
          <a:noFill/>
        </p:spPr>
        <p:txBody>
          <a:bodyPr wrap="square" lIns="0" tIns="0" rIns="0" bIns="0" anchor="t">
            <a:spAutoFit/>
          </a:bodyPr>
          <a:lstStyle/>
          <a:p>
            <a:pPr algn="l">
              <a:lnSpc>
                <a:spcPct val="115000"/>
              </a:lnSpc>
            </a:pPr>
            <a:r>
              <a:rPr sz="1100" b="1" i="0">
                <a:solidFill>
                  <a:srgbClr val="C6198D"/>
                </a:solidFill>
                <a:latin typeface="DM Sans"/>
              </a:rPr>
              <a:t>›</a:t>
            </a:r>
          </a:p>
        </p:txBody>
      </p:sp>
      <p:sp>
        <p:nvSpPr>
          <p:cNvPr id="19" name="TextBox 18"/>
          <p:cNvSpPr txBox="1"/>
          <p:nvPr/>
        </p:nvSpPr>
        <p:spPr>
          <a:xfrm>
            <a:off x="960120" y="3630168"/>
            <a:ext cx="4892040" cy="274320"/>
          </a:xfrm>
          <a:prstGeom prst="rect">
            <a:avLst/>
          </a:prstGeom>
          <a:noFill/>
        </p:spPr>
        <p:txBody>
          <a:bodyPr wrap="square" lIns="0" tIns="0" rIns="0" bIns="0" anchor="t">
            <a:spAutoFit/>
          </a:bodyPr>
          <a:lstStyle/>
          <a:p>
            <a:pPr algn="l">
              <a:lnSpc>
                <a:spcPct val="125000"/>
              </a:lnSpc>
            </a:pPr>
            <a:r>
              <a:rPr sz="1000" b="0" i="0">
                <a:solidFill>
                  <a:srgbClr val="1A1A1A"/>
                </a:solidFill>
                <a:latin typeface="DM Sans"/>
              </a:rPr>
              <a:t>Lending rates 13.5–15%; real lending rate +5.96% — punitive for SMEs</a:t>
            </a:r>
          </a:p>
        </p:txBody>
      </p:sp>
      <p:sp>
        <p:nvSpPr>
          <p:cNvPr id="20" name="Rounded Rectangle 19"/>
          <p:cNvSpPr/>
          <p:nvPr/>
        </p:nvSpPr>
        <p:spPr>
          <a:xfrm>
            <a:off x="6263640" y="2194560"/>
            <a:ext cx="5577840" cy="1920240"/>
          </a:xfrm>
          <a:prstGeom prst="roundRect">
            <a:avLst>
              <a:gd name="adj" fmla="val 4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2194560"/>
            <a:ext cx="91440" cy="1920240"/>
          </a:xfrm>
          <a:prstGeom prst="rect">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19672" y="2331720"/>
            <a:ext cx="5120640" cy="292608"/>
          </a:xfrm>
          <a:prstGeom prst="rect">
            <a:avLst/>
          </a:prstGeom>
          <a:noFill/>
        </p:spPr>
        <p:txBody>
          <a:bodyPr wrap="square" lIns="0" tIns="0" rIns="0" bIns="0" anchor="t">
            <a:spAutoFit/>
          </a:bodyPr>
          <a:lstStyle/>
          <a:p>
            <a:pPr algn="l">
              <a:lnSpc>
                <a:spcPct val="115000"/>
              </a:lnSpc>
            </a:pPr>
            <a:r>
              <a:rPr sz="1300" b="1" i="0">
                <a:solidFill>
                  <a:srgbClr val="2F3691"/>
                </a:solidFill>
                <a:latin typeface="DM Sans"/>
              </a:rPr>
              <a:t>Banking sector stress</a:t>
            </a:r>
          </a:p>
        </p:txBody>
      </p:sp>
      <p:sp>
        <p:nvSpPr>
          <p:cNvPr id="23" name="TextBox 22"/>
          <p:cNvSpPr txBox="1"/>
          <p:nvPr/>
        </p:nvSpPr>
        <p:spPr>
          <a:xfrm>
            <a:off x="6519672" y="2633472"/>
            <a:ext cx="5120640" cy="256032"/>
          </a:xfrm>
          <a:prstGeom prst="rect">
            <a:avLst/>
          </a:prstGeom>
          <a:noFill/>
        </p:spPr>
        <p:txBody>
          <a:bodyPr wrap="square" lIns="0" tIns="0" rIns="0" bIns="0" anchor="t">
            <a:spAutoFit/>
          </a:bodyPr>
          <a:lstStyle/>
          <a:p>
            <a:pPr algn="l">
              <a:lnSpc>
                <a:spcPct val="115000"/>
              </a:lnSpc>
            </a:pPr>
            <a:r>
              <a:rPr sz="950" b="0" i="1">
                <a:solidFill>
                  <a:srgbClr val="2F3691"/>
                </a:solidFill>
                <a:latin typeface="DM Sans"/>
              </a:rPr>
              <a:t>Recognition shock is visible — but bounded</a:t>
            </a:r>
          </a:p>
        </p:txBody>
      </p:sp>
      <p:sp>
        <p:nvSpPr>
          <p:cNvPr id="24" name="TextBox 23"/>
          <p:cNvSpPr txBox="1"/>
          <p:nvPr/>
        </p:nvSpPr>
        <p:spPr>
          <a:xfrm>
            <a:off x="6519672" y="2971800"/>
            <a:ext cx="164592" cy="228600"/>
          </a:xfrm>
          <a:prstGeom prst="rect">
            <a:avLst/>
          </a:prstGeom>
          <a:noFill/>
        </p:spPr>
        <p:txBody>
          <a:bodyPr wrap="square" lIns="0" tIns="0" rIns="0" bIns="0" anchor="t">
            <a:spAutoFit/>
          </a:bodyPr>
          <a:lstStyle/>
          <a:p>
            <a:pPr algn="l">
              <a:lnSpc>
                <a:spcPct val="115000"/>
              </a:lnSpc>
            </a:pPr>
            <a:r>
              <a:rPr sz="1100" b="1" i="0">
                <a:solidFill>
                  <a:srgbClr val="2F3691"/>
                </a:solidFill>
                <a:latin typeface="DM Sans"/>
              </a:rPr>
              <a:t>›</a:t>
            </a:r>
          </a:p>
        </p:txBody>
      </p:sp>
      <p:sp>
        <p:nvSpPr>
          <p:cNvPr id="25" name="TextBox 24"/>
          <p:cNvSpPr txBox="1"/>
          <p:nvPr/>
        </p:nvSpPr>
        <p:spPr>
          <a:xfrm>
            <a:off x="6720840" y="2971800"/>
            <a:ext cx="4892040" cy="274320"/>
          </a:xfrm>
          <a:prstGeom prst="rect">
            <a:avLst/>
          </a:prstGeom>
          <a:noFill/>
        </p:spPr>
        <p:txBody>
          <a:bodyPr wrap="square" lIns="0" tIns="0" rIns="0" bIns="0" anchor="t">
            <a:spAutoFit/>
          </a:bodyPr>
          <a:lstStyle/>
          <a:p>
            <a:pPr algn="l">
              <a:lnSpc>
                <a:spcPct val="125000"/>
              </a:lnSpc>
            </a:pPr>
            <a:r>
              <a:rPr sz="1000" b="0" i="0">
                <a:solidFill>
                  <a:srgbClr val="1A1A1A"/>
                </a:solidFill>
                <a:latin typeface="DM Sans"/>
              </a:rPr>
              <a:t>System NPL 30.6% (Dec-25, World Bank) — likely highest globally</a:t>
            </a:r>
          </a:p>
        </p:txBody>
      </p:sp>
      <p:sp>
        <p:nvSpPr>
          <p:cNvPr id="26" name="TextBox 25"/>
          <p:cNvSpPr txBox="1"/>
          <p:nvPr/>
        </p:nvSpPr>
        <p:spPr>
          <a:xfrm>
            <a:off x="6519672" y="3300984"/>
            <a:ext cx="164592" cy="228600"/>
          </a:xfrm>
          <a:prstGeom prst="rect">
            <a:avLst/>
          </a:prstGeom>
          <a:noFill/>
        </p:spPr>
        <p:txBody>
          <a:bodyPr wrap="square" lIns="0" tIns="0" rIns="0" bIns="0" anchor="t">
            <a:spAutoFit/>
          </a:bodyPr>
          <a:lstStyle/>
          <a:p>
            <a:pPr algn="l">
              <a:lnSpc>
                <a:spcPct val="115000"/>
              </a:lnSpc>
            </a:pPr>
            <a:r>
              <a:rPr sz="1100" b="1" i="0">
                <a:solidFill>
                  <a:srgbClr val="2F3691"/>
                </a:solidFill>
                <a:latin typeface="DM Sans"/>
              </a:rPr>
              <a:t>›</a:t>
            </a:r>
          </a:p>
        </p:txBody>
      </p:sp>
      <p:sp>
        <p:nvSpPr>
          <p:cNvPr id="27" name="TextBox 26"/>
          <p:cNvSpPr txBox="1"/>
          <p:nvPr/>
        </p:nvSpPr>
        <p:spPr>
          <a:xfrm>
            <a:off x="6720840" y="3300984"/>
            <a:ext cx="4892040" cy="274320"/>
          </a:xfrm>
          <a:prstGeom prst="rect">
            <a:avLst/>
          </a:prstGeom>
          <a:noFill/>
        </p:spPr>
        <p:txBody>
          <a:bodyPr wrap="square" lIns="0" tIns="0" rIns="0" bIns="0" anchor="t">
            <a:spAutoFit/>
          </a:bodyPr>
          <a:lstStyle/>
          <a:p>
            <a:pPr algn="l">
              <a:lnSpc>
                <a:spcPct val="125000"/>
              </a:lnSpc>
            </a:pPr>
            <a:r>
              <a:rPr sz="1000" b="0" i="0">
                <a:solidFill>
                  <a:srgbClr val="1A1A1A"/>
                </a:solidFill>
                <a:latin typeface="DM Sans"/>
              </a:rPr>
              <a:t>Islami Bank: bad loans Tk 94,322 cr (+44% YoY); NPL 51%; CRAR 6.42%</a:t>
            </a:r>
          </a:p>
        </p:txBody>
      </p:sp>
      <p:sp>
        <p:nvSpPr>
          <p:cNvPr id="28" name="TextBox 27"/>
          <p:cNvSpPr txBox="1"/>
          <p:nvPr/>
        </p:nvSpPr>
        <p:spPr>
          <a:xfrm>
            <a:off x="6519672" y="3630168"/>
            <a:ext cx="164592" cy="228600"/>
          </a:xfrm>
          <a:prstGeom prst="rect">
            <a:avLst/>
          </a:prstGeom>
          <a:noFill/>
        </p:spPr>
        <p:txBody>
          <a:bodyPr wrap="square" lIns="0" tIns="0" rIns="0" bIns="0" anchor="t">
            <a:spAutoFit/>
          </a:bodyPr>
          <a:lstStyle/>
          <a:p>
            <a:pPr algn="l">
              <a:lnSpc>
                <a:spcPct val="115000"/>
              </a:lnSpc>
            </a:pPr>
            <a:r>
              <a:rPr sz="1100" b="1" i="0">
                <a:solidFill>
                  <a:srgbClr val="2F3691"/>
                </a:solidFill>
                <a:latin typeface="DM Sans"/>
              </a:rPr>
              <a:t>›</a:t>
            </a:r>
          </a:p>
        </p:txBody>
      </p:sp>
      <p:sp>
        <p:nvSpPr>
          <p:cNvPr id="29" name="TextBox 28"/>
          <p:cNvSpPr txBox="1"/>
          <p:nvPr/>
        </p:nvSpPr>
        <p:spPr>
          <a:xfrm>
            <a:off x="6720840" y="3630168"/>
            <a:ext cx="4892040" cy="180883"/>
          </a:xfrm>
          <a:prstGeom prst="rect">
            <a:avLst/>
          </a:prstGeom>
          <a:noFill/>
        </p:spPr>
        <p:txBody>
          <a:bodyPr wrap="square" lIns="0" tIns="0" rIns="0" bIns="0" anchor="t">
            <a:spAutoFit/>
          </a:bodyPr>
          <a:lstStyle/>
          <a:p>
            <a:pPr algn="l">
              <a:lnSpc>
                <a:spcPct val="125000"/>
              </a:lnSpc>
            </a:pPr>
            <a:r>
              <a:rPr sz="1000" b="0" i="0" dirty="0">
                <a:solidFill>
                  <a:srgbClr val="1A1A1A"/>
                </a:solidFill>
                <a:latin typeface="DM Sans"/>
              </a:rPr>
              <a:t>S Alam Group exposure drives concentration</a:t>
            </a:r>
          </a:p>
        </p:txBody>
      </p:sp>
      <p:sp>
        <p:nvSpPr>
          <p:cNvPr id="30" name="Rounded Rectangle 29"/>
          <p:cNvSpPr/>
          <p:nvPr/>
        </p:nvSpPr>
        <p:spPr>
          <a:xfrm>
            <a:off x="502920" y="4297680"/>
            <a:ext cx="5577840" cy="1920240"/>
          </a:xfrm>
          <a:prstGeom prst="roundRect">
            <a:avLst>
              <a:gd name="adj" fmla="val 4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02920" y="4297680"/>
            <a:ext cx="91440" cy="1920240"/>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58952" y="4434840"/>
            <a:ext cx="5120640" cy="220188"/>
          </a:xfrm>
          <a:prstGeom prst="rect">
            <a:avLst/>
          </a:prstGeom>
          <a:noFill/>
        </p:spPr>
        <p:txBody>
          <a:bodyPr wrap="square" lIns="0" tIns="0" rIns="0" bIns="0" anchor="t">
            <a:spAutoFit/>
          </a:bodyPr>
          <a:lstStyle/>
          <a:p>
            <a:pPr algn="l">
              <a:lnSpc>
                <a:spcPct val="115000"/>
              </a:lnSpc>
            </a:pPr>
            <a:r>
              <a:rPr sz="1300" b="1" i="0" dirty="0">
                <a:solidFill>
                  <a:srgbClr val="2F3691"/>
                </a:solidFill>
                <a:latin typeface="DM Sans"/>
              </a:rPr>
              <a:t>Geopolitics</a:t>
            </a:r>
          </a:p>
        </p:txBody>
      </p:sp>
      <p:sp>
        <p:nvSpPr>
          <p:cNvPr id="33" name="TextBox 32"/>
          <p:cNvSpPr txBox="1"/>
          <p:nvPr/>
        </p:nvSpPr>
        <p:spPr>
          <a:xfrm>
            <a:off x="758952" y="4736592"/>
            <a:ext cx="5120640" cy="160941"/>
          </a:xfrm>
          <a:prstGeom prst="rect">
            <a:avLst/>
          </a:prstGeom>
          <a:noFill/>
        </p:spPr>
        <p:txBody>
          <a:bodyPr wrap="square" lIns="0" tIns="0" rIns="0" bIns="0" anchor="t">
            <a:spAutoFit/>
          </a:bodyPr>
          <a:lstStyle/>
          <a:p>
            <a:pPr algn="l">
              <a:lnSpc>
                <a:spcPct val="115000"/>
              </a:lnSpc>
            </a:pPr>
            <a:r>
              <a:rPr sz="950" b="0" i="1" dirty="0">
                <a:solidFill>
                  <a:srgbClr val="01A7E1"/>
                </a:solidFill>
                <a:latin typeface="DM Sans"/>
              </a:rPr>
              <a:t>Iran war + US tariff regime </a:t>
            </a:r>
          </a:p>
        </p:txBody>
      </p:sp>
      <p:sp>
        <p:nvSpPr>
          <p:cNvPr id="34" name="TextBox 33"/>
          <p:cNvSpPr txBox="1"/>
          <p:nvPr/>
        </p:nvSpPr>
        <p:spPr>
          <a:xfrm>
            <a:off x="758952" y="5074920"/>
            <a:ext cx="164592" cy="228600"/>
          </a:xfrm>
          <a:prstGeom prst="rect">
            <a:avLst/>
          </a:prstGeom>
          <a:noFill/>
        </p:spPr>
        <p:txBody>
          <a:bodyPr wrap="square" lIns="0" tIns="0" rIns="0" bIns="0" anchor="t">
            <a:spAutoFit/>
          </a:bodyPr>
          <a:lstStyle/>
          <a:p>
            <a:pPr algn="l">
              <a:lnSpc>
                <a:spcPct val="115000"/>
              </a:lnSpc>
            </a:pPr>
            <a:r>
              <a:rPr sz="1100" b="1" i="0">
                <a:solidFill>
                  <a:srgbClr val="01A7E1"/>
                </a:solidFill>
                <a:latin typeface="DM Sans"/>
              </a:rPr>
              <a:t>›</a:t>
            </a:r>
          </a:p>
        </p:txBody>
      </p:sp>
      <p:sp>
        <p:nvSpPr>
          <p:cNvPr id="35" name="TextBox 34"/>
          <p:cNvSpPr txBox="1"/>
          <p:nvPr/>
        </p:nvSpPr>
        <p:spPr>
          <a:xfrm>
            <a:off x="960120" y="5074920"/>
            <a:ext cx="4892040" cy="274320"/>
          </a:xfrm>
          <a:prstGeom prst="rect">
            <a:avLst/>
          </a:prstGeom>
          <a:noFill/>
        </p:spPr>
        <p:txBody>
          <a:bodyPr wrap="square" lIns="0" tIns="0" rIns="0" bIns="0" anchor="t">
            <a:spAutoFit/>
          </a:bodyPr>
          <a:lstStyle/>
          <a:p>
            <a:pPr algn="l">
              <a:lnSpc>
                <a:spcPct val="125000"/>
              </a:lnSpc>
            </a:pPr>
            <a:r>
              <a:rPr sz="1000" b="0" i="0">
                <a:solidFill>
                  <a:srgbClr val="1A1A1A"/>
                </a:solidFill>
                <a:latin typeface="DM Sans"/>
              </a:rPr>
              <a:t>Iran-Israel war: 40 of 115 contracted 2026 LNG cargoes expected lost</a:t>
            </a:r>
          </a:p>
        </p:txBody>
      </p:sp>
      <p:sp>
        <p:nvSpPr>
          <p:cNvPr id="36" name="TextBox 35"/>
          <p:cNvSpPr txBox="1"/>
          <p:nvPr/>
        </p:nvSpPr>
        <p:spPr>
          <a:xfrm>
            <a:off x="758952" y="5404104"/>
            <a:ext cx="164592" cy="228600"/>
          </a:xfrm>
          <a:prstGeom prst="rect">
            <a:avLst/>
          </a:prstGeom>
          <a:noFill/>
        </p:spPr>
        <p:txBody>
          <a:bodyPr wrap="square" lIns="0" tIns="0" rIns="0" bIns="0" anchor="t">
            <a:spAutoFit/>
          </a:bodyPr>
          <a:lstStyle/>
          <a:p>
            <a:pPr algn="l">
              <a:lnSpc>
                <a:spcPct val="115000"/>
              </a:lnSpc>
            </a:pPr>
            <a:r>
              <a:rPr sz="1100" b="1" i="0">
                <a:solidFill>
                  <a:srgbClr val="01A7E1"/>
                </a:solidFill>
                <a:latin typeface="DM Sans"/>
              </a:rPr>
              <a:t>›</a:t>
            </a:r>
          </a:p>
        </p:txBody>
      </p:sp>
      <p:sp>
        <p:nvSpPr>
          <p:cNvPr id="37" name="TextBox 36"/>
          <p:cNvSpPr txBox="1"/>
          <p:nvPr/>
        </p:nvSpPr>
        <p:spPr>
          <a:xfrm>
            <a:off x="960120" y="5404104"/>
            <a:ext cx="4892040" cy="274320"/>
          </a:xfrm>
          <a:prstGeom prst="rect">
            <a:avLst/>
          </a:prstGeom>
          <a:noFill/>
        </p:spPr>
        <p:txBody>
          <a:bodyPr wrap="square" lIns="0" tIns="0" rIns="0" bIns="0" anchor="t">
            <a:spAutoFit/>
          </a:bodyPr>
          <a:lstStyle/>
          <a:p>
            <a:pPr algn="l">
              <a:lnSpc>
                <a:spcPct val="125000"/>
              </a:lnSpc>
            </a:pPr>
            <a:r>
              <a:rPr sz="1000" b="0" i="0">
                <a:solidFill>
                  <a:srgbClr val="1A1A1A"/>
                </a:solidFill>
                <a:latin typeface="DM Sans"/>
              </a:rPr>
              <a:t>US 19% reciprocal tariff (Feb-26) on RMG exports (USD 8.2bn to US in 2025)</a:t>
            </a:r>
          </a:p>
        </p:txBody>
      </p:sp>
      <p:sp>
        <p:nvSpPr>
          <p:cNvPr id="38" name="TextBox 37"/>
          <p:cNvSpPr txBox="1"/>
          <p:nvPr/>
        </p:nvSpPr>
        <p:spPr>
          <a:xfrm>
            <a:off x="758952" y="5733288"/>
            <a:ext cx="164592" cy="228600"/>
          </a:xfrm>
          <a:prstGeom prst="rect">
            <a:avLst/>
          </a:prstGeom>
          <a:noFill/>
        </p:spPr>
        <p:txBody>
          <a:bodyPr wrap="square" lIns="0" tIns="0" rIns="0" bIns="0" anchor="t">
            <a:spAutoFit/>
          </a:bodyPr>
          <a:lstStyle/>
          <a:p>
            <a:pPr algn="l">
              <a:lnSpc>
                <a:spcPct val="115000"/>
              </a:lnSpc>
            </a:pPr>
            <a:r>
              <a:rPr sz="1100" b="1" i="0">
                <a:solidFill>
                  <a:srgbClr val="01A7E1"/>
                </a:solidFill>
                <a:latin typeface="DM Sans"/>
              </a:rPr>
              <a:t>›</a:t>
            </a:r>
          </a:p>
        </p:txBody>
      </p:sp>
      <p:sp>
        <p:nvSpPr>
          <p:cNvPr id="39" name="TextBox 38"/>
          <p:cNvSpPr txBox="1"/>
          <p:nvPr/>
        </p:nvSpPr>
        <p:spPr>
          <a:xfrm>
            <a:off x="960120" y="5733288"/>
            <a:ext cx="4892040" cy="180883"/>
          </a:xfrm>
          <a:prstGeom prst="rect">
            <a:avLst/>
          </a:prstGeom>
          <a:noFill/>
        </p:spPr>
        <p:txBody>
          <a:bodyPr wrap="square" lIns="0" tIns="0" rIns="0" bIns="0" anchor="t">
            <a:spAutoFit/>
          </a:bodyPr>
          <a:lstStyle/>
          <a:p>
            <a:pPr algn="l">
              <a:lnSpc>
                <a:spcPct val="125000"/>
              </a:lnSpc>
            </a:pPr>
            <a:r>
              <a:rPr sz="1000" b="0" i="0" dirty="0">
                <a:solidFill>
                  <a:srgbClr val="1A1A1A"/>
                </a:solidFill>
                <a:latin typeface="DM Sans"/>
              </a:rPr>
              <a:t>CEPA shelved; Red Sea freight +20–50%</a:t>
            </a:r>
          </a:p>
        </p:txBody>
      </p:sp>
      <p:sp>
        <p:nvSpPr>
          <p:cNvPr id="40" name="Rounded Rectangle 39"/>
          <p:cNvSpPr/>
          <p:nvPr/>
        </p:nvSpPr>
        <p:spPr>
          <a:xfrm>
            <a:off x="6263640" y="4297680"/>
            <a:ext cx="5577840" cy="1920240"/>
          </a:xfrm>
          <a:prstGeom prst="roundRect">
            <a:avLst>
              <a:gd name="adj" fmla="val 4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263640" y="4297680"/>
            <a:ext cx="91440" cy="1920240"/>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519672" y="4434840"/>
            <a:ext cx="5120640" cy="292608"/>
          </a:xfrm>
          <a:prstGeom prst="rect">
            <a:avLst/>
          </a:prstGeom>
          <a:noFill/>
        </p:spPr>
        <p:txBody>
          <a:bodyPr wrap="square" lIns="0" tIns="0" rIns="0" bIns="0" anchor="t">
            <a:spAutoFit/>
          </a:bodyPr>
          <a:lstStyle/>
          <a:p>
            <a:pPr algn="l">
              <a:lnSpc>
                <a:spcPct val="115000"/>
              </a:lnSpc>
            </a:pPr>
            <a:r>
              <a:rPr sz="1300" b="1" i="0">
                <a:solidFill>
                  <a:srgbClr val="2F3691"/>
                </a:solidFill>
                <a:latin typeface="DM Sans"/>
              </a:rPr>
              <a:t>Growth &amp; IMF program</a:t>
            </a:r>
          </a:p>
        </p:txBody>
      </p:sp>
      <p:sp>
        <p:nvSpPr>
          <p:cNvPr id="43" name="TextBox 42"/>
          <p:cNvSpPr txBox="1"/>
          <p:nvPr/>
        </p:nvSpPr>
        <p:spPr>
          <a:xfrm>
            <a:off x="6519672" y="4736592"/>
            <a:ext cx="5120640" cy="256032"/>
          </a:xfrm>
          <a:prstGeom prst="rect">
            <a:avLst/>
          </a:prstGeom>
          <a:noFill/>
        </p:spPr>
        <p:txBody>
          <a:bodyPr wrap="square" lIns="0" tIns="0" rIns="0" bIns="0" anchor="t">
            <a:spAutoFit/>
          </a:bodyPr>
          <a:lstStyle/>
          <a:p>
            <a:pPr algn="l">
              <a:lnSpc>
                <a:spcPct val="115000"/>
              </a:lnSpc>
            </a:pPr>
            <a:r>
              <a:rPr sz="950" b="0" i="1">
                <a:solidFill>
                  <a:srgbClr val="C6198D"/>
                </a:solidFill>
                <a:latin typeface="DM Sans"/>
              </a:rPr>
              <a:t>Downgrades pricing in slower convergence</a:t>
            </a:r>
          </a:p>
        </p:txBody>
      </p:sp>
      <p:sp>
        <p:nvSpPr>
          <p:cNvPr id="44" name="TextBox 43"/>
          <p:cNvSpPr txBox="1"/>
          <p:nvPr/>
        </p:nvSpPr>
        <p:spPr>
          <a:xfrm>
            <a:off x="6519672" y="5074920"/>
            <a:ext cx="164592" cy="228600"/>
          </a:xfrm>
          <a:prstGeom prst="rect">
            <a:avLst/>
          </a:prstGeom>
          <a:noFill/>
        </p:spPr>
        <p:txBody>
          <a:bodyPr wrap="square" lIns="0" tIns="0" rIns="0" bIns="0" anchor="t">
            <a:spAutoFit/>
          </a:bodyPr>
          <a:lstStyle/>
          <a:p>
            <a:pPr algn="l">
              <a:lnSpc>
                <a:spcPct val="115000"/>
              </a:lnSpc>
            </a:pPr>
            <a:r>
              <a:rPr sz="1100" b="1" i="0">
                <a:solidFill>
                  <a:srgbClr val="C6198D"/>
                </a:solidFill>
                <a:latin typeface="DM Sans"/>
              </a:rPr>
              <a:t>›</a:t>
            </a:r>
          </a:p>
        </p:txBody>
      </p:sp>
      <p:sp>
        <p:nvSpPr>
          <p:cNvPr id="45" name="TextBox 44"/>
          <p:cNvSpPr txBox="1"/>
          <p:nvPr/>
        </p:nvSpPr>
        <p:spPr>
          <a:xfrm>
            <a:off x="6720840" y="5074920"/>
            <a:ext cx="4892040" cy="274320"/>
          </a:xfrm>
          <a:prstGeom prst="rect">
            <a:avLst/>
          </a:prstGeom>
          <a:noFill/>
        </p:spPr>
        <p:txBody>
          <a:bodyPr wrap="square" lIns="0" tIns="0" rIns="0" bIns="0" anchor="t">
            <a:spAutoFit/>
          </a:bodyPr>
          <a:lstStyle/>
          <a:p>
            <a:pPr algn="l">
              <a:lnSpc>
                <a:spcPct val="125000"/>
              </a:lnSpc>
            </a:pPr>
            <a:r>
              <a:rPr sz="1000" b="0" i="0">
                <a:solidFill>
                  <a:srgbClr val="1A1A1A"/>
                </a:solidFill>
                <a:latin typeface="DM Sans"/>
              </a:rPr>
              <a:t>FY26 GDP cut to 3.9% — World Bank BDU 8 Apr-26 (was 4.6–4.8%)</a:t>
            </a:r>
          </a:p>
        </p:txBody>
      </p:sp>
      <p:sp>
        <p:nvSpPr>
          <p:cNvPr id="46" name="TextBox 45"/>
          <p:cNvSpPr txBox="1"/>
          <p:nvPr/>
        </p:nvSpPr>
        <p:spPr>
          <a:xfrm>
            <a:off x="6519672" y="5404104"/>
            <a:ext cx="164592" cy="228600"/>
          </a:xfrm>
          <a:prstGeom prst="rect">
            <a:avLst/>
          </a:prstGeom>
          <a:noFill/>
        </p:spPr>
        <p:txBody>
          <a:bodyPr wrap="square" lIns="0" tIns="0" rIns="0" bIns="0" anchor="t">
            <a:spAutoFit/>
          </a:bodyPr>
          <a:lstStyle/>
          <a:p>
            <a:pPr algn="l">
              <a:lnSpc>
                <a:spcPct val="115000"/>
              </a:lnSpc>
            </a:pPr>
            <a:r>
              <a:rPr sz="1100" b="1" i="0">
                <a:solidFill>
                  <a:srgbClr val="C6198D"/>
                </a:solidFill>
                <a:latin typeface="DM Sans"/>
              </a:rPr>
              <a:t>›</a:t>
            </a:r>
          </a:p>
        </p:txBody>
      </p:sp>
      <p:sp>
        <p:nvSpPr>
          <p:cNvPr id="47" name="TextBox 46"/>
          <p:cNvSpPr txBox="1"/>
          <p:nvPr/>
        </p:nvSpPr>
        <p:spPr>
          <a:xfrm>
            <a:off x="6720840" y="5404104"/>
            <a:ext cx="4892040" cy="274320"/>
          </a:xfrm>
          <a:prstGeom prst="rect">
            <a:avLst/>
          </a:prstGeom>
          <a:noFill/>
        </p:spPr>
        <p:txBody>
          <a:bodyPr wrap="square" lIns="0" tIns="0" rIns="0" bIns="0" anchor="t">
            <a:spAutoFit/>
          </a:bodyPr>
          <a:lstStyle/>
          <a:p>
            <a:pPr algn="l">
              <a:lnSpc>
                <a:spcPct val="125000"/>
              </a:lnSpc>
            </a:pPr>
            <a:r>
              <a:rPr sz="1000" b="0" i="0">
                <a:solidFill>
                  <a:srgbClr val="1A1A1A"/>
                </a:solidFill>
                <a:latin typeface="DM Sans"/>
              </a:rPr>
              <a:t>IMF Article IV (26 Jan-26); program extended 6m to 27 Jan-27</a:t>
            </a:r>
          </a:p>
        </p:txBody>
      </p:sp>
      <p:sp>
        <p:nvSpPr>
          <p:cNvPr id="48" name="TextBox 47"/>
          <p:cNvSpPr txBox="1"/>
          <p:nvPr/>
        </p:nvSpPr>
        <p:spPr>
          <a:xfrm>
            <a:off x="6519672" y="5733288"/>
            <a:ext cx="164592" cy="228600"/>
          </a:xfrm>
          <a:prstGeom prst="rect">
            <a:avLst/>
          </a:prstGeom>
          <a:noFill/>
        </p:spPr>
        <p:txBody>
          <a:bodyPr wrap="square" lIns="0" tIns="0" rIns="0" bIns="0" anchor="t">
            <a:spAutoFit/>
          </a:bodyPr>
          <a:lstStyle/>
          <a:p>
            <a:pPr algn="l">
              <a:lnSpc>
                <a:spcPct val="115000"/>
              </a:lnSpc>
            </a:pPr>
            <a:r>
              <a:rPr sz="1100" b="1" i="0">
                <a:solidFill>
                  <a:srgbClr val="C6198D"/>
                </a:solidFill>
                <a:latin typeface="DM Sans"/>
              </a:rPr>
              <a:t>›</a:t>
            </a:r>
          </a:p>
        </p:txBody>
      </p:sp>
      <p:sp>
        <p:nvSpPr>
          <p:cNvPr id="49" name="TextBox 48"/>
          <p:cNvSpPr txBox="1"/>
          <p:nvPr/>
        </p:nvSpPr>
        <p:spPr>
          <a:xfrm>
            <a:off x="6720840" y="5733288"/>
            <a:ext cx="4892040" cy="274320"/>
          </a:xfrm>
          <a:prstGeom prst="rect">
            <a:avLst/>
          </a:prstGeom>
          <a:noFill/>
        </p:spPr>
        <p:txBody>
          <a:bodyPr wrap="square" lIns="0" tIns="0" rIns="0" bIns="0" anchor="t">
            <a:spAutoFit/>
          </a:bodyPr>
          <a:lstStyle/>
          <a:p>
            <a:pPr algn="l">
              <a:lnSpc>
                <a:spcPct val="125000"/>
              </a:lnSpc>
            </a:pPr>
            <a:r>
              <a:rPr sz="1000" b="0" i="0">
                <a:solidFill>
                  <a:srgbClr val="1A1A1A"/>
                </a:solidFill>
                <a:latin typeface="DM Sans"/>
              </a:rPr>
              <a:t>5th-review tranche (~USD 400m) awaits BNP govt sign-off</a:t>
            </a:r>
          </a:p>
        </p:txBody>
      </p:sp>
      <p:sp>
        <p:nvSpPr>
          <p:cNvPr id="50" name="TextBox 49"/>
          <p:cNvSpPr txBox="1"/>
          <p:nvPr/>
        </p:nvSpPr>
        <p:spPr>
          <a:xfrm>
            <a:off x="502920" y="6537960"/>
            <a:ext cx="9144000" cy="228600"/>
          </a:xfrm>
          <a:prstGeom prst="rect">
            <a:avLst/>
          </a:prstGeom>
          <a:noFill/>
        </p:spPr>
        <p:txBody>
          <a:bodyPr wrap="square" lIns="0" tIns="0" rIns="0" bIns="0" anchor="t">
            <a:spAutoFit/>
          </a:bodyPr>
          <a:lstStyle/>
          <a:p>
            <a:pPr algn="l">
              <a:lnSpc>
                <a:spcPct val="115000"/>
              </a:lnSpc>
            </a:pPr>
            <a:r>
              <a:rPr sz="750" b="0" i="1">
                <a:solidFill>
                  <a:srgbClr val="8A8A8A"/>
                </a:solidFill>
                <a:latin typeface="DM Sans"/>
              </a:rPr>
              <a:t>Sources: Bangladesh Bank H1-FY26 MPS; World Bank BDU 8 Apr-26; IMF PR 26/029 &amp; 25/369 (Art-IV / 5th-review mission); TBS; Daily Star; Al Jazeera; White House.</a:t>
            </a:r>
          </a:p>
        </p:txBody>
      </p:sp>
      <p:sp>
        <p:nvSpPr>
          <p:cNvPr id="51" name="TextBox 50"/>
          <p:cNvSpPr txBox="1"/>
          <p:nvPr/>
        </p:nvSpPr>
        <p:spPr>
          <a:xfrm>
            <a:off x="10515600" y="6537960"/>
            <a:ext cx="1188720" cy="135486"/>
          </a:xfrm>
          <a:prstGeom prst="rect">
            <a:avLst/>
          </a:prstGeom>
          <a:noFill/>
        </p:spPr>
        <p:txBody>
          <a:bodyPr wrap="square" lIns="0" tIns="0" rIns="0" bIns="0" anchor="t">
            <a:spAutoFit/>
          </a:bodyPr>
          <a:lstStyle/>
          <a:p>
            <a:pPr algn="r">
              <a:lnSpc>
                <a:spcPct val="115000"/>
              </a:lnSpc>
            </a:pPr>
            <a:r>
              <a:rPr sz="800" b="0" i="0" dirty="0">
                <a:solidFill>
                  <a:srgbClr val="8A8A8A"/>
                </a:solidFill>
                <a:latin typeface="DM Sans"/>
              </a:rPr>
              <a:t>5</a:t>
            </a:r>
          </a:p>
        </p:txBody>
      </p:sp>
      <p:pic>
        <p:nvPicPr>
          <p:cNvPr id="52" name="Picture 51">
            <a:extLst>
              <a:ext uri="{FF2B5EF4-FFF2-40B4-BE49-F238E27FC236}">
                <a16:creationId xmlns:a16="http://schemas.microsoft.com/office/drawing/2014/main" id="{A19367EF-8A48-B12B-22A4-811E8B0D383C}"/>
              </a:ext>
            </a:extLst>
          </p:cNvPr>
          <p:cNvPicPr>
            <a:picLocks noChangeAspect="1"/>
          </p:cNvPicPr>
          <p:nvPr/>
        </p:nvPicPr>
        <p:blipFill>
          <a:blip r:embed="rId2"/>
          <a:stretch>
            <a:fillRect/>
          </a:stretch>
        </p:blipFill>
        <p:spPr>
          <a:xfrm>
            <a:off x="432816" y="131673"/>
            <a:ext cx="1072825" cy="54370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0" y="292608"/>
            <a:ext cx="7315200" cy="274320"/>
          </a:xfrm>
          <a:prstGeom prst="rect">
            <a:avLst/>
          </a:prstGeom>
          <a:noFill/>
        </p:spPr>
        <p:txBody>
          <a:bodyPr wrap="square" lIns="0" tIns="0" rIns="0" bIns="0" anchor="t">
            <a:spAutoFit/>
          </a:bodyPr>
          <a:lstStyle/>
          <a:p>
            <a:pPr algn="l">
              <a:lnSpc>
                <a:spcPct val="115000"/>
              </a:lnSpc>
            </a:pPr>
            <a:r>
              <a:rPr sz="900" b="0" i="0">
                <a:solidFill>
                  <a:srgbClr val="8A8A8A"/>
                </a:solidFill>
                <a:latin typeface="DM Sans"/>
              </a:rPr>
              <a:t>EQUITY MARKET UPDATE  ·  MAY 2026</a:t>
            </a:r>
          </a:p>
        </p:txBody>
      </p:sp>
      <p:sp>
        <p:nvSpPr>
          <p:cNvPr id="5" name="Oval 4"/>
          <p:cNvSpPr/>
          <p:nvPr/>
        </p:nvSpPr>
        <p:spPr>
          <a:xfrm>
            <a:off x="11283696" y="338328"/>
            <a:ext cx="109728" cy="109728"/>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466576" y="338328"/>
            <a:ext cx="109728" cy="109728"/>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49456" y="338328"/>
            <a:ext cx="109728" cy="109728"/>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731520"/>
            <a:ext cx="11201400" cy="914400"/>
          </a:xfrm>
          <a:prstGeom prst="rect">
            <a:avLst/>
          </a:prstGeom>
          <a:noFill/>
        </p:spPr>
        <p:txBody>
          <a:bodyPr wrap="square" lIns="0" tIns="0" rIns="0" bIns="0" anchor="t">
            <a:spAutoFit/>
          </a:bodyPr>
          <a:lstStyle/>
          <a:p>
            <a:pPr algn="l">
              <a:lnSpc>
                <a:spcPct val="115000"/>
              </a:lnSpc>
            </a:pPr>
            <a:r>
              <a:rPr sz="2200" b="1" i="0">
                <a:solidFill>
                  <a:srgbClr val="2F3691"/>
                </a:solidFill>
                <a:latin typeface="DM Sans"/>
              </a:rPr>
              <a:t>BSEC's rulebook reset is institutional, not personal — and a leadership handover is now imminent</a:t>
            </a:r>
          </a:p>
        </p:txBody>
      </p:sp>
      <p:sp>
        <p:nvSpPr>
          <p:cNvPr id="9" name="TextBox 8"/>
          <p:cNvSpPr txBox="1"/>
          <p:nvPr/>
        </p:nvSpPr>
        <p:spPr>
          <a:xfrm>
            <a:off x="502920" y="1627632"/>
            <a:ext cx="11201400" cy="411480"/>
          </a:xfrm>
          <a:prstGeom prst="rect">
            <a:avLst/>
          </a:prstGeom>
          <a:noFill/>
        </p:spPr>
        <p:txBody>
          <a:bodyPr wrap="square" lIns="0" tIns="0" rIns="0" bIns="0" anchor="t">
            <a:spAutoFit/>
          </a:bodyPr>
          <a:lstStyle/>
          <a:p>
            <a:pPr algn="l">
              <a:lnSpc>
                <a:spcPct val="120000"/>
              </a:lnSpc>
            </a:pPr>
            <a:r>
              <a:rPr sz="1250" b="0" i="1">
                <a:solidFill>
                  <a:srgbClr val="555555"/>
                </a:solidFill>
                <a:latin typeface="DM Sans"/>
              </a:rPr>
              <a:t>~Tk 1,500 cr in fines, a rebuilt rulebook, and a market-credible successor in the frame</a:t>
            </a:r>
          </a:p>
        </p:txBody>
      </p:sp>
      <p:sp>
        <p:nvSpPr>
          <p:cNvPr id="10" name="Rounded Rectangle 9"/>
          <p:cNvSpPr/>
          <p:nvPr/>
        </p:nvSpPr>
        <p:spPr>
          <a:xfrm>
            <a:off x="427939" y="2036317"/>
            <a:ext cx="5394960" cy="4260173"/>
          </a:xfrm>
          <a:prstGeom prst="roundRect">
            <a:avLst>
              <a:gd name="adj" fmla="val 4000"/>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 y="2395728"/>
            <a:ext cx="4937760" cy="274320"/>
          </a:xfrm>
          <a:prstGeom prst="rect">
            <a:avLst/>
          </a:prstGeom>
          <a:noFill/>
        </p:spPr>
        <p:txBody>
          <a:bodyPr wrap="square" lIns="0" tIns="0" rIns="0" bIns="0" anchor="t">
            <a:spAutoFit/>
          </a:bodyPr>
          <a:lstStyle/>
          <a:p>
            <a:pPr algn="l">
              <a:lnSpc>
                <a:spcPct val="115000"/>
              </a:lnSpc>
            </a:pPr>
            <a:r>
              <a:rPr sz="900" b="1" i="0">
                <a:solidFill>
                  <a:srgbClr val="C6198D"/>
                </a:solidFill>
                <a:latin typeface="DM Sans"/>
              </a:rPr>
              <a:t>INSTITUTIONAL RESET</a:t>
            </a:r>
          </a:p>
        </p:txBody>
      </p:sp>
      <p:sp>
        <p:nvSpPr>
          <p:cNvPr id="12" name="TextBox 11"/>
          <p:cNvSpPr txBox="1"/>
          <p:nvPr/>
        </p:nvSpPr>
        <p:spPr>
          <a:xfrm>
            <a:off x="758952" y="2697480"/>
            <a:ext cx="4937760" cy="411480"/>
          </a:xfrm>
          <a:prstGeom prst="rect">
            <a:avLst/>
          </a:prstGeom>
          <a:noFill/>
        </p:spPr>
        <p:txBody>
          <a:bodyPr wrap="square" lIns="0" tIns="0" rIns="0" bIns="0" anchor="t">
            <a:spAutoFit/>
          </a:bodyPr>
          <a:lstStyle/>
          <a:p>
            <a:pPr algn="l">
              <a:lnSpc>
                <a:spcPct val="115000"/>
              </a:lnSpc>
            </a:pPr>
            <a:r>
              <a:rPr sz="1800" b="1" i="0">
                <a:solidFill>
                  <a:srgbClr val="2F3691"/>
                </a:solidFill>
                <a:latin typeface="DM Sans"/>
              </a:rPr>
              <a:t>Rulebook over personalities</a:t>
            </a:r>
          </a:p>
        </p:txBody>
      </p:sp>
      <p:sp>
        <p:nvSpPr>
          <p:cNvPr id="13" name="TextBox 12"/>
          <p:cNvSpPr txBox="1"/>
          <p:nvPr/>
        </p:nvSpPr>
        <p:spPr>
          <a:xfrm>
            <a:off x="758952" y="3090672"/>
            <a:ext cx="4937760" cy="292608"/>
          </a:xfrm>
          <a:prstGeom prst="rect">
            <a:avLst/>
          </a:prstGeom>
          <a:noFill/>
        </p:spPr>
        <p:txBody>
          <a:bodyPr wrap="square" lIns="0" tIns="0" rIns="0" bIns="0" anchor="t">
            <a:spAutoFit/>
          </a:bodyPr>
          <a:lstStyle/>
          <a:p>
            <a:pPr algn="l">
              <a:lnSpc>
                <a:spcPct val="115000"/>
              </a:lnSpc>
            </a:pPr>
            <a:r>
              <a:rPr sz="1000" b="0" i="1">
                <a:solidFill>
                  <a:srgbClr val="555555"/>
                </a:solidFill>
                <a:latin typeface="DM Sans"/>
              </a:rPr>
              <a:t>Enforcement, margin, REIT and MF rules rebuilt 2024–25  ·  test now is continuity</a:t>
            </a:r>
          </a:p>
        </p:txBody>
      </p:sp>
      <p:sp>
        <p:nvSpPr>
          <p:cNvPr id="14" name="TextBox 13"/>
          <p:cNvSpPr txBox="1"/>
          <p:nvPr/>
        </p:nvSpPr>
        <p:spPr>
          <a:xfrm>
            <a:off x="758952" y="3453638"/>
            <a:ext cx="4937760" cy="274320"/>
          </a:xfrm>
          <a:prstGeom prst="rect">
            <a:avLst/>
          </a:prstGeom>
          <a:noFill/>
        </p:spPr>
        <p:txBody>
          <a:bodyPr wrap="square" lIns="0" tIns="0" rIns="0" bIns="0" anchor="t">
            <a:spAutoFit/>
          </a:bodyPr>
          <a:lstStyle/>
          <a:p>
            <a:pPr algn="l">
              <a:lnSpc>
                <a:spcPct val="115000"/>
              </a:lnSpc>
            </a:pPr>
            <a:r>
              <a:rPr sz="1000" b="0" i="0" dirty="0">
                <a:solidFill>
                  <a:srgbClr val="555555"/>
                </a:solidFill>
                <a:latin typeface="DM Sans"/>
              </a:rPr>
              <a:t>Cumulative market-manipulation fines, 2024–25</a:t>
            </a:r>
          </a:p>
        </p:txBody>
      </p:sp>
      <p:sp>
        <p:nvSpPr>
          <p:cNvPr id="15" name="TextBox 14"/>
          <p:cNvSpPr txBox="1"/>
          <p:nvPr/>
        </p:nvSpPr>
        <p:spPr>
          <a:xfrm>
            <a:off x="758952" y="3625596"/>
            <a:ext cx="4937760" cy="777240"/>
          </a:xfrm>
          <a:prstGeom prst="rect">
            <a:avLst/>
          </a:prstGeom>
          <a:noFill/>
        </p:spPr>
        <p:txBody>
          <a:bodyPr wrap="square" lIns="0" tIns="0" rIns="0" bIns="0" anchor="t">
            <a:spAutoFit/>
          </a:bodyPr>
          <a:lstStyle/>
          <a:p>
            <a:pPr algn="l">
              <a:lnSpc>
                <a:spcPct val="120000"/>
              </a:lnSpc>
            </a:pPr>
            <a:r>
              <a:rPr sz="2200" b="1" i="0" dirty="0">
                <a:solidFill>
                  <a:srgbClr val="C6198D"/>
                </a:solidFill>
                <a:latin typeface="DM Sans"/>
              </a:rPr>
              <a:t>Tk </a:t>
            </a:r>
            <a:r>
              <a:rPr sz="4600" b="1" i="0" dirty="0">
                <a:solidFill>
                  <a:srgbClr val="C6198D"/>
                </a:solidFill>
                <a:latin typeface="DM Sans"/>
              </a:rPr>
              <a:t>1,500</a:t>
            </a:r>
            <a:r>
              <a:rPr sz="2200" b="1" i="0" dirty="0">
                <a:solidFill>
                  <a:srgbClr val="C6198D"/>
                </a:solidFill>
                <a:latin typeface="DM Sans"/>
              </a:rPr>
              <a:t> </a:t>
            </a:r>
            <a:r>
              <a:rPr sz="2200" b="1" i="0" dirty="0" err="1">
                <a:solidFill>
                  <a:srgbClr val="C6198D"/>
                </a:solidFill>
                <a:latin typeface="DM Sans"/>
              </a:rPr>
              <a:t>cr</a:t>
            </a:r>
            <a:endParaRPr sz="2200" b="1" i="0" dirty="0">
              <a:solidFill>
                <a:srgbClr val="C6198D"/>
              </a:solidFill>
              <a:latin typeface="DM Sans"/>
            </a:endParaRPr>
          </a:p>
        </p:txBody>
      </p:sp>
      <p:sp>
        <p:nvSpPr>
          <p:cNvPr id="16" name="TextBox 15"/>
          <p:cNvSpPr txBox="1"/>
          <p:nvPr/>
        </p:nvSpPr>
        <p:spPr>
          <a:xfrm>
            <a:off x="758952" y="4562856"/>
            <a:ext cx="4937760" cy="274320"/>
          </a:xfrm>
          <a:prstGeom prst="rect">
            <a:avLst/>
          </a:prstGeom>
          <a:noFill/>
        </p:spPr>
        <p:txBody>
          <a:bodyPr wrap="square" lIns="0" tIns="0" rIns="0" bIns="0" anchor="t">
            <a:spAutoFit/>
          </a:bodyPr>
          <a:lstStyle/>
          <a:p>
            <a:pPr algn="l">
              <a:lnSpc>
                <a:spcPct val="115000"/>
              </a:lnSpc>
            </a:pPr>
            <a:r>
              <a:rPr sz="1000" b="0" i="1" dirty="0">
                <a:solidFill>
                  <a:srgbClr val="8A8A8A"/>
                </a:solidFill>
                <a:latin typeface="DM Sans"/>
              </a:rPr>
              <a:t>Largest enforcement sweep in BSEC's history — recovery only ~0.35%</a:t>
            </a:r>
          </a:p>
        </p:txBody>
      </p:sp>
      <p:grpSp>
        <p:nvGrpSpPr>
          <p:cNvPr id="56" name="Group 55">
            <a:extLst>
              <a:ext uri="{FF2B5EF4-FFF2-40B4-BE49-F238E27FC236}">
                <a16:creationId xmlns:a16="http://schemas.microsoft.com/office/drawing/2014/main" id="{06DF0798-35C5-2328-18B0-631CC8711EC3}"/>
              </a:ext>
            </a:extLst>
          </p:cNvPr>
          <p:cNvGrpSpPr/>
          <p:nvPr/>
        </p:nvGrpSpPr>
        <p:grpSpPr>
          <a:xfrm>
            <a:off x="758952" y="4838869"/>
            <a:ext cx="4937760" cy="1417320"/>
            <a:chOff x="758952" y="5120640"/>
            <a:chExt cx="4937760" cy="1417320"/>
          </a:xfrm>
        </p:grpSpPr>
        <p:sp>
          <p:nvSpPr>
            <p:cNvPr id="17" name="TextBox 16"/>
            <p:cNvSpPr txBox="1"/>
            <p:nvPr/>
          </p:nvSpPr>
          <p:spPr>
            <a:xfrm>
              <a:off x="758952" y="5120640"/>
              <a:ext cx="4937760" cy="256032"/>
            </a:xfrm>
            <a:prstGeom prst="rect">
              <a:avLst/>
            </a:prstGeom>
            <a:noFill/>
          </p:spPr>
          <p:txBody>
            <a:bodyPr wrap="square" lIns="0" tIns="0" rIns="0" bIns="0" anchor="t">
              <a:spAutoFit/>
            </a:bodyPr>
            <a:lstStyle/>
            <a:p>
              <a:pPr algn="l">
                <a:lnSpc>
                  <a:spcPct val="115000"/>
                </a:lnSpc>
              </a:pPr>
              <a:r>
                <a:rPr sz="850" b="1" i="0" dirty="0">
                  <a:solidFill>
                    <a:srgbClr val="2F3691"/>
                  </a:solidFill>
                  <a:latin typeface="DM Sans"/>
                </a:rPr>
                <a:t>LEADERSHIP TRANSITION</a:t>
              </a:r>
            </a:p>
          </p:txBody>
        </p:sp>
        <p:sp>
          <p:nvSpPr>
            <p:cNvPr id="18" name="Oval 17"/>
            <p:cNvSpPr/>
            <p:nvPr/>
          </p:nvSpPr>
          <p:spPr>
            <a:xfrm>
              <a:off x="795528" y="5440680"/>
              <a:ext cx="73152" cy="73152"/>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8408" y="5367528"/>
              <a:ext cx="4663440" cy="201168"/>
            </a:xfrm>
            <a:prstGeom prst="rect">
              <a:avLst/>
            </a:prstGeom>
            <a:noFill/>
          </p:spPr>
          <p:txBody>
            <a:bodyPr wrap="square" lIns="0" tIns="0" rIns="0" bIns="0" anchor="t">
              <a:spAutoFit/>
            </a:bodyPr>
            <a:lstStyle/>
            <a:p>
              <a:pPr algn="l">
                <a:lnSpc>
                  <a:spcPct val="115000"/>
                </a:lnSpc>
              </a:pPr>
              <a:r>
                <a:rPr sz="950" b="1" i="0">
                  <a:solidFill>
                    <a:srgbClr val="1A1A1A"/>
                  </a:solidFill>
                  <a:latin typeface="DM Sans"/>
                </a:rPr>
                <a:t>Chairman transition imminent</a:t>
              </a:r>
            </a:p>
          </p:txBody>
        </p:sp>
        <p:sp>
          <p:nvSpPr>
            <p:cNvPr id="20" name="TextBox 19"/>
            <p:cNvSpPr txBox="1"/>
            <p:nvPr/>
          </p:nvSpPr>
          <p:spPr>
            <a:xfrm>
              <a:off x="978408" y="5550408"/>
              <a:ext cx="4663440" cy="201168"/>
            </a:xfrm>
            <a:prstGeom prst="rect">
              <a:avLst/>
            </a:prstGeom>
            <a:noFill/>
          </p:spPr>
          <p:txBody>
            <a:bodyPr wrap="square" lIns="0" tIns="0" rIns="0" bIns="0" anchor="t">
              <a:spAutoFit/>
            </a:bodyPr>
            <a:lstStyle/>
            <a:p>
              <a:pPr algn="l">
                <a:lnSpc>
                  <a:spcPct val="115000"/>
                </a:lnSpc>
              </a:pPr>
              <a:r>
                <a:rPr sz="850" b="0" i="0">
                  <a:solidFill>
                    <a:srgbClr val="555555"/>
                  </a:solidFill>
                  <a:latin typeface="DM Sans"/>
                </a:rPr>
                <a:t>Press reporting May-26: handover under way</a:t>
              </a:r>
            </a:p>
          </p:txBody>
        </p:sp>
        <p:sp>
          <p:nvSpPr>
            <p:cNvPr id="21" name="Oval 20"/>
            <p:cNvSpPr/>
            <p:nvPr/>
          </p:nvSpPr>
          <p:spPr>
            <a:xfrm>
              <a:off x="795528" y="5833872"/>
              <a:ext cx="73152" cy="73152"/>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8408" y="5760720"/>
              <a:ext cx="4663440" cy="201168"/>
            </a:xfrm>
            <a:prstGeom prst="rect">
              <a:avLst/>
            </a:prstGeom>
            <a:noFill/>
          </p:spPr>
          <p:txBody>
            <a:bodyPr wrap="square" lIns="0" tIns="0" rIns="0" bIns="0" anchor="t">
              <a:spAutoFit/>
            </a:bodyPr>
            <a:lstStyle/>
            <a:p>
              <a:pPr algn="l">
                <a:lnSpc>
                  <a:spcPct val="115000"/>
                </a:lnSpc>
              </a:pPr>
              <a:r>
                <a:rPr sz="950" b="1" i="0">
                  <a:solidFill>
                    <a:srgbClr val="1A1A1A"/>
                  </a:solidFill>
                  <a:latin typeface="DM Sans"/>
                </a:rPr>
                <a:t>Age-limit bar being eased</a:t>
              </a:r>
            </a:p>
          </p:txBody>
        </p:sp>
        <p:sp>
          <p:nvSpPr>
            <p:cNvPr id="23" name="TextBox 22"/>
            <p:cNvSpPr txBox="1"/>
            <p:nvPr/>
          </p:nvSpPr>
          <p:spPr>
            <a:xfrm>
              <a:off x="978408" y="5943600"/>
              <a:ext cx="4663440" cy="201168"/>
            </a:xfrm>
            <a:prstGeom prst="rect">
              <a:avLst/>
            </a:prstGeom>
            <a:noFill/>
          </p:spPr>
          <p:txBody>
            <a:bodyPr wrap="square" lIns="0" tIns="0" rIns="0" bIns="0" anchor="t">
              <a:spAutoFit/>
            </a:bodyPr>
            <a:lstStyle/>
            <a:p>
              <a:pPr algn="l">
                <a:lnSpc>
                  <a:spcPct val="115000"/>
                </a:lnSpc>
              </a:pPr>
              <a:r>
                <a:rPr sz="850" b="0" i="0" dirty="0">
                  <a:solidFill>
                    <a:srgbClr val="555555"/>
                  </a:solidFill>
                  <a:latin typeface="DM Sans"/>
                </a:rPr>
                <a:t>Opens slate to senior market-credible names</a:t>
              </a:r>
            </a:p>
          </p:txBody>
        </p:sp>
        <p:sp>
          <p:nvSpPr>
            <p:cNvPr id="24" name="Oval 23"/>
            <p:cNvSpPr/>
            <p:nvPr/>
          </p:nvSpPr>
          <p:spPr>
            <a:xfrm>
              <a:off x="795528" y="6227064"/>
              <a:ext cx="73152" cy="73152"/>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78408" y="6153912"/>
              <a:ext cx="4663440" cy="201168"/>
            </a:xfrm>
            <a:prstGeom prst="rect">
              <a:avLst/>
            </a:prstGeom>
            <a:noFill/>
          </p:spPr>
          <p:txBody>
            <a:bodyPr wrap="square" lIns="0" tIns="0" rIns="0" bIns="0" anchor="t">
              <a:spAutoFit/>
            </a:bodyPr>
            <a:lstStyle/>
            <a:p>
              <a:pPr algn="l">
                <a:lnSpc>
                  <a:spcPct val="115000"/>
                </a:lnSpc>
              </a:pPr>
              <a:r>
                <a:rPr sz="950" b="1" i="0">
                  <a:solidFill>
                    <a:srgbClr val="1A1A1A"/>
                  </a:solidFill>
                  <a:latin typeface="DM Sans"/>
                </a:rPr>
                <a:t>What we want to see</a:t>
              </a:r>
            </a:p>
          </p:txBody>
        </p:sp>
        <p:sp>
          <p:nvSpPr>
            <p:cNvPr id="26" name="TextBox 25"/>
            <p:cNvSpPr txBox="1"/>
            <p:nvPr/>
          </p:nvSpPr>
          <p:spPr>
            <a:xfrm>
              <a:off x="978408" y="6336792"/>
              <a:ext cx="4663440" cy="201168"/>
            </a:xfrm>
            <a:prstGeom prst="rect">
              <a:avLst/>
            </a:prstGeom>
            <a:noFill/>
          </p:spPr>
          <p:txBody>
            <a:bodyPr wrap="square" lIns="0" tIns="0" rIns="0" bIns="0" anchor="t">
              <a:spAutoFit/>
            </a:bodyPr>
            <a:lstStyle/>
            <a:p>
              <a:pPr algn="l">
                <a:lnSpc>
                  <a:spcPct val="115000"/>
                </a:lnSpc>
              </a:pPr>
              <a:r>
                <a:rPr sz="850" b="0" i="0">
                  <a:solidFill>
                    <a:srgbClr val="555555"/>
                  </a:solidFill>
                  <a:latin typeface="DM Sans"/>
                </a:rPr>
                <a:t>Non-political technocrat → FPI sentiment lift</a:t>
              </a:r>
            </a:p>
          </p:txBody>
        </p:sp>
      </p:grpSp>
      <p:sp>
        <p:nvSpPr>
          <p:cNvPr id="27" name="TextBox 26"/>
          <p:cNvSpPr txBox="1"/>
          <p:nvPr/>
        </p:nvSpPr>
        <p:spPr>
          <a:xfrm>
            <a:off x="6080760" y="2194560"/>
            <a:ext cx="5669280" cy="292608"/>
          </a:xfrm>
          <a:prstGeom prst="rect">
            <a:avLst/>
          </a:prstGeom>
          <a:noFill/>
        </p:spPr>
        <p:txBody>
          <a:bodyPr wrap="square" lIns="0" tIns="0" rIns="0" bIns="0" anchor="t">
            <a:spAutoFit/>
          </a:bodyPr>
          <a:lstStyle/>
          <a:p>
            <a:pPr algn="l">
              <a:lnSpc>
                <a:spcPct val="115000"/>
              </a:lnSpc>
            </a:pPr>
            <a:r>
              <a:rPr sz="900" b="1" i="0">
                <a:solidFill>
                  <a:srgbClr val="01A7E1"/>
                </a:solidFill>
                <a:latin typeface="DM Sans"/>
              </a:rPr>
              <a:t>REFORM TIMELINE</a:t>
            </a:r>
          </a:p>
        </p:txBody>
      </p:sp>
      <p:sp>
        <p:nvSpPr>
          <p:cNvPr id="28" name="TextBox 27"/>
          <p:cNvSpPr txBox="1"/>
          <p:nvPr/>
        </p:nvSpPr>
        <p:spPr>
          <a:xfrm>
            <a:off x="6080760" y="2468880"/>
            <a:ext cx="5669280" cy="292608"/>
          </a:xfrm>
          <a:prstGeom prst="rect">
            <a:avLst/>
          </a:prstGeom>
          <a:noFill/>
        </p:spPr>
        <p:txBody>
          <a:bodyPr wrap="square" lIns="0" tIns="0" rIns="0" bIns="0" anchor="t">
            <a:spAutoFit/>
          </a:bodyPr>
          <a:lstStyle/>
          <a:p>
            <a:pPr algn="l">
              <a:lnSpc>
                <a:spcPct val="115000"/>
              </a:lnSpc>
            </a:pPr>
            <a:r>
              <a:rPr sz="1400" b="1" i="0">
                <a:solidFill>
                  <a:srgbClr val="2F3691"/>
                </a:solidFill>
                <a:latin typeface="DM Sans"/>
              </a:rPr>
              <a:t>Six dated milestones rebuilt the rulebook</a:t>
            </a:r>
          </a:p>
        </p:txBody>
      </p:sp>
      <p:sp>
        <p:nvSpPr>
          <p:cNvPr id="29" name="Rectangle 28"/>
          <p:cNvSpPr/>
          <p:nvPr/>
        </p:nvSpPr>
        <p:spPr>
          <a:xfrm>
            <a:off x="6949440" y="3063240"/>
            <a:ext cx="16459" cy="3090671"/>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989320" y="3048000"/>
            <a:ext cx="868680" cy="274320"/>
          </a:xfrm>
          <a:prstGeom prst="rect">
            <a:avLst/>
          </a:prstGeom>
          <a:noFill/>
        </p:spPr>
        <p:txBody>
          <a:bodyPr wrap="square" lIns="0" tIns="0" rIns="0" bIns="0" anchor="t">
            <a:spAutoFit/>
          </a:bodyPr>
          <a:lstStyle/>
          <a:p>
            <a:pPr algn="r">
              <a:lnSpc>
                <a:spcPct val="115000"/>
              </a:lnSpc>
            </a:pPr>
            <a:r>
              <a:rPr sz="900" b="1" i="0">
                <a:solidFill>
                  <a:srgbClr val="555555"/>
                </a:solidFill>
                <a:latin typeface="DM Sans"/>
              </a:rPr>
              <a:t>Jul 2022</a:t>
            </a:r>
          </a:p>
        </p:txBody>
      </p:sp>
      <p:sp>
        <p:nvSpPr>
          <p:cNvPr id="31" name="Oval 30"/>
          <p:cNvSpPr/>
          <p:nvPr/>
        </p:nvSpPr>
        <p:spPr>
          <a:xfrm>
            <a:off x="6884517" y="3063240"/>
            <a:ext cx="146304" cy="146304"/>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223760" y="2953512"/>
            <a:ext cx="4526280" cy="274320"/>
          </a:xfrm>
          <a:prstGeom prst="rect">
            <a:avLst/>
          </a:prstGeom>
          <a:noFill/>
        </p:spPr>
        <p:txBody>
          <a:bodyPr wrap="square" lIns="0" tIns="0" rIns="0" bIns="0" anchor="t">
            <a:spAutoFit/>
          </a:bodyPr>
          <a:lstStyle/>
          <a:p>
            <a:pPr algn="l">
              <a:lnSpc>
                <a:spcPct val="115000"/>
              </a:lnSpc>
            </a:pPr>
            <a:r>
              <a:rPr sz="1050" b="1" i="0">
                <a:solidFill>
                  <a:srgbClr val="2F3691"/>
                </a:solidFill>
                <a:latin typeface="DM Sans"/>
              </a:rPr>
              <a:t>Floor prices imposed</a:t>
            </a:r>
          </a:p>
        </p:txBody>
      </p:sp>
      <p:sp>
        <p:nvSpPr>
          <p:cNvPr id="33" name="TextBox 32"/>
          <p:cNvSpPr txBox="1"/>
          <p:nvPr/>
        </p:nvSpPr>
        <p:spPr>
          <a:xfrm>
            <a:off x="7223760" y="3172968"/>
            <a:ext cx="4526280" cy="274320"/>
          </a:xfrm>
          <a:prstGeom prst="rect">
            <a:avLst/>
          </a:prstGeom>
          <a:noFill/>
        </p:spPr>
        <p:txBody>
          <a:bodyPr wrap="square" lIns="0" tIns="0" rIns="0" bIns="0" anchor="t">
            <a:spAutoFit/>
          </a:bodyPr>
          <a:lstStyle/>
          <a:p>
            <a:pPr algn="l">
              <a:lnSpc>
                <a:spcPct val="115000"/>
              </a:lnSpc>
            </a:pPr>
            <a:r>
              <a:rPr sz="900" b="0" i="0">
                <a:solidFill>
                  <a:srgbClr val="555555"/>
                </a:solidFill>
                <a:latin typeface="DM Sans"/>
              </a:rPr>
              <a:t>Index-defence move trapped &gt;60% of scrips</a:t>
            </a:r>
          </a:p>
        </p:txBody>
      </p:sp>
      <p:sp>
        <p:nvSpPr>
          <p:cNvPr id="34" name="TextBox 33"/>
          <p:cNvSpPr txBox="1"/>
          <p:nvPr/>
        </p:nvSpPr>
        <p:spPr>
          <a:xfrm>
            <a:off x="5989320" y="3578352"/>
            <a:ext cx="868680" cy="274320"/>
          </a:xfrm>
          <a:prstGeom prst="rect">
            <a:avLst/>
          </a:prstGeom>
          <a:noFill/>
        </p:spPr>
        <p:txBody>
          <a:bodyPr wrap="square" lIns="0" tIns="0" rIns="0" bIns="0" anchor="t">
            <a:spAutoFit/>
          </a:bodyPr>
          <a:lstStyle/>
          <a:p>
            <a:pPr algn="r">
              <a:lnSpc>
                <a:spcPct val="115000"/>
              </a:lnSpc>
            </a:pPr>
            <a:r>
              <a:rPr sz="900" b="1" i="0">
                <a:solidFill>
                  <a:srgbClr val="555555"/>
                </a:solidFill>
                <a:latin typeface="DM Sans"/>
              </a:rPr>
              <a:t>21 Jan 2024</a:t>
            </a:r>
          </a:p>
        </p:txBody>
      </p:sp>
      <p:sp>
        <p:nvSpPr>
          <p:cNvPr id="35" name="Oval 34"/>
          <p:cNvSpPr/>
          <p:nvPr/>
        </p:nvSpPr>
        <p:spPr>
          <a:xfrm>
            <a:off x="6884517" y="3593591"/>
            <a:ext cx="146304" cy="146304"/>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223760" y="3483864"/>
            <a:ext cx="4526280" cy="274320"/>
          </a:xfrm>
          <a:prstGeom prst="rect">
            <a:avLst/>
          </a:prstGeom>
          <a:noFill/>
        </p:spPr>
        <p:txBody>
          <a:bodyPr wrap="square" lIns="0" tIns="0" rIns="0" bIns="0" anchor="t">
            <a:spAutoFit/>
          </a:bodyPr>
          <a:lstStyle/>
          <a:p>
            <a:pPr algn="l">
              <a:lnSpc>
                <a:spcPct val="115000"/>
              </a:lnSpc>
            </a:pPr>
            <a:r>
              <a:rPr sz="1050" b="1" i="0">
                <a:solidFill>
                  <a:srgbClr val="2F3691"/>
                </a:solidFill>
                <a:latin typeface="DM Sans"/>
              </a:rPr>
              <a:t>Floor prices lifted</a:t>
            </a:r>
          </a:p>
        </p:txBody>
      </p:sp>
      <p:sp>
        <p:nvSpPr>
          <p:cNvPr id="37" name="TextBox 36"/>
          <p:cNvSpPr txBox="1"/>
          <p:nvPr/>
        </p:nvSpPr>
        <p:spPr>
          <a:xfrm>
            <a:off x="7223760" y="3703320"/>
            <a:ext cx="4526280" cy="274320"/>
          </a:xfrm>
          <a:prstGeom prst="rect">
            <a:avLst/>
          </a:prstGeom>
          <a:noFill/>
        </p:spPr>
        <p:txBody>
          <a:bodyPr wrap="square" lIns="0" tIns="0" rIns="0" bIns="0" anchor="t">
            <a:spAutoFit/>
          </a:bodyPr>
          <a:lstStyle/>
          <a:p>
            <a:pPr algn="l">
              <a:lnSpc>
                <a:spcPct val="115000"/>
              </a:lnSpc>
            </a:pPr>
            <a:r>
              <a:rPr sz="900" b="0" i="0">
                <a:solidFill>
                  <a:srgbClr val="555555"/>
                </a:solidFill>
                <a:latin typeface="DM Sans"/>
              </a:rPr>
              <a:t>Restored price discovery; circuit breaker reset to 10%</a:t>
            </a:r>
          </a:p>
        </p:txBody>
      </p:sp>
      <p:sp>
        <p:nvSpPr>
          <p:cNvPr id="38" name="TextBox 37"/>
          <p:cNvSpPr txBox="1"/>
          <p:nvPr/>
        </p:nvSpPr>
        <p:spPr>
          <a:xfrm>
            <a:off x="5989320" y="4108704"/>
            <a:ext cx="868680" cy="274320"/>
          </a:xfrm>
          <a:prstGeom prst="rect">
            <a:avLst/>
          </a:prstGeom>
          <a:noFill/>
        </p:spPr>
        <p:txBody>
          <a:bodyPr wrap="square" lIns="0" tIns="0" rIns="0" bIns="0" anchor="t">
            <a:spAutoFit/>
          </a:bodyPr>
          <a:lstStyle/>
          <a:p>
            <a:pPr algn="r">
              <a:lnSpc>
                <a:spcPct val="115000"/>
              </a:lnSpc>
            </a:pPr>
            <a:r>
              <a:rPr sz="900" b="1" i="0">
                <a:solidFill>
                  <a:srgbClr val="555555"/>
                </a:solidFill>
                <a:latin typeface="DM Sans"/>
              </a:rPr>
              <a:t>2024</a:t>
            </a:r>
          </a:p>
        </p:txBody>
      </p:sp>
      <p:sp>
        <p:nvSpPr>
          <p:cNvPr id="39" name="Oval 38"/>
          <p:cNvSpPr/>
          <p:nvPr/>
        </p:nvSpPr>
        <p:spPr>
          <a:xfrm>
            <a:off x="6884517" y="4123944"/>
            <a:ext cx="146304" cy="146304"/>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223760" y="4014216"/>
            <a:ext cx="4526280" cy="274320"/>
          </a:xfrm>
          <a:prstGeom prst="rect">
            <a:avLst/>
          </a:prstGeom>
          <a:noFill/>
        </p:spPr>
        <p:txBody>
          <a:bodyPr wrap="square" lIns="0" tIns="0" rIns="0" bIns="0" anchor="t">
            <a:spAutoFit/>
          </a:bodyPr>
          <a:lstStyle/>
          <a:p>
            <a:pPr algn="l">
              <a:lnSpc>
                <a:spcPct val="115000"/>
              </a:lnSpc>
            </a:pPr>
            <a:r>
              <a:rPr sz="1050" b="1" i="0">
                <a:solidFill>
                  <a:srgbClr val="2F3691"/>
                </a:solidFill>
                <a:latin typeface="DM Sans"/>
              </a:rPr>
              <a:t>REIT Fund Rules approved</a:t>
            </a:r>
          </a:p>
        </p:txBody>
      </p:sp>
      <p:sp>
        <p:nvSpPr>
          <p:cNvPr id="41" name="TextBox 40"/>
          <p:cNvSpPr txBox="1"/>
          <p:nvPr/>
        </p:nvSpPr>
        <p:spPr>
          <a:xfrm>
            <a:off x="7223760" y="4233672"/>
            <a:ext cx="4526280" cy="274320"/>
          </a:xfrm>
          <a:prstGeom prst="rect">
            <a:avLst/>
          </a:prstGeom>
          <a:noFill/>
        </p:spPr>
        <p:txBody>
          <a:bodyPr wrap="square" lIns="0" tIns="0" rIns="0" bIns="0" anchor="t">
            <a:spAutoFit/>
          </a:bodyPr>
          <a:lstStyle/>
          <a:p>
            <a:pPr algn="l">
              <a:lnSpc>
                <a:spcPct val="115000"/>
              </a:lnSpc>
            </a:pPr>
            <a:r>
              <a:rPr sz="900" b="0" i="0">
                <a:solidFill>
                  <a:srgbClr val="555555"/>
                </a:solidFill>
                <a:latin typeface="DM Sans"/>
              </a:rPr>
              <a:t>Tk 200 cr min; 90% dividend mandate</a:t>
            </a:r>
          </a:p>
        </p:txBody>
      </p:sp>
      <p:sp>
        <p:nvSpPr>
          <p:cNvPr id="42" name="TextBox 41"/>
          <p:cNvSpPr txBox="1"/>
          <p:nvPr/>
        </p:nvSpPr>
        <p:spPr>
          <a:xfrm>
            <a:off x="5989320" y="4639056"/>
            <a:ext cx="868680" cy="274320"/>
          </a:xfrm>
          <a:prstGeom prst="rect">
            <a:avLst/>
          </a:prstGeom>
          <a:noFill/>
        </p:spPr>
        <p:txBody>
          <a:bodyPr wrap="square" lIns="0" tIns="0" rIns="0" bIns="0" anchor="t">
            <a:spAutoFit/>
          </a:bodyPr>
          <a:lstStyle/>
          <a:p>
            <a:pPr algn="r">
              <a:lnSpc>
                <a:spcPct val="115000"/>
              </a:lnSpc>
            </a:pPr>
            <a:r>
              <a:rPr sz="900" b="1" i="0">
                <a:solidFill>
                  <a:srgbClr val="555555"/>
                </a:solidFill>
                <a:latin typeface="DM Sans"/>
              </a:rPr>
              <a:t>24 Jun 2025</a:t>
            </a:r>
          </a:p>
        </p:txBody>
      </p:sp>
      <p:sp>
        <p:nvSpPr>
          <p:cNvPr id="43" name="Oval 42"/>
          <p:cNvSpPr/>
          <p:nvPr/>
        </p:nvSpPr>
        <p:spPr>
          <a:xfrm>
            <a:off x="6884517" y="4654296"/>
            <a:ext cx="146304" cy="146304"/>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223760" y="4544568"/>
            <a:ext cx="4526280" cy="274320"/>
          </a:xfrm>
          <a:prstGeom prst="rect">
            <a:avLst/>
          </a:prstGeom>
          <a:noFill/>
        </p:spPr>
        <p:txBody>
          <a:bodyPr wrap="square" lIns="0" tIns="0" rIns="0" bIns="0" anchor="t">
            <a:spAutoFit/>
          </a:bodyPr>
          <a:lstStyle/>
          <a:p>
            <a:pPr algn="l">
              <a:lnSpc>
                <a:spcPct val="115000"/>
              </a:lnSpc>
            </a:pPr>
            <a:r>
              <a:rPr sz="1050" b="1" i="0">
                <a:solidFill>
                  <a:srgbClr val="2F3691"/>
                </a:solidFill>
                <a:latin typeface="DM Sans"/>
              </a:rPr>
              <a:t>MSCI flags floor progress</a:t>
            </a:r>
          </a:p>
        </p:txBody>
      </p:sp>
      <p:sp>
        <p:nvSpPr>
          <p:cNvPr id="45" name="TextBox 44"/>
          <p:cNvSpPr txBox="1"/>
          <p:nvPr/>
        </p:nvSpPr>
        <p:spPr>
          <a:xfrm>
            <a:off x="7223760" y="4764024"/>
            <a:ext cx="4526280" cy="274320"/>
          </a:xfrm>
          <a:prstGeom prst="rect">
            <a:avLst/>
          </a:prstGeom>
          <a:noFill/>
        </p:spPr>
        <p:txBody>
          <a:bodyPr wrap="square" lIns="0" tIns="0" rIns="0" bIns="0" anchor="t">
            <a:spAutoFit/>
          </a:bodyPr>
          <a:lstStyle/>
          <a:p>
            <a:pPr algn="l">
              <a:lnSpc>
                <a:spcPct val="115000"/>
              </a:lnSpc>
            </a:pPr>
            <a:r>
              <a:rPr sz="900" b="0" i="0">
                <a:solidFill>
                  <a:srgbClr val="555555"/>
                </a:solidFill>
                <a:latin typeface="DM Sans"/>
              </a:rPr>
              <a:t>BD retained Frontier; under active monitoring</a:t>
            </a:r>
          </a:p>
        </p:txBody>
      </p:sp>
      <p:sp>
        <p:nvSpPr>
          <p:cNvPr id="46" name="TextBox 45"/>
          <p:cNvSpPr txBox="1"/>
          <p:nvPr/>
        </p:nvSpPr>
        <p:spPr>
          <a:xfrm>
            <a:off x="5989320" y="5169408"/>
            <a:ext cx="868680" cy="274320"/>
          </a:xfrm>
          <a:prstGeom prst="rect">
            <a:avLst/>
          </a:prstGeom>
          <a:noFill/>
        </p:spPr>
        <p:txBody>
          <a:bodyPr wrap="square" lIns="0" tIns="0" rIns="0" bIns="0" anchor="t">
            <a:spAutoFit/>
          </a:bodyPr>
          <a:lstStyle/>
          <a:p>
            <a:pPr algn="r">
              <a:lnSpc>
                <a:spcPct val="115000"/>
              </a:lnSpc>
            </a:pPr>
            <a:r>
              <a:rPr sz="900" b="1" i="0">
                <a:solidFill>
                  <a:srgbClr val="555555"/>
                </a:solidFill>
                <a:latin typeface="DM Sans"/>
              </a:rPr>
              <a:t>6 Nov 2025</a:t>
            </a:r>
          </a:p>
        </p:txBody>
      </p:sp>
      <p:sp>
        <p:nvSpPr>
          <p:cNvPr id="47" name="Oval 46"/>
          <p:cNvSpPr/>
          <p:nvPr/>
        </p:nvSpPr>
        <p:spPr>
          <a:xfrm>
            <a:off x="6884517" y="5184648"/>
            <a:ext cx="146304" cy="146304"/>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223760" y="5074920"/>
            <a:ext cx="4526280" cy="274320"/>
          </a:xfrm>
          <a:prstGeom prst="rect">
            <a:avLst/>
          </a:prstGeom>
          <a:noFill/>
        </p:spPr>
        <p:txBody>
          <a:bodyPr wrap="square" lIns="0" tIns="0" rIns="0" bIns="0" anchor="t">
            <a:spAutoFit/>
          </a:bodyPr>
          <a:lstStyle/>
          <a:p>
            <a:pPr algn="l">
              <a:lnSpc>
                <a:spcPct val="115000"/>
              </a:lnSpc>
            </a:pPr>
            <a:r>
              <a:rPr sz="1050" b="1" i="0">
                <a:solidFill>
                  <a:srgbClr val="2F3691"/>
                </a:solidFill>
                <a:latin typeface="DM Sans"/>
              </a:rPr>
              <a:t>Margin Loan Rules 2025</a:t>
            </a:r>
          </a:p>
        </p:txBody>
      </p:sp>
      <p:sp>
        <p:nvSpPr>
          <p:cNvPr id="49" name="TextBox 48"/>
          <p:cNvSpPr txBox="1"/>
          <p:nvPr/>
        </p:nvSpPr>
        <p:spPr>
          <a:xfrm>
            <a:off x="7223760" y="5294376"/>
            <a:ext cx="4526280" cy="274320"/>
          </a:xfrm>
          <a:prstGeom prst="rect">
            <a:avLst/>
          </a:prstGeom>
          <a:noFill/>
        </p:spPr>
        <p:txBody>
          <a:bodyPr wrap="square" lIns="0" tIns="0" rIns="0" bIns="0" anchor="t">
            <a:spAutoFit/>
          </a:bodyPr>
          <a:lstStyle/>
          <a:p>
            <a:pPr algn="l">
              <a:lnSpc>
                <a:spcPct val="115000"/>
              </a:lnSpc>
            </a:pPr>
            <a:r>
              <a:rPr sz="900" b="0" i="0">
                <a:solidFill>
                  <a:srgbClr val="555555"/>
                </a:solidFill>
                <a:latin typeface="DM Sans"/>
              </a:rPr>
              <a:t>1:1 cap; 25% single-stock; 30% sector limits</a:t>
            </a:r>
          </a:p>
        </p:txBody>
      </p:sp>
      <p:sp>
        <p:nvSpPr>
          <p:cNvPr id="50" name="TextBox 49"/>
          <p:cNvSpPr txBox="1"/>
          <p:nvPr/>
        </p:nvSpPr>
        <p:spPr>
          <a:xfrm>
            <a:off x="5989320" y="5699760"/>
            <a:ext cx="868680" cy="274320"/>
          </a:xfrm>
          <a:prstGeom prst="rect">
            <a:avLst/>
          </a:prstGeom>
          <a:noFill/>
        </p:spPr>
        <p:txBody>
          <a:bodyPr wrap="square" lIns="0" tIns="0" rIns="0" bIns="0" anchor="t">
            <a:spAutoFit/>
          </a:bodyPr>
          <a:lstStyle/>
          <a:p>
            <a:pPr algn="r">
              <a:lnSpc>
                <a:spcPct val="115000"/>
              </a:lnSpc>
            </a:pPr>
            <a:r>
              <a:rPr sz="900" b="1" i="0">
                <a:solidFill>
                  <a:srgbClr val="555555"/>
                </a:solidFill>
                <a:latin typeface="DM Sans"/>
              </a:rPr>
              <a:t>May 2026</a:t>
            </a:r>
          </a:p>
        </p:txBody>
      </p:sp>
      <p:sp>
        <p:nvSpPr>
          <p:cNvPr id="51" name="Oval 50"/>
          <p:cNvSpPr/>
          <p:nvPr/>
        </p:nvSpPr>
        <p:spPr>
          <a:xfrm>
            <a:off x="6884517" y="5715000"/>
            <a:ext cx="146304" cy="146304"/>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223760" y="5605272"/>
            <a:ext cx="4526280" cy="274320"/>
          </a:xfrm>
          <a:prstGeom prst="rect">
            <a:avLst/>
          </a:prstGeom>
          <a:noFill/>
        </p:spPr>
        <p:txBody>
          <a:bodyPr wrap="square" lIns="0" tIns="0" rIns="0" bIns="0" anchor="t">
            <a:spAutoFit/>
          </a:bodyPr>
          <a:lstStyle/>
          <a:p>
            <a:pPr algn="l">
              <a:lnSpc>
                <a:spcPct val="115000"/>
              </a:lnSpc>
            </a:pPr>
            <a:r>
              <a:rPr sz="1050" b="1" i="0">
                <a:solidFill>
                  <a:srgbClr val="2F3691"/>
                </a:solidFill>
                <a:latin typeface="DM Sans"/>
              </a:rPr>
              <a:t>BSEC chairman handover</a:t>
            </a:r>
          </a:p>
        </p:txBody>
      </p:sp>
      <p:sp>
        <p:nvSpPr>
          <p:cNvPr id="53" name="TextBox 52"/>
          <p:cNvSpPr txBox="1"/>
          <p:nvPr/>
        </p:nvSpPr>
        <p:spPr>
          <a:xfrm>
            <a:off x="7223760" y="5824728"/>
            <a:ext cx="4526280" cy="274320"/>
          </a:xfrm>
          <a:prstGeom prst="rect">
            <a:avLst/>
          </a:prstGeom>
          <a:noFill/>
        </p:spPr>
        <p:txBody>
          <a:bodyPr wrap="square" lIns="0" tIns="0" rIns="0" bIns="0" anchor="t">
            <a:spAutoFit/>
          </a:bodyPr>
          <a:lstStyle/>
          <a:p>
            <a:pPr algn="l">
              <a:lnSpc>
                <a:spcPct val="115000"/>
              </a:lnSpc>
            </a:pPr>
            <a:r>
              <a:rPr sz="900" b="0" i="0">
                <a:solidFill>
                  <a:srgbClr val="555555"/>
                </a:solidFill>
                <a:latin typeface="DM Sans"/>
              </a:rPr>
              <a:t>Transition in motion; technocrat slate widened</a:t>
            </a:r>
          </a:p>
        </p:txBody>
      </p:sp>
      <p:sp>
        <p:nvSpPr>
          <p:cNvPr id="54" name="TextBox 53"/>
          <p:cNvSpPr txBox="1"/>
          <p:nvPr/>
        </p:nvSpPr>
        <p:spPr>
          <a:xfrm>
            <a:off x="502920" y="6537960"/>
            <a:ext cx="9144000" cy="228600"/>
          </a:xfrm>
          <a:prstGeom prst="rect">
            <a:avLst/>
          </a:prstGeom>
          <a:noFill/>
        </p:spPr>
        <p:txBody>
          <a:bodyPr wrap="square" lIns="0" tIns="0" rIns="0" bIns="0" anchor="t">
            <a:spAutoFit/>
          </a:bodyPr>
          <a:lstStyle/>
          <a:p>
            <a:pPr algn="l">
              <a:lnSpc>
                <a:spcPct val="115000"/>
              </a:lnSpc>
            </a:pPr>
            <a:r>
              <a:rPr sz="750" b="0" i="1">
                <a:solidFill>
                  <a:srgbClr val="8A8A8A"/>
                </a:solidFill>
                <a:latin typeface="DM Sans"/>
              </a:rPr>
              <a:t>Sources: BSEC; TBS; BSS; Daily Sun (May-26 chairman transition); MSCI 2025 Market Classification Review (24 Jun 2025); Daily Star.</a:t>
            </a:r>
          </a:p>
        </p:txBody>
      </p:sp>
      <p:sp>
        <p:nvSpPr>
          <p:cNvPr id="55" name="TextBox 54"/>
          <p:cNvSpPr txBox="1"/>
          <p:nvPr/>
        </p:nvSpPr>
        <p:spPr>
          <a:xfrm>
            <a:off x="10515600" y="6537960"/>
            <a:ext cx="1188720" cy="135486"/>
          </a:xfrm>
          <a:prstGeom prst="rect">
            <a:avLst/>
          </a:prstGeom>
          <a:noFill/>
        </p:spPr>
        <p:txBody>
          <a:bodyPr wrap="square" lIns="0" tIns="0" rIns="0" bIns="0" anchor="t">
            <a:spAutoFit/>
          </a:bodyPr>
          <a:lstStyle/>
          <a:p>
            <a:pPr algn="r">
              <a:lnSpc>
                <a:spcPct val="115000"/>
              </a:lnSpc>
            </a:pPr>
            <a:r>
              <a:rPr lang="en-US" sz="800" b="0" i="0" dirty="0">
                <a:solidFill>
                  <a:srgbClr val="8A8A8A"/>
                </a:solidFill>
                <a:latin typeface="DM Sans"/>
              </a:rPr>
              <a:t>6</a:t>
            </a:r>
            <a:endParaRPr sz="800" b="0" i="0" dirty="0">
              <a:solidFill>
                <a:srgbClr val="8A8A8A"/>
              </a:solidFill>
              <a:latin typeface="DM Sans"/>
            </a:endParaRPr>
          </a:p>
        </p:txBody>
      </p:sp>
      <p:pic>
        <p:nvPicPr>
          <p:cNvPr id="57" name="Picture 56">
            <a:extLst>
              <a:ext uri="{FF2B5EF4-FFF2-40B4-BE49-F238E27FC236}">
                <a16:creationId xmlns:a16="http://schemas.microsoft.com/office/drawing/2014/main" id="{B4D3A85E-3F1F-F895-9A3B-B62F41713883}"/>
              </a:ext>
            </a:extLst>
          </p:cNvPr>
          <p:cNvPicPr>
            <a:picLocks noChangeAspect="1"/>
          </p:cNvPicPr>
          <p:nvPr/>
        </p:nvPicPr>
        <p:blipFill>
          <a:blip r:embed="rId2"/>
          <a:stretch>
            <a:fillRect/>
          </a:stretch>
        </p:blipFill>
        <p:spPr>
          <a:xfrm>
            <a:off x="432816" y="131673"/>
            <a:ext cx="1072825" cy="54370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0" y="292608"/>
            <a:ext cx="7315200" cy="274320"/>
          </a:xfrm>
          <a:prstGeom prst="rect">
            <a:avLst/>
          </a:prstGeom>
          <a:noFill/>
        </p:spPr>
        <p:txBody>
          <a:bodyPr wrap="square" lIns="0" tIns="0" rIns="0" bIns="0" anchor="t">
            <a:spAutoFit/>
          </a:bodyPr>
          <a:lstStyle/>
          <a:p>
            <a:pPr algn="l">
              <a:lnSpc>
                <a:spcPct val="115000"/>
              </a:lnSpc>
            </a:pPr>
            <a:r>
              <a:rPr sz="900" b="0" i="0">
                <a:solidFill>
                  <a:srgbClr val="8A8A8A"/>
                </a:solidFill>
                <a:latin typeface="DM Sans"/>
              </a:rPr>
              <a:t>EQUITY MARKET UPDATE  ·  MAY 2026</a:t>
            </a:r>
          </a:p>
        </p:txBody>
      </p:sp>
      <p:sp>
        <p:nvSpPr>
          <p:cNvPr id="5" name="Oval 4"/>
          <p:cNvSpPr/>
          <p:nvPr/>
        </p:nvSpPr>
        <p:spPr>
          <a:xfrm>
            <a:off x="11283696" y="338328"/>
            <a:ext cx="109728" cy="109728"/>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466576" y="338328"/>
            <a:ext cx="109728" cy="109728"/>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49456" y="338328"/>
            <a:ext cx="109728" cy="109728"/>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731520"/>
            <a:ext cx="11201400" cy="914400"/>
          </a:xfrm>
          <a:prstGeom prst="rect">
            <a:avLst/>
          </a:prstGeom>
          <a:noFill/>
        </p:spPr>
        <p:txBody>
          <a:bodyPr wrap="square" lIns="0" tIns="0" rIns="0" bIns="0" anchor="t">
            <a:spAutoFit/>
          </a:bodyPr>
          <a:lstStyle/>
          <a:p>
            <a:pPr algn="l">
              <a:lnSpc>
                <a:spcPct val="115000"/>
              </a:lnSpc>
            </a:pPr>
            <a:r>
              <a:rPr sz="2200" b="1" i="0">
                <a:solidFill>
                  <a:srgbClr val="2F3691"/>
                </a:solidFill>
                <a:latin typeface="DM Sans"/>
              </a:rPr>
              <a:t>Plumbing upgrades — CCBL, T+1, REITs and sukuk — unlock MSCI accessibility and frontier-leading depth</a:t>
            </a:r>
          </a:p>
        </p:txBody>
      </p:sp>
      <p:sp>
        <p:nvSpPr>
          <p:cNvPr id="9" name="TextBox 8"/>
          <p:cNvSpPr txBox="1"/>
          <p:nvPr/>
        </p:nvSpPr>
        <p:spPr>
          <a:xfrm>
            <a:off x="502920" y="1627632"/>
            <a:ext cx="11201400" cy="411480"/>
          </a:xfrm>
          <a:prstGeom prst="rect">
            <a:avLst/>
          </a:prstGeom>
          <a:noFill/>
        </p:spPr>
        <p:txBody>
          <a:bodyPr wrap="square" lIns="0" tIns="0" rIns="0" bIns="0" anchor="t">
            <a:spAutoFit/>
          </a:bodyPr>
          <a:lstStyle/>
          <a:p>
            <a:pPr algn="l">
              <a:lnSpc>
                <a:spcPct val="120000"/>
              </a:lnSpc>
            </a:pPr>
            <a:r>
              <a:rPr sz="1250" b="0" i="1">
                <a:solidFill>
                  <a:srgbClr val="555555"/>
                </a:solidFill>
                <a:latin typeface="DM Sans"/>
              </a:rPr>
              <a:t>Six structural enablers compounding through 2026–27</a:t>
            </a:r>
          </a:p>
        </p:txBody>
      </p:sp>
      <p:sp>
        <p:nvSpPr>
          <p:cNvPr id="10" name="Rounded Rectangle 9"/>
          <p:cNvSpPr/>
          <p:nvPr/>
        </p:nvSpPr>
        <p:spPr>
          <a:xfrm>
            <a:off x="502920" y="2194560"/>
            <a:ext cx="3703320" cy="1755648"/>
          </a:xfrm>
          <a:prstGeom prst="roundRect">
            <a:avLst>
              <a:gd name="adj" fmla="val 45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2194560"/>
            <a:ext cx="3703320" cy="91440"/>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2" y="2377440"/>
            <a:ext cx="3246120" cy="274320"/>
          </a:xfrm>
          <a:prstGeom prst="rect">
            <a:avLst/>
          </a:prstGeom>
          <a:noFill/>
        </p:spPr>
        <p:txBody>
          <a:bodyPr wrap="square" lIns="0" tIns="0" rIns="0" bIns="0" anchor="t">
            <a:spAutoFit/>
          </a:bodyPr>
          <a:lstStyle/>
          <a:p>
            <a:pPr algn="l">
              <a:lnSpc>
                <a:spcPct val="115000"/>
              </a:lnSpc>
            </a:pPr>
            <a:r>
              <a:rPr sz="900" b="1" i="0">
                <a:solidFill>
                  <a:srgbClr val="C6198D"/>
                </a:solidFill>
                <a:latin typeface="DM Sans"/>
              </a:rPr>
              <a:t>CCBL</a:t>
            </a:r>
          </a:p>
        </p:txBody>
      </p:sp>
      <p:sp>
        <p:nvSpPr>
          <p:cNvPr id="13" name="TextBox 12"/>
          <p:cNvSpPr txBox="1"/>
          <p:nvPr/>
        </p:nvSpPr>
        <p:spPr>
          <a:xfrm>
            <a:off x="758952" y="2651760"/>
            <a:ext cx="3246120" cy="292608"/>
          </a:xfrm>
          <a:prstGeom prst="rect">
            <a:avLst/>
          </a:prstGeom>
          <a:noFill/>
        </p:spPr>
        <p:txBody>
          <a:bodyPr wrap="square" lIns="0" tIns="0" rIns="0" bIns="0" anchor="t">
            <a:spAutoFit/>
          </a:bodyPr>
          <a:lstStyle/>
          <a:p>
            <a:pPr algn="l">
              <a:lnSpc>
                <a:spcPct val="115000"/>
              </a:lnSpc>
            </a:pPr>
            <a:r>
              <a:rPr sz="1200" b="1" i="0">
                <a:solidFill>
                  <a:srgbClr val="2F3691"/>
                </a:solidFill>
                <a:latin typeface="DM Sans"/>
              </a:rPr>
              <a:t>Central Counterparty Bangladesh Ltd</a:t>
            </a:r>
          </a:p>
        </p:txBody>
      </p:sp>
      <p:sp>
        <p:nvSpPr>
          <p:cNvPr id="14" name="TextBox 13"/>
          <p:cNvSpPr txBox="1"/>
          <p:nvPr/>
        </p:nvSpPr>
        <p:spPr>
          <a:xfrm>
            <a:off x="758952" y="2953512"/>
            <a:ext cx="3246120" cy="713232"/>
          </a:xfrm>
          <a:prstGeom prst="rect">
            <a:avLst/>
          </a:prstGeom>
          <a:noFill/>
        </p:spPr>
        <p:txBody>
          <a:bodyPr wrap="square" lIns="0" tIns="0" rIns="0" bIns="0" anchor="t">
            <a:spAutoFit/>
          </a:bodyPr>
          <a:lstStyle/>
          <a:p>
            <a:pPr algn="l">
              <a:lnSpc>
                <a:spcPct val="125000"/>
              </a:lnSpc>
            </a:pPr>
            <a:r>
              <a:rPr sz="900" b="0" i="0">
                <a:solidFill>
                  <a:srgbClr val="555555"/>
                </a:solidFill>
                <a:latin typeface="DM Sans"/>
              </a:rPr>
              <a:t>Incorporated Jan-19; targeted go-live alongside derivatives. Slips on director-appointment delays but firmly on roadmap.</a:t>
            </a:r>
          </a:p>
        </p:txBody>
      </p:sp>
      <p:sp>
        <p:nvSpPr>
          <p:cNvPr id="15" name="Rounded Rectangle 14"/>
          <p:cNvSpPr/>
          <p:nvPr/>
        </p:nvSpPr>
        <p:spPr>
          <a:xfrm>
            <a:off x="3227831" y="3566160"/>
            <a:ext cx="777240" cy="256032"/>
          </a:xfrm>
          <a:prstGeom prst="roundRect">
            <a:avLst>
              <a:gd name="adj" fmla="val 40000"/>
            </a:avLst>
          </a:prstGeom>
          <a:solidFill>
            <a:srgbClr val="FFFFFF"/>
          </a:solidFill>
          <a:ln w="6350">
            <a:solidFill>
              <a:srgbClr val="C619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27831" y="3593592"/>
            <a:ext cx="777240" cy="237744"/>
          </a:xfrm>
          <a:prstGeom prst="rect">
            <a:avLst/>
          </a:prstGeom>
          <a:noFill/>
        </p:spPr>
        <p:txBody>
          <a:bodyPr wrap="square" lIns="0" tIns="0" rIns="0" bIns="0" anchor="t">
            <a:spAutoFit/>
          </a:bodyPr>
          <a:lstStyle/>
          <a:p>
            <a:pPr algn="ctr">
              <a:lnSpc>
                <a:spcPct val="115000"/>
              </a:lnSpc>
            </a:pPr>
            <a:r>
              <a:rPr sz="800" b="1" i="0">
                <a:solidFill>
                  <a:srgbClr val="C6198D"/>
                </a:solidFill>
                <a:latin typeface="DM Sans"/>
              </a:rPr>
              <a:t>Slated</a:t>
            </a:r>
          </a:p>
        </p:txBody>
      </p:sp>
      <p:sp>
        <p:nvSpPr>
          <p:cNvPr id="17" name="Rounded Rectangle 16"/>
          <p:cNvSpPr/>
          <p:nvPr/>
        </p:nvSpPr>
        <p:spPr>
          <a:xfrm>
            <a:off x="4325112" y="2194560"/>
            <a:ext cx="3703320" cy="1755648"/>
          </a:xfrm>
          <a:prstGeom prst="roundRect">
            <a:avLst>
              <a:gd name="adj" fmla="val 45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25112" y="2194560"/>
            <a:ext cx="3703320" cy="91440"/>
          </a:xfrm>
          <a:prstGeom prst="rect">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81144" y="2377440"/>
            <a:ext cx="3246120" cy="274320"/>
          </a:xfrm>
          <a:prstGeom prst="rect">
            <a:avLst/>
          </a:prstGeom>
          <a:noFill/>
        </p:spPr>
        <p:txBody>
          <a:bodyPr wrap="square" lIns="0" tIns="0" rIns="0" bIns="0" anchor="t">
            <a:spAutoFit/>
          </a:bodyPr>
          <a:lstStyle/>
          <a:p>
            <a:pPr algn="l">
              <a:lnSpc>
                <a:spcPct val="115000"/>
              </a:lnSpc>
            </a:pPr>
            <a:r>
              <a:rPr sz="900" b="1" i="0">
                <a:solidFill>
                  <a:srgbClr val="2F3691"/>
                </a:solidFill>
                <a:latin typeface="DM Sans"/>
              </a:rPr>
              <a:t>T+1</a:t>
            </a:r>
          </a:p>
        </p:txBody>
      </p:sp>
      <p:sp>
        <p:nvSpPr>
          <p:cNvPr id="20" name="TextBox 19"/>
          <p:cNvSpPr txBox="1"/>
          <p:nvPr/>
        </p:nvSpPr>
        <p:spPr>
          <a:xfrm>
            <a:off x="4581144" y="2651760"/>
            <a:ext cx="3246120" cy="292608"/>
          </a:xfrm>
          <a:prstGeom prst="rect">
            <a:avLst/>
          </a:prstGeom>
          <a:noFill/>
        </p:spPr>
        <p:txBody>
          <a:bodyPr wrap="square" lIns="0" tIns="0" rIns="0" bIns="0" anchor="t">
            <a:spAutoFit/>
          </a:bodyPr>
          <a:lstStyle/>
          <a:p>
            <a:pPr algn="l">
              <a:lnSpc>
                <a:spcPct val="115000"/>
              </a:lnSpc>
            </a:pPr>
            <a:r>
              <a:rPr sz="1200" b="1" i="0">
                <a:solidFill>
                  <a:srgbClr val="2F3691"/>
                </a:solidFill>
                <a:latin typeface="DM Sans"/>
              </a:rPr>
              <a:t>Settlement cycle upgrade</a:t>
            </a:r>
          </a:p>
        </p:txBody>
      </p:sp>
      <p:sp>
        <p:nvSpPr>
          <p:cNvPr id="21" name="TextBox 20"/>
          <p:cNvSpPr txBox="1"/>
          <p:nvPr/>
        </p:nvSpPr>
        <p:spPr>
          <a:xfrm>
            <a:off x="4581144" y="2953512"/>
            <a:ext cx="3246120" cy="713232"/>
          </a:xfrm>
          <a:prstGeom prst="rect">
            <a:avLst/>
          </a:prstGeom>
          <a:noFill/>
        </p:spPr>
        <p:txBody>
          <a:bodyPr wrap="square" lIns="0" tIns="0" rIns="0" bIns="0" anchor="t">
            <a:spAutoFit/>
          </a:bodyPr>
          <a:lstStyle/>
          <a:p>
            <a:pPr algn="l">
              <a:lnSpc>
                <a:spcPct val="125000"/>
              </a:lnSpc>
            </a:pPr>
            <a:r>
              <a:rPr sz="900" b="0" i="0">
                <a:solidFill>
                  <a:srgbClr val="555555"/>
                </a:solidFill>
                <a:latin typeface="DM Sans"/>
              </a:rPr>
              <a:t>BSEC and DSE re-engaged BB Gov. Mansur in 2025. Standard MSCI/FTSE accessibility tick — India live since 2023.</a:t>
            </a:r>
          </a:p>
        </p:txBody>
      </p:sp>
      <p:sp>
        <p:nvSpPr>
          <p:cNvPr id="22" name="Rounded Rectangle 21"/>
          <p:cNvSpPr/>
          <p:nvPr/>
        </p:nvSpPr>
        <p:spPr>
          <a:xfrm>
            <a:off x="7050024" y="3566160"/>
            <a:ext cx="777240" cy="256032"/>
          </a:xfrm>
          <a:prstGeom prst="roundRect">
            <a:avLst>
              <a:gd name="adj" fmla="val 40000"/>
            </a:avLst>
          </a:prstGeom>
          <a:solidFill>
            <a:srgbClr val="FFFFFF"/>
          </a:solidFill>
          <a:ln w="6350">
            <a:solidFill>
              <a:srgbClr val="2F369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50024" y="3593592"/>
            <a:ext cx="777240" cy="237744"/>
          </a:xfrm>
          <a:prstGeom prst="rect">
            <a:avLst/>
          </a:prstGeom>
          <a:noFill/>
        </p:spPr>
        <p:txBody>
          <a:bodyPr wrap="square" lIns="0" tIns="0" rIns="0" bIns="0" anchor="t">
            <a:spAutoFit/>
          </a:bodyPr>
          <a:lstStyle/>
          <a:p>
            <a:pPr algn="ctr">
              <a:lnSpc>
                <a:spcPct val="115000"/>
              </a:lnSpc>
            </a:pPr>
            <a:r>
              <a:rPr sz="800" b="1" i="0">
                <a:solidFill>
                  <a:srgbClr val="2F3691"/>
                </a:solidFill>
                <a:latin typeface="DM Sans"/>
              </a:rPr>
              <a:t>In flight</a:t>
            </a:r>
          </a:p>
        </p:txBody>
      </p:sp>
      <p:sp>
        <p:nvSpPr>
          <p:cNvPr id="24" name="Rounded Rectangle 23"/>
          <p:cNvSpPr/>
          <p:nvPr/>
        </p:nvSpPr>
        <p:spPr>
          <a:xfrm>
            <a:off x="8147304" y="2194560"/>
            <a:ext cx="3703320" cy="1755648"/>
          </a:xfrm>
          <a:prstGeom prst="roundRect">
            <a:avLst>
              <a:gd name="adj" fmla="val 45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147304" y="2194560"/>
            <a:ext cx="3703320" cy="91440"/>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2377440"/>
            <a:ext cx="3246120" cy="274320"/>
          </a:xfrm>
          <a:prstGeom prst="rect">
            <a:avLst/>
          </a:prstGeom>
          <a:noFill/>
        </p:spPr>
        <p:txBody>
          <a:bodyPr wrap="square" lIns="0" tIns="0" rIns="0" bIns="0" anchor="t">
            <a:spAutoFit/>
          </a:bodyPr>
          <a:lstStyle/>
          <a:p>
            <a:pPr algn="l">
              <a:lnSpc>
                <a:spcPct val="115000"/>
              </a:lnSpc>
            </a:pPr>
            <a:r>
              <a:rPr sz="900" b="1" i="0">
                <a:solidFill>
                  <a:srgbClr val="01A7E1"/>
                </a:solidFill>
                <a:latin typeface="DM Sans"/>
              </a:rPr>
              <a:t>SUKUK</a:t>
            </a:r>
          </a:p>
        </p:txBody>
      </p:sp>
      <p:sp>
        <p:nvSpPr>
          <p:cNvPr id="27" name="TextBox 26"/>
          <p:cNvSpPr txBox="1"/>
          <p:nvPr/>
        </p:nvSpPr>
        <p:spPr>
          <a:xfrm>
            <a:off x="8403336" y="2651760"/>
            <a:ext cx="3246120" cy="292608"/>
          </a:xfrm>
          <a:prstGeom prst="rect">
            <a:avLst/>
          </a:prstGeom>
          <a:noFill/>
        </p:spPr>
        <p:txBody>
          <a:bodyPr wrap="square" lIns="0" tIns="0" rIns="0" bIns="0" anchor="t">
            <a:spAutoFit/>
          </a:bodyPr>
          <a:lstStyle/>
          <a:p>
            <a:pPr algn="l">
              <a:lnSpc>
                <a:spcPct val="115000"/>
              </a:lnSpc>
            </a:pPr>
            <a:r>
              <a:rPr sz="1200" b="1" i="0">
                <a:solidFill>
                  <a:srgbClr val="2F3691"/>
                </a:solidFill>
                <a:latin typeface="DM Sans"/>
              </a:rPr>
              <a:t>Sovereign Islamic depth</a:t>
            </a:r>
          </a:p>
        </p:txBody>
      </p:sp>
      <p:sp>
        <p:nvSpPr>
          <p:cNvPr id="28" name="TextBox 27"/>
          <p:cNvSpPr txBox="1"/>
          <p:nvPr/>
        </p:nvSpPr>
        <p:spPr>
          <a:xfrm>
            <a:off x="8403336" y="2953512"/>
            <a:ext cx="3246120" cy="713232"/>
          </a:xfrm>
          <a:prstGeom prst="rect">
            <a:avLst/>
          </a:prstGeom>
          <a:noFill/>
        </p:spPr>
        <p:txBody>
          <a:bodyPr wrap="square" lIns="0" tIns="0" rIns="0" bIns="0" anchor="t">
            <a:spAutoFit/>
          </a:bodyPr>
          <a:lstStyle/>
          <a:p>
            <a:pPr algn="l">
              <a:lnSpc>
                <a:spcPct val="125000"/>
              </a:lnSpc>
            </a:pPr>
            <a:r>
              <a:rPr sz="900" b="0" i="0">
                <a:solidFill>
                  <a:srgbClr val="555555"/>
                </a:solidFill>
                <a:latin typeface="DM Sans"/>
              </a:rPr>
              <a:t>Cumulative issuance ~Tk 22,000 cr by mid-2025. CDWSP Social Impact Sukuk: 5-yr, 10.40% rental, 2.5x oversubscribed.</a:t>
            </a:r>
          </a:p>
        </p:txBody>
      </p:sp>
      <p:sp>
        <p:nvSpPr>
          <p:cNvPr id="29" name="Rounded Rectangle 28"/>
          <p:cNvSpPr/>
          <p:nvPr/>
        </p:nvSpPr>
        <p:spPr>
          <a:xfrm>
            <a:off x="10872216" y="3566160"/>
            <a:ext cx="777240" cy="256032"/>
          </a:xfrm>
          <a:prstGeom prst="roundRect">
            <a:avLst>
              <a:gd name="adj" fmla="val 40000"/>
            </a:avLst>
          </a:prstGeom>
          <a:solidFill>
            <a:srgbClr val="FFFFFF"/>
          </a:solidFill>
          <a:ln w="6350">
            <a:solidFill>
              <a:srgbClr val="01A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872216" y="3593592"/>
            <a:ext cx="777240" cy="237744"/>
          </a:xfrm>
          <a:prstGeom prst="rect">
            <a:avLst/>
          </a:prstGeom>
          <a:noFill/>
        </p:spPr>
        <p:txBody>
          <a:bodyPr wrap="square" lIns="0" tIns="0" rIns="0" bIns="0" anchor="t">
            <a:spAutoFit/>
          </a:bodyPr>
          <a:lstStyle/>
          <a:p>
            <a:pPr algn="ctr">
              <a:lnSpc>
                <a:spcPct val="115000"/>
              </a:lnSpc>
            </a:pPr>
            <a:r>
              <a:rPr sz="800" b="1" i="0">
                <a:solidFill>
                  <a:srgbClr val="01A7E1"/>
                </a:solidFill>
                <a:latin typeface="DM Sans"/>
              </a:rPr>
              <a:t>Scaling</a:t>
            </a:r>
          </a:p>
        </p:txBody>
      </p:sp>
      <p:sp>
        <p:nvSpPr>
          <p:cNvPr id="31" name="Rounded Rectangle 30"/>
          <p:cNvSpPr/>
          <p:nvPr/>
        </p:nvSpPr>
        <p:spPr>
          <a:xfrm>
            <a:off x="502920" y="4069079"/>
            <a:ext cx="3703320" cy="1755648"/>
          </a:xfrm>
          <a:prstGeom prst="roundRect">
            <a:avLst>
              <a:gd name="adj" fmla="val 45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02920" y="4069079"/>
            <a:ext cx="3703320" cy="91440"/>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58952" y="4251959"/>
            <a:ext cx="3246120" cy="274320"/>
          </a:xfrm>
          <a:prstGeom prst="rect">
            <a:avLst/>
          </a:prstGeom>
          <a:noFill/>
        </p:spPr>
        <p:txBody>
          <a:bodyPr wrap="square" lIns="0" tIns="0" rIns="0" bIns="0" anchor="t">
            <a:spAutoFit/>
          </a:bodyPr>
          <a:lstStyle/>
          <a:p>
            <a:pPr algn="l">
              <a:lnSpc>
                <a:spcPct val="115000"/>
              </a:lnSpc>
            </a:pPr>
            <a:r>
              <a:rPr sz="900" b="1" i="0">
                <a:solidFill>
                  <a:srgbClr val="C6198D"/>
                </a:solidFill>
                <a:latin typeface="DM Sans"/>
              </a:rPr>
              <a:t>REITS</a:t>
            </a:r>
          </a:p>
        </p:txBody>
      </p:sp>
      <p:sp>
        <p:nvSpPr>
          <p:cNvPr id="34" name="TextBox 33"/>
          <p:cNvSpPr txBox="1"/>
          <p:nvPr/>
        </p:nvSpPr>
        <p:spPr>
          <a:xfrm>
            <a:off x="758952" y="4526279"/>
            <a:ext cx="3246120" cy="292608"/>
          </a:xfrm>
          <a:prstGeom prst="rect">
            <a:avLst/>
          </a:prstGeom>
          <a:noFill/>
        </p:spPr>
        <p:txBody>
          <a:bodyPr wrap="square" lIns="0" tIns="0" rIns="0" bIns="0" anchor="t">
            <a:spAutoFit/>
          </a:bodyPr>
          <a:lstStyle/>
          <a:p>
            <a:pPr algn="l">
              <a:lnSpc>
                <a:spcPct val="115000"/>
              </a:lnSpc>
            </a:pPr>
            <a:r>
              <a:rPr sz="1200" b="1" i="0">
                <a:solidFill>
                  <a:srgbClr val="2F3691"/>
                </a:solidFill>
                <a:latin typeface="DM Sans"/>
              </a:rPr>
              <a:t>REIT Fund Rules 2024</a:t>
            </a:r>
          </a:p>
        </p:txBody>
      </p:sp>
      <p:sp>
        <p:nvSpPr>
          <p:cNvPr id="35" name="TextBox 34"/>
          <p:cNvSpPr txBox="1"/>
          <p:nvPr/>
        </p:nvSpPr>
        <p:spPr>
          <a:xfrm>
            <a:off x="758952" y="4828031"/>
            <a:ext cx="3246120" cy="713232"/>
          </a:xfrm>
          <a:prstGeom prst="rect">
            <a:avLst/>
          </a:prstGeom>
          <a:noFill/>
        </p:spPr>
        <p:txBody>
          <a:bodyPr wrap="square" lIns="0" tIns="0" rIns="0" bIns="0" anchor="t">
            <a:spAutoFit/>
          </a:bodyPr>
          <a:lstStyle/>
          <a:p>
            <a:pPr algn="l">
              <a:lnSpc>
                <a:spcPct val="125000"/>
              </a:lnSpc>
            </a:pPr>
            <a:r>
              <a:rPr sz="900" b="0" i="0">
                <a:solidFill>
                  <a:srgbClr val="555555"/>
                </a:solidFill>
                <a:latin typeface="DM Sans"/>
              </a:rPr>
              <a:t>Min Tk 200 cr; sponsor ≥20%; 90% dividend mandate; 3-yr lock-in. Satellite-city scope amendment under review.</a:t>
            </a:r>
          </a:p>
        </p:txBody>
      </p:sp>
      <p:sp>
        <p:nvSpPr>
          <p:cNvPr id="36" name="Rounded Rectangle 35"/>
          <p:cNvSpPr/>
          <p:nvPr/>
        </p:nvSpPr>
        <p:spPr>
          <a:xfrm>
            <a:off x="3227831" y="5440679"/>
            <a:ext cx="777240" cy="256032"/>
          </a:xfrm>
          <a:prstGeom prst="roundRect">
            <a:avLst>
              <a:gd name="adj" fmla="val 40000"/>
            </a:avLst>
          </a:prstGeom>
          <a:solidFill>
            <a:srgbClr val="FFFFFF"/>
          </a:solidFill>
          <a:ln w="6350">
            <a:solidFill>
              <a:srgbClr val="C619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227831" y="5468112"/>
            <a:ext cx="777240" cy="237744"/>
          </a:xfrm>
          <a:prstGeom prst="rect">
            <a:avLst/>
          </a:prstGeom>
          <a:noFill/>
        </p:spPr>
        <p:txBody>
          <a:bodyPr wrap="square" lIns="0" tIns="0" rIns="0" bIns="0" anchor="t">
            <a:spAutoFit/>
          </a:bodyPr>
          <a:lstStyle/>
          <a:p>
            <a:pPr algn="ctr">
              <a:lnSpc>
                <a:spcPct val="115000"/>
              </a:lnSpc>
            </a:pPr>
            <a:r>
              <a:rPr sz="800" b="1" i="0">
                <a:solidFill>
                  <a:srgbClr val="C6198D"/>
                </a:solidFill>
                <a:latin typeface="DM Sans"/>
              </a:rPr>
              <a:t>Live</a:t>
            </a:r>
          </a:p>
        </p:txBody>
      </p:sp>
      <p:sp>
        <p:nvSpPr>
          <p:cNvPr id="38" name="Rounded Rectangle 37"/>
          <p:cNvSpPr/>
          <p:nvPr/>
        </p:nvSpPr>
        <p:spPr>
          <a:xfrm>
            <a:off x="4325112" y="4069079"/>
            <a:ext cx="3703320" cy="1755648"/>
          </a:xfrm>
          <a:prstGeom prst="roundRect">
            <a:avLst>
              <a:gd name="adj" fmla="val 45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325112" y="4069079"/>
            <a:ext cx="3703320" cy="91440"/>
          </a:xfrm>
          <a:prstGeom prst="rect">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581144" y="4251959"/>
            <a:ext cx="3246120" cy="274320"/>
          </a:xfrm>
          <a:prstGeom prst="rect">
            <a:avLst/>
          </a:prstGeom>
          <a:noFill/>
        </p:spPr>
        <p:txBody>
          <a:bodyPr wrap="square" lIns="0" tIns="0" rIns="0" bIns="0" anchor="t">
            <a:spAutoFit/>
          </a:bodyPr>
          <a:lstStyle/>
          <a:p>
            <a:pPr algn="l">
              <a:lnSpc>
                <a:spcPct val="115000"/>
              </a:lnSpc>
            </a:pPr>
            <a:r>
              <a:rPr sz="900" b="1" i="0">
                <a:solidFill>
                  <a:srgbClr val="2F3691"/>
                </a:solidFill>
                <a:latin typeface="DM Sans"/>
              </a:rPr>
              <a:t>T-BONDS ON DSE</a:t>
            </a:r>
          </a:p>
        </p:txBody>
      </p:sp>
      <p:sp>
        <p:nvSpPr>
          <p:cNvPr id="41" name="TextBox 40"/>
          <p:cNvSpPr txBox="1"/>
          <p:nvPr/>
        </p:nvSpPr>
        <p:spPr>
          <a:xfrm>
            <a:off x="4581144" y="4526279"/>
            <a:ext cx="3246120" cy="292608"/>
          </a:xfrm>
          <a:prstGeom prst="rect">
            <a:avLst/>
          </a:prstGeom>
          <a:noFill/>
        </p:spPr>
        <p:txBody>
          <a:bodyPr wrap="square" lIns="0" tIns="0" rIns="0" bIns="0" anchor="t">
            <a:spAutoFit/>
          </a:bodyPr>
          <a:lstStyle/>
          <a:p>
            <a:pPr algn="l">
              <a:lnSpc>
                <a:spcPct val="115000"/>
              </a:lnSpc>
            </a:pPr>
            <a:r>
              <a:rPr sz="1200" b="1" i="0">
                <a:solidFill>
                  <a:srgbClr val="2F3691"/>
                </a:solidFill>
                <a:latin typeface="DM Sans"/>
              </a:rPr>
              <a:t>Secondary fixed income</a:t>
            </a:r>
          </a:p>
        </p:txBody>
      </p:sp>
      <p:sp>
        <p:nvSpPr>
          <p:cNvPr id="42" name="TextBox 41"/>
          <p:cNvSpPr txBox="1"/>
          <p:nvPr/>
        </p:nvSpPr>
        <p:spPr>
          <a:xfrm>
            <a:off x="4581144" y="4828031"/>
            <a:ext cx="3246120" cy="713232"/>
          </a:xfrm>
          <a:prstGeom prst="rect">
            <a:avLst/>
          </a:prstGeom>
          <a:noFill/>
        </p:spPr>
        <p:txBody>
          <a:bodyPr wrap="square" lIns="0" tIns="0" rIns="0" bIns="0" anchor="t">
            <a:spAutoFit/>
          </a:bodyPr>
          <a:lstStyle/>
          <a:p>
            <a:pPr algn="l">
              <a:lnSpc>
                <a:spcPct val="125000"/>
              </a:lnSpc>
            </a:pPr>
            <a:r>
              <a:rPr sz="900" b="0" i="0" dirty="0">
                <a:solidFill>
                  <a:srgbClr val="555555"/>
                </a:solidFill>
                <a:latin typeface="DM Sans"/>
              </a:rPr>
              <a:t>Listed since Oct-22; 2024 DSE turnover Tk 1.31 bn (+55% YoY). Reform push to extend NSCs and </a:t>
            </a:r>
            <a:r>
              <a:rPr sz="900" b="0" i="0" dirty="0" err="1">
                <a:solidFill>
                  <a:srgbClr val="555555"/>
                </a:solidFill>
                <a:latin typeface="DM Sans"/>
              </a:rPr>
              <a:t>corp</a:t>
            </a:r>
            <a:r>
              <a:rPr sz="900" b="0" i="0" dirty="0">
                <a:solidFill>
                  <a:srgbClr val="555555"/>
                </a:solidFill>
                <a:latin typeface="DM Sans"/>
              </a:rPr>
              <a:t> bonds.</a:t>
            </a:r>
          </a:p>
        </p:txBody>
      </p:sp>
      <p:sp>
        <p:nvSpPr>
          <p:cNvPr id="43" name="Rounded Rectangle 42"/>
          <p:cNvSpPr/>
          <p:nvPr/>
        </p:nvSpPr>
        <p:spPr>
          <a:xfrm>
            <a:off x="7050024" y="5440679"/>
            <a:ext cx="777240" cy="256032"/>
          </a:xfrm>
          <a:prstGeom prst="roundRect">
            <a:avLst>
              <a:gd name="adj" fmla="val 40000"/>
            </a:avLst>
          </a:prstGeom>
          <a:solidFill>
            <a:srgbClr val="FFFFFF"/>
          </a:solidFill>
          <a:ln w="6350">
            <a:solidFill>
              <a:srgbClr val="2F369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050024" y="5468112"/>
            <a:ext cx="777240" cy="237744"/>
          </a:xfrm>
          <a:prstGeom prst="rect">
            <a:avLst/>
          </a:prstGeom>
          <a:noFill/>
        </p:spPr>
        <p:txBody>
          <a:bodyPr wrap="square" lIns="0" tIns="0" rIns="0" bIns="0" anchor="t">
            <a:spAutoFit/>
          </a:bodyPr>
          <a:lstStyle/>
          <a:p>
            <a:pPr algn="ctr">
              <a:lnSpc>
                <a:spcPct val="115000"/>
              </a:lnSpc>
            </a:pPr>
            <a:r>
              <a:rPr sz="800" b="1" i="0">
                <a:solidFill>
                  <a:srgbClr val="2F3691"/>
                </a:solidFill>
                <a:latin typeface="DM Sans"/>
              </a:rPr>
              <a:t>Scaling</a:t>
            </a:r>
          </a:p>
        </p:txBody>
      </p:sp>
      <p:sp>
        <p:nvSpPr>
          <p:cNvPr id="45" name="Rounded Rectangle 44"/>
          <p:cNvSpPr/>
          <p:nvPr/>
        </p:nvSpPr>
        <p:spPr>
          <a:xfrm>
            <a:off x="8147304" y="4069079"/>
            <a:ext cx="3703320" cy="1755648"/>
          </a:xfrm>
          <a:prstGeom prst="roundRect">
            <a:avLst>
              <a:gd name="adj" fmla="val 45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8147304" y="4069079"/>
            <a:ext cx="3703320" cy="91440"/>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403336" y="4251959"/>
            <a:ext cx="3246120" cy="274320"/>
          </a:xfrm>
          <a:prstGeom prst="rect">
            <a:avLst/>
          </a:prstGeom>
          <a:noFill/>
        </p:spPr>
        <p:txBody>
          <a:bodyPr wrap="square" lIns="0" tIns="0" rIns="0" bIns="0" anchor="t">
            <a:spAutoFit/>
          </a:bodyPr>
          <a:lstStyle/>
          <a:p>
            <a:pPr algn="l">
              <a:lnSpc>
                <a:spcPct val="115000"/>
              </a:lnSpc>
            </a:pPr>
            <a:r>
              <a:rPr sz="900" b="1" i="0">
                <a:solidFill>
                  <a:srgbClr val="01A7E1"/>
                </a:solidFill>
                <a:latin typeface="DM Sans"/>
              </a:rPr>
              <a:t>MSCI / FTSE</a:t>
            </a:r>
          </a:p>
        </p:txBody>
      </p:sp>
      <p:sp>
        <p:nvSpPr>
          <p:cNvPr id="48" name="TextBox 47"/>
          <p:cNvSpPr txBox="1"/>
          <p:nvPr/>
        </p:nvSpPr>
        <p:spPr>
          <a:xfrm>
            <a:off x="8403336" y="4526279"/>
            <a:ext cx="3246120" cy="292608"/>
          </a:xfrm>
          <a:prstGeom prst="rect">
            <a:avLst/>
          </a:prstGeom>
          <a:noFill/>
        </p:spPr>
        <p:txBody>
          <a:bodyPr wrap="square" lIns="0" tIns="0" rIns="0" bIns="0" anchor="t">
            <a:spAutoFit/>
          </a:bodyPr>
          <a:lstStyle/>
          <a:p>
            <a:pPr algn="l">
              <a:lnSpc>
                <a:spcPct val="115000"/>
              </a:lnSpc>
            </a:pPr>
            <a:r>
              <a:rPr sz="1200" b="1" i="0">
                <a:solidFill>
                  <a:srgbClr val="2F3691"/>
                </a:solidFill>
                <a:latin typeface="DM Sans"/>
              </a:rPr>
              <a:t>Index monitoring</a:t>
            </a:r>
          </a:p>
        </p:txBody>
      </p:sp>
      <p:sp>
        <p:nvSpPr>
          <p:cNvPr id="49" name="TextBox 48"/>
          <p:cNvSpPr txBox="1"/>
          <p:nvPr/>
        </p:nvSpPr>
        <p:spPr>
          <a:xfrm>
            <a:off x="8403336" y="4828031"/>
            <a:ext cx="3246120" cy="713232"/>
          </a:xfrm>
          <a:prstGeom prst="rect">
            <a:avLst/>
          </a:prstGeom>
          <a:noFill/>
        </p:spPr>
        <p:txBody>
          <a:bodyPr wrap="square" lIns="0" tIns="0" rIns="0" bIns="0" anchor="t">
            <a:spAutoFit/>
          </a:bodyPr>
          <a:lstStyle/>
          <a:p>
            <a:pPr algn="l">
              <a:lnSpc>
                <a:spcPct val="125000"/>
              </a:lnSpc>
            </a:pPr>
            <a:r>
              <a:rPr sz="900" b="0" i="0">
                <a:solidFill>
                  <a:srgbClr val="555555"/>
                </a:solidFill>
                <a:latin typeface="DM Sans"/>
              </a:rPr>
              <a:t>MSCI 24-Jun-25 review: BD remains Frontier, accessibility under active monitoring; next read Nov-26.</a:t>
            </a:r>
          </a:p>
        </p:txBody>
      </p:sp>
      <p:sp>
        <p:nvSpPr>
          <p:cNvPr id="50" name="Rounded Rectangle 49"/>
          <p:cNvSpPr/>
          <p:nvPr/>
        </p:nvSpPr>
        <p:spPr>
          <a:xfrm>
            <a:off x="10872216" y="5440679"/>
            <a:ext cx="777240" cy="256032"/>
          </a:xfrm>
          <a:prstGeom prst="roundRect">
            <a:avLst>
              <a:gd name="adj" fmla="val 40000"/>
            </a:avLst>
          </a:prstGeom>
          <a:solidFill>
            <a:srgbClr val="FFFFFF"/>
          </a:solidFill>
          <a:ln w="6350">
            <a:solidFill>
              <a:srgbClr val="01A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872216" y="5468112"/>
            <a:ext cx="777240" cy="237744"/>
          </a:xfrm>
          <a:prstGeom prst="rect">
            <a:avLst/>
          </a:prstGeom>
          <a:noFill/>
        </p:spPr>
        <p:txBody>
          <a:bodyPr wrap="square" lIns="0" tIns="0" rIns="0" bIns="0" anchor="t">
            <a:spAutoFit/>
          </a:bodyPr>
          <a:lstStyle/>
          <a:p>
            <a:pPr algn="ctr">
              <a:lnSpc>
                <a:spcPct val="115000"/>
              </a:lnSpc>
            </a:pPr>
            <a:r>
              <a:rPr sz="800" b="1" i="0">
                <a:solidFill>
                  <a:srgbClr val="01A7E1"/>
                </a:solidFill>
                <a:latin typeface="DM Sans"/>
              </a:rPr>
              <a:t>Watch</a:t>
            </a:r>
          </a:p>
        </p:txBody>
      </p:sp>
      <p:sp>
        <p:nvSpPr>
          <p:cNvPr id="52" name="Rounded Rectangle 51"/>
          <p:cNvSpPr/>
          <p:nvPr/>
        </p:nvSpPr>
        <p:spPr>
          <a:xfrm>
            <a:off x="502920" y="6007608"/>
            <a:ext cx="11247120" cy="457200"/>
          </a:xfrm>
          <a:prstGeom prst="roundRect">
            <a:avLst>
              <a:gd name="adj" fmla="val 30000"/>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502920" y="6007608"/>
            <a:ext cx="91440" cy="457200"/>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77240" y="6099048"/>
            <a:ext cx="10972800" cy="320040"/>
          </a:xfrm>
          <a:prstGeom prst="rect">
            <a:avLst/>
          </a:prstGeom>
          <a:noFill/>
        </p:spPr>
        <p:txBody>
          <a:bodyPr wrap="square" lIns="0" tIns="0" rIns="0" bIns="0" anchor="t">
            <a:spAutoFit/>
          </a:bodyPr>
          <a:lstStyle/>
          <a:p>
            <a:pPr algn="l">
              <a:lnSpc>
                <a:spcPct val="120000"/>
              </a:lnSpc>
            </a:pPr>
            <a:r>
              <a:rPr sz="900" b="1" i="0">
                <a:solidFill>
                  <a:srgbClr val="C6198D"/>
                </a:solidFill>
                <a:latin typeface="DM Sans"/>
              </a:rPr>
              <a:t>ACCESSIBILITY DELTA   </a:t>
            </a:r>
            <a:r>
              <a:rPr sz="1050" b="0" i="0">
                <a:solidFill>
                  <a:srgbClr val="1A1A1A"/>
                </a:solidFill>
                <a:latin typeface="DM Sans"/>
              </a:rPr>
              <a:t>Each milestone independently nudges MSCI scoring; together they raise the case for </a:t>
            </a:r>
            <a:r>
              <a:rPr sz="1050" b="1" i="0">
                <a:solidFill>
                  <a:srgbClr val="2F3691"/>
                </a:solidFill>
                <a:latin typeface="DM Sans"/>
              </a:rPr>
              <a:t>Frontier </a:t>
            </a:r>
            <a:r>
              <a:rPr sz="1050" b="0" i="0">
                <a:solidFill>
                  <a:srgbClr val="1A1A1A"/>
                </a:solidFill>
                <a:latin typeface="DM Sans"/>
              </a:rPr>
              <a:t>→ </a:t>
            </a:r>
            <a:r>
              <a:rPr sz="1050" b="1" i="0">
                <a:solidFill>
                  <a:srgbClr val="2F3691"/>
                </a:solidFill>
                <a:latin typeface="DM Sans"/>
              </a:rPr>
              <a:t>Emerging review consideration</a:t>
            </a:r>
            <a:r>
              <a:rPr sz="1050" b="0" i="0">
                <a:solidFill>
                  <a:srgbClr val="1A1A1A"/>
                </a:solidFill>
                <a:latin typeface="DM Sans"/>
              </a:rPr>
              <a:t> over 2027–28.</a:t>
            </a:r>
          </a:p>
        </p:txBody>
      </p:sp>
      <p:sp>
        <p:nvSpPr>
          <p:cNvPr id="55" name="TextBox 54"/>
          <p:cNvSpPr txBox="1"/>
          <p:nvPr/>
        </p:nvSpPr>
        <p:spPr>
          <a:xfrm>
            <a:off x="502920" y="6537960"/>
            <a:ext cx="9144000" cy="228600"/>
          </a:xfrm>
          <a:prstGeom prst="rect">
            <a:avLst/>
          </a:prstGeom>
          <a:noFill/>
        </p:spPr>
        <p:txBody>
          <a:bodyPr wrap="square" lIns="0" tIns="0" rIns="0" bIns="0" anchor="t">
            <a:spAutoFit/>
          </a:bodyPr>
          <a:lstStyle/>
          <a:p>
            <a:pPr algn="l">
              <a:lnSpc>
                <a:spcPct val="115000"/>
              </a:lnSpc>
            </a:pPr>
            <a:r>
              <a:rPr sz="750" b="0" i="1">
                <a:solidFill>
                  <a:srgbClr val="8A8A8A"/>
                </a:solidFill>
                <a:latin typeface="DM Sans"/>
              </a:rPr>
              <a:t>Sources: BSEC; CCBL; CDBL; MSCI 2025 Review; Financial Express; New Age; Traders Union; BB FX Guidelines.</a:t>
            </a:r>
          </a:p>
        </p:txBody>
      </p:sp>
      <p:sp>
        <p:nvSpPr>
          <p:cNvPr id="56" name="TextBox 55"/>
          <p:cNvSpPr txBox="1"/>
          <p:nvPr/>
        </p:nvSpPr>
        <p:spPr>
          <a:xfrm>
            <a:off x="10515600" y="6537960"/>
            <a:ext cx="1188720" cy="135486"/>
          </a:xfrm>
          <a:prstGeom prst="rect">
            <a:avLst/>
          </a:prstGeom>
          <a:noFill/>
        </p:spPr>
        <p:txBody>
          <a:bodyPr wrap="square" lIns="0" tIns="0" rIns="0" bIns="0" anchor="t">
            <a:spAutoFit/>
          </a:bodyPr>
          <a:lstStyle/>
          <a:p>
            <a:pPr algn="r">
              <a:lnSpc>
                <a:spcPct val="115000"/>
              </a:lnSpc>
            </a:pPr>
            <a:r>
              <a:rPr sz="800" b="0" i="0" dirty="0">
                <a:solidFill>
                  <a:srgbClr val="8A8A8A"/>
                </a:solidFill>
                <a:latin typeface="DM Sans"/>
              </a:rPr>
              <a:t>7</a:t>
            </a:r>
          </a:p>
        </p:txBody>
      </p:sp>
      <p:pic>
        <p:nvPicPr>
          <p:cNvPr id="57" name="Picture 56">
            <a:extLst>
              <a:ext uri="{FF2B5EF4-FFF2-40B4-BE49-F238E27FC236}">
                <a16:creationId xmlns:a16="http://schemas.microsoft.com/office/drawing/2014/main" id="{22FF84AD-123C-B2AB-3846-49D7A066CD2F}"/>
              </a:ext>
            </a:extLst>
          </p:cNvPr>
          <p:cNvPicPr>
            <a:picLocks noChangeAspect="1"/>
          </p:cNvPicPr>
          <p:nvPr/>
        </p:nvPicPr>
        <p:blipFill>
          <a:blip r:embed="rId2"/>
          <a:stretch>
            <a:fillRect/>
          </a:stretch>
        </p:blipFill>
        <p:spPr>
          <a:xfrm>
            <a:off x="432816" y="131673"/>
            <a:ext cx="1072825" cy="54370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0" y="292608"/>
            <a:ext cx="7315200" cy="274320"/>
          </a:xfrm>
          <a:prstGeom prst="rect">
            <a:avLst/>
          </a:prstGeom>
          <a:noFill/>
        </p:spPr>
        <p:txBody>
          <a:bodyPr wrap="square" lIns="0" tIns="0" rIns="0" bIns="0" anchor="t">
            <a:spAutoFit/>
          </a:bodyPr>
          <a:lstStyle/>
          <a:p>
            <a:pPr algn="l">
              <a:lnSpc>
                <a:spcPct val="115000"/>
              </a:lnSpc>
            </a:pPr>
            <a:r>
              <a:rPr sz="900" b="0" i="0">
                <a:solidFill>
                  <a:srgbClr val="8A8A8A"/>
                </a:solidFill>
                <a:latin typeface="DM Sans"/>
              </a:rPr>
              <a:t>EQUITY MARKET UPDATE  ·  MAY 2026</a:t>
            </a:r>
          </a:p>
        </p:txBody>
      </p:sp>
      <p:sp>
        <p:nvSpPr>
          <p:cNvPr id="5" name="Oval 4"/>
          <p:cNvSpPr/>
          <p:nvPr/>
        </p:nvSpPr>
        <p:spPr>
          <a:xfrm>
            <a:off x="11283696" y="338328"/>
            <a:ext cx="109728" cy="109728"/>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466576" y="338328"/>
            <a:ext cx="109728" cy="109728"/>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49456" y="338328"/>
            <a:ext cx="109728" cy="109728"/>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731520"/>
            <a:ext cx="11201400" cy="914400"/>
          </a:xfrm>
          <a:prstGeom prst="rect">
            <a:avLst/>
          </a:prstGeom>
          <a:noFill/>
        </p:spPr>
        <p:txBody>
          <a:bodyPr wrap="square" lIns="0" tIns="0" rIns="0" bIns="0" anchor="t">
            <a:spAutoFit/>
          </a:bodyPr>
          <a:lstStyle/>
          <a:p>
            <a:pPr algn="l">
              <a:lnSpc>
                <a:spcPct val="115000"/>
              </a:lnSpc>
            </a:pPr>
            <a:r>
              <a:rPr sz="2200" b="1" i="0">
                <a:solidFill>
                  <a:srgbClr val="2F3691"/>
                </a:solidFill>
                <a:latin typeface="DM Sans"/>
              </a:rPr>
              <a:t>Our view: Overweight Bangladesh selectively over 12–18 months — own sukuk for carry, large-caps for re-rating</a:t>
            </a:r>
          </a:p>
        </p:txBody>
      </p:sp>
      <p:sp>
        <p:nvSpPr>
          <p:cNvPr id="9" name="TextBox 8"/>
          <p:cNvSpPr txBox="1"/>
          <p:nvPr/>
        </p:nvSpPr>
        <p:spPr>
          <a:xfrm>
            <a:off x="502920" y="1627632"/>
            <a:ext cx="11201400" cy="411480"/>
          </a:xfrm>
          <a:prstGeom prst="rect">
            <a:avLst/>
          </a:prstGeom>
          <a:noFill/>
        </p:spPr>
        <p:txBody>
          <a:bodyPr wrap="square" lIns="0" tIns="0" rIns="0" bIns="0" anchor="t">
            <a:spAutoFit/>
          </a:bodyPr>
          <a:lstStyle/>
          <a:p>
            <a:pPr algn="l">
              <a:lnSpc>
                <a:spcPct val="120000"/>
              </a:lnSpc>
            </a:pPr>
            <a:r>
              <a:rPr sz="1250" b="0" i="1">
                <a:solidFill>
                  <a:srgbClr val="555555"/>
                </a:solidFill>
                <a:latin typeface="DM Sans"/>
              </a:rPr>
              <a:t>Five catalysts to watch, five risks to underwrite, and a clean entry valuation</a:t>
            </a:r>
          </a:p>
        </p:txBody>
      </p:sp>
      <p:sp>
        <p:nvSpPr>
          <p:cNvPr id="10" name="Rounded Rectangle 9"/>
          <p:cNvSpPr/>
          <p:nvPr/>
        </p:nvSpPr>
        <p:spPr>
          <a:xfrm>
            <a:off x="502920" y="2194560"/>
            <a:ext cx="11247120" cy="960120"/>
          </a:xfrm>
          <a:prstGeom prst="roundRect">
            <a:avLst>
              <a:gd name="adj" fmla="val 8000"/>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2194560"/>
            <a:ext cx="91440" cy="960120"/>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2289385"/>
            <a:ext cx="10698480" cy="203261"/>
          </a:xfrm>
          <a:prstGeom prst="rect">
            <a:avLst/>
          </a:prstGeom>
          <a:noFill/>
        </p:spPr>
        <p:txBody>
          <a:bodyPr wrap="square" lIns="0" tIns="0" rIns="0" bIns="0" anchor="t">
            <a:spAutoFit/>
          </a:bodyPr>
          <a:lstStyle/>
          <a:p>
            <a:pPr algn="l">
              <a:lnSpc>
                <a:spcPct val="115000"/>
              </a:lnSpc>
            </a:pPr>
            <a:r>
              <a:rPr sz="1200" b="1" i="0" dirty="0">
                <a:solidFill>
                  <a:srgbClr val="C6198D"/>
                </a:solidFill>
                <a:latin typeface="DM Sans"/>
              </a:rPr>
              <a:t>CAL RECOMMENDATION</a:t>
            </a:r>
          </a:p>
        </p:txBody>
      </p:sp>
      <p:sp>
        <p:nvSpPr>
          <p:cNvPr id="13" name="TextBox 12"/>
          <p:cNvSpPr txBox="1"/>
          <p:nvPr/>
        </p:nvSpPr>
        <p:spPr>
          <a:xfrm>
            <a:off x="822960" y="2585877"/>
            <a:ext cx="10853250" cy="385298"/>
          </a:xfrm>
          <a:prstGeom prst="rect">
            <a:avLst/>
          </a:prstGeom>
          <a:noFill/>
        </p:spPr>
        <p:txBody>
          <a:bodyPr wrap="square" lIns="0" tIns="0" rIns="0" bIns="0" anchor="t">
            <a:spAutoFit/>
          </a:bodyPr>
          <a:lstStyle/>
          <a:p>
            <a:pPr algn="l">
              <a:lnSpc>
                <a:spcPct val="120000"/>
              </a:lnSpc>
            </a:pPr>
            <a:r>
              <a:rPr sz="2200" b="1" i="0" dirty="0">
                <a:solidFill>
                  <a:srgbClr val="2F3691"/>
                </a:solidFill>
                <a:latin typeface="DM Sans"/>
              </a:rPr>
              <a:t>OVERWEIGHT  </a:t>
            </a:r>
            <a:r>
              <a:rPr sz="1500" b="0" i="0" dirty="0">
                <a:solidFill>
                  <a:srgbClr val="1A1A1A"/>
                </a:solidFill>
                <a:latin typeface="DM Sans"/>
              </a:rPr>
              <a:t>Bangladesh equities  ·  12–18m horizon  ·  </a:t>
            </a:r>
            <a:r>
              <a:rPr sz="1500" b="0" i="1" dirty="0">
                <a:solidFill>
                  <a:srgbClr val="555555"/>
                </a:solidFill>
                <a:latin typeface="DM Sans"/>
              </a:rPr>
              <a:t>Selective; </a:t>
            </a:r>
            <a:r>
              <a:rPr sz="1500" b="1" i="0" dirty="0">
                <a:solidFill>
                  <a:srgbClr val="C6198D"/>
                </a:solidFill>
                <a:latin typeface="DM Sans"/>
              </a:rPr>
              <a:t>quality large-caps + sovereign sukuk for carry</a:t>
            </a:r>
          </a:p>
        </p:txBody>
      </p:sp>
      <p:sp>
        <p:nvSpPr>
          <p:cNvPr id="14" name="Rounded Rectangle 13"/>
          <p:cNvSpPr/>
          <p:nvPr/>
        </p:nvSpPr>
        <p:spPr>
          <a:xfrm>
            <a:off x="502920" y="3383280"/>
            <a:ext cx="3703320" cy="2834640"/>
          </a:xfrm>
          <a:prstGeom prst="roundRect">
            <a:avLst>
              <a:gd name="adj" fmla="val 4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3383280"/>
            <a:ext cx="3703320" cy="91440"/>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584448"/>
            <a:ext cx="3246120" cy="274320"/>
          </a:xfrm>
          <a:prstGeom prst="rect">
            <a:avLst/>
          </a:prstGeom>
          <a:noFill/>
        </p:spPr>
        <p:txBody>
          <a:bodyPr wrap="square" lIns="0" tIns="0" rIns="0" bIns="0" anchor="t">
            <a:spAutoFit/>
          </a:bodyPr>
          <a:lstStyle/>
          <a:p>
            <a:pPr algn="l">
              <a:lnSpc>
                <a:spcPct val="115000"/>
              </a:lnSpc>
            </a:pPr>
            <a:r>
              <a:rPr sz="900" b="1" i="0">
                <a:solidFill>
                  <a:srgbClr val="C6198D"/>
                </a:solidFill>
                <a:latin typeface="DM Sans"/>
              </a:rPr>
              <a:t>WHERE TO BE</a:t>
            </a:r>
          </a:p>
        </p:txBody>
      </p:sp>
      <p:sp>
        <p:nvSpPr>
          <p:cNvPr id="17" name="TextBox 16"/>
          <p:cNvSpPr txBox="1"/>
          <p:nvPr/>
        </p:nvSpPr>
        <p:spPr>
          <a:xfrm>
            <a:off x="731520" y="3886200"/>
            <a:ext cx="3246120" cy="292608"/>
          </a:xfrm>
          <a:prstGeom prst="rect">
            <a:avLst/>
          </a:prstGeom>
          <a:noFill/>
        </p:spPr>
        <p:txBody>
          <a:bodyPr wrap="square" lIns="0" tIns="0" rIns="0" bIns="0" anchor="t">
            <a:spAutoFit/>
          </a:bodyPr>
          <a:lstStyle/>
          <a:p>
            <a:pPr algn="l">
              <a:lnSpc>
                <a:spcPct val="115000"/>
              </a:lnSpc>
            </a:pPr>
            <a:r>
              <a:rPr sz="1250" b="1" i="0">
                <a:solidFill>
                  <a:srgbClr val="2F3691"/>
                </a:solidFill>
                <a:latin typeface="DM Sans"/>
              </a:rPr>
              <a:t>Positioning playbook</a:t>
            </a:r>
          </a:p>
        </p:txBody>
      </p:sp>
      <p:sp>
        <p:nvSpPr>
          <p:cNvPr id="18" name="Oval 17"/>
          <p:cNvSpPr/>
          <p:nvPr/>
        </p:nvSpPr>
        <p:spPr>
          <a:xfrm>
            <a:off x="758952" y="4379976"/>
            <a:ext cx="73152" cy="73152"/>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1832" y="4279392"/>
            <a:ext cx="3017520" cy="228600"/>
          </a:xfrm>
          <a:prstGeom prst="rect">
            <a:avLst/>
          </a:prstGeom>
          <a:noFill/>
        </p:spPr>
        <p:txBody>
          <a:bodyPr wrap="square" lIns="0" tIns="0" rIns="0" bIns="0" anchor="t">
            <a:spAutoFit/>
          </a:bodyPr>
          <a:lstStyle/>
          <a:p>
            <a:pPr algn="l">
              <a:lnSpc>
                <a:spcPct val="115000"/>
              </a:lnSpc>
            </a:pPr>
            <a:r>
              <a:rPr sz="1000" b="1" i="0">
                <a:solidFill>
                  <a:srgbClr val="1A1A1A"/>
                </a:solidFill>
                <a:latin typeface="DM Sans"/>
              </a:rPr>
              <a:t>Quality large-caps</a:t>
            </a:r>
          </a:p>
        </p:txBody>
      </p:sp>
      <p:sp>
        <p:nvSpPr>
          <p:cNvPr id="20" name="TextBox 19"/>
          <p:cNvSpPr txBox="1"/>
          <p:nvPr/>
        </p:nvSpPr>
        <p:spPr>
          <a:xfrm>
            <a:off x="941832" y="4480560"/>
            <a:ext cx="3017520" cy="228600"/>
          </a:xfrm>
          <a:prstGeom prst="rect">
            <a:avLst/>
          </a:prstGeom>
          <a:noFill/>
        </p:spPr>
        <p:txBody>
          <a:bodyPr wrap="square" lIns="0" tIns="0" rIns="0" bIns="0" anchor="t">
            <a:spAutoFit/>
          </a:bodyPr>
          <a:lstStyle/>
          <a:p>
            <a:pPr algn="l">
              <a:lnSpc>
                <a:spcPct val="115000"/>
              </a:lnSpc>
            </a:pPr>
            <a:r>
              <a:rPr sz="880" b="0" i="0">
                <a:solidFill>
                  <a:srgbClr val="555555"/>
                </a:solidFill>
                <a:latin typeface="DM Sans"/>
              </a:rPr>
              <a:t>USD-linked or remittance-leveraged earnings</a:t>
            </a:r>
          </a:p>
        </p:txBody>
      </p:sp>
      <p:sp>
        <p:nvSpPr>
          <p:cNvPr id="21" name="Oval 20"/>
          <p:cNvSpPr/>
          <p:nvPr/>
        </p:nvSpPr>
        <p:spPr>
          <a:xfrm>
            <a:off x="758952" y="4764024"/>
            <a:ext cx="73152" cy="73152"/>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41832" y="4663440"/>
            <a:ext cx="3017520" cy="228600"/>
          </a:xfrm>
          <a:prstGeom prst="rect">
            <a:avLst/>
          </a:prstGeom>
          <a:noFill/>
        </p:spPr>
        <p:txBody>
          <a:bodyPr wrap="square" lIns="0" tIns="0" rIns="0" bIns="0" anchor="t">
            <a:spAutoFit/>
          </a:bodyPr>
          <a:lstStyle/>
          <a:p>
            <a:pPr algn="l">
              <a:lnSpc>
                <a:spcPct val="115000"/>
              </a:lnSpc>
            </a:pPr>
            <a:r>
              <a:rPr sz="1000" b="1" i="0">
                <a:solidFill>
                  <a:srgbClr val="1A1A1A"/>
                </a:solidFill>
                <a:latin typeface="DM Sans"/>
              </a:rPr>
              <a:t>Pharma exporters</a:t>
            </a:r>
          </a:p>
        </p:txBody>
      </p:sp>
      <p:sp>
        <p:nvSpPr>
          <p:cNvPr id="23" name="TextBox 22"/>
          <p:cNvSpPr txBox="1"/>
          <p:nvPr/>
        </p:nvSpPr>
        <p:spPr>
          <a:xfrm>
            <a:off x="941832" y="4864608"/>
            <a:ext cx="3017520" cy="228600"/>
          </a:xfrm>
          <a:prstGeom prst="rect">
            <a:avLst/>
          </a:prstGeom>
          <a:noFill/>
        </p:spPr>
        <p:txBody>
          <a:bodyPr wrap="square" lIns="0" tIns="0" rIns="0" bIns="0" anchor="t">
            <a:spAutoFit/>
          </a:bodyPr>
          <a:lstStyle/>
          <a:p>
            <a:pPr algn="l">
              <a:lnSpc>
                <a:spcPct val="115000"/>
              </a:lnSpc>
            </a:pPr>
            <a:r>
              <a:rPr sz="880" b="0" i="0">
                <a:solidFill>
                  <a:srgbClr val="555555"/>
                </a:solidFill>
                <a:latin typeface="DM Sans"/>
              </a:rPr>
              <a:t>Margin defence + EM-priced multiples</a:t>
            </a:r>
          </a:p>
        </p:txBody>
      </p:sp>
      <p:sp>
        <p:nvSpPr>
          <p:cNvPr id="24" name="Oval 23"/>
          <p:cNvSpPr/>
          <p:nvPr/>
        </p:nvSpPr>
        <p:spPr>
          <a:xfrm>
            <a:off x="758952" y="5148072"/>
            <a:ext cx="73152" cy="73152"/>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1832" y="5047488"/>
            <a:ext cx="3017520" cy="228600"/>
          </a:xfrm>
          <a:prstGeom prst="rect">
            <a:avLst/>
          </a:prstGeom>
          <a:noFill/>
        </p:spPr>
        <p:txBody>
          <a:bodyPr wrap="square" lIns="0" tIns="0" rIns="0" bIns="0" anchor="t">
            <a:spAutoFit/>
          </a:bodyPr>
          <a:lstStyle/>
          <a:p>
            <a:pPr algn="l">
              <a:lnSpc>
                <a:spcPct val="115000"/>
              </a:lnSpc>
            </a:pPr>
            <a:r>
              <a:rPr sz="1000" b="1" i="0">
                <a:solidFill>
                  <a:srgbClr val="1A1A1A"/>
                </a:solidFill>
                <a:latin typeface="DM Sans"/>
              </a:rPr>
              <a:t>Sovereign sukuk</a:t>
            </a:r>
          </a:p>
        </p:txBody>
      </p:sp>
      <p:sp>
        <p:nvSpPr>
          <p:cNvPr id="26" name="TextBox 25"/>
          <p:cNvSpPr txBox="1"/>
          <p:nvPr/>
        </p:nvSpPr>
        <p:spPr>
          <a:xfrm>
            <a:off x="941832" y="5248656"/>
            <a:ext cx="3017520" cy="228600"/>
          </a:xfrm>
          <a:prstGeom prst="rect">
            <a:avLst/>
          </a:prstGeom>
          <a:noFill/>
        </p:spPr>
        <p:txBody>
          <a:bodyPr wrap="square" lIns="0" tIns="0" rIns="0" bIns="0" anchor="t">
            <a:spAutoFit/>
          </a:bodyPr>
          <a:lstStyle/>
          <a:p>
            <a:pPr algn="l">
              <a:lnSpc>
                <a:spcPct val="115000"/>
              </a:lnSpc>
            </a:pPr>
            <a:r>
              <a:rPr sz="880" b="0" i="0">
                <a:solidFill>
                  <a:srgbClr val="555555"/>
                </a:solidFill>
                <a:latin typeface="DM Sans"/>
              </a:rPr>
              <a:t>~10.4% rental locks 5-yr carry</a:t>
            </a:r>
          </a:p>
        </p:txBody>
      </p:sp>
      <p:sp>
        <p:nvSpPr>
          <p:cNvPr id="27" name="Oval 26"/>
          <p:cNvSpPr/>
          <p:nvPr/>
        </p:nvSpPr>
        <p:spPr>
          <a:xfrm>
            <a:off x="758952" y="5532120"/>
            <a:ext cx="73152" cy="73152"/>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41832" y="5431536"/>
            <a:ext cx="3017520" cy="228600"/>
          </a:xfrm>
          <a:prstGeom prst="rect">
            <a:avLst/>
          </a:prstGeom>
          <a:noFill/>
        </p:spPr>
        <p:txBody>
          <a:bodyPr wrap="square" lIns="0" tIns="0" rIns="0" bIns="0" anchor="t">
            <a:spAutoFit/>
          </a:bodyPr>
          <a:lstStyle/>
          <a:p>
            <a:pPr algn="l">
              <a:lnSpc>
                <a:spcPct val="115000"/>
              </a:lnSpc>
            </a:pPr>
            <a:r>
              <a:rPr sz="1000" b="1" i="0">
                <a:solidFill>
                  <a:srgbClr val="1A1A1A"/>
                </a:solidFill>
                <a:latin typeface="DM Sans"/>
              </a:rPr>
              <a:t>Banks — selective</a:t>
            </a:r>
          </a:p>
        </p:txBody>
      </p:sp>
      <p:sp>
        <p:nvSpPr>
          <p:cNvPr id="29" name="TextBox 28"/>
          <p:cNvSpPr txBox="1"/>
          <p:nvPr/>
        </p:nvSpPr>
        <p:spPr>
          <a:xfrm>
            <a:off x="941832" y="5632704"/>
            <a:ext cx="3017520" cy="228600"/>
          </a:xfrm>
          <a:prstGeom prst="rect">
            <a:avLst/>
          </a:prstGeom>
          <a:noFill/>
        </p:spPr>
        <p:txBody>
          <a:bodyPr wrap="square" lIns="0" tIns="0" rIns="0" bIns="0" anchor="t">
            <a:spAutoFit/>
          </a:bodyPr>
          <a:lstStyle/>
          <a:p>
            <a:pPr algn="l">
              <a:lnSpc>
                <a:spcPct val="115000"/>
              </a:lnSpc>
            </a:pPr>
            <a:r>
              <a:rPr sz="880" b="0" i="0">
                <a:solidFill>
                  <a:srgbClr val="555555"/>
                </a:solidFill>
                <a:latin typeface="DM Sans"/>
              </a:rPr>
              <a:t>Top-3 CRAR names only; avoid Islamic stress</a:t>
            </a:r>
          </a:p>
        </p:txBody>
      </p:sp>
      <p:sp>
        <p:nvSpPr>
          <p:cNvPr id="30" name="Oval 29"/>
          <p:cNvSpPr/>
          <p:nvPr/>
        </p:nvSpPr>
        <p:spPr>
          <a:xfrm>
            <a:off x="758952" y="5916168"/>
            <a:ext cx="73152" cy="73152"/>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41832" y="5815584"/>
            <a:ext cx="3017520" cy="228600"/>
          </a:xfrm>
          <a:prstGeom prst="rect">
            <a:avLst/>
          </a:prstGeom>
          <a:noFill/>
        </p:spPr>
        <p:txBody>
          <a:bodyPr wrap="square" lIns="0" tIns="0" rIns="0" bIns="0" anchor="t">
            <a:spAutoFit/>
          </a:bodyPr>
          <a:lstStyle/>
          <a:p>
            <a:pPr algn="l">
              <a:lnSpc>
                <a:spcPct val="115000"/>
              </a:lnSpc>
            </a:pPr>
            <a:r>
              <a:rPr sz="1000" b="1" i="0">
                <a:solidFill>
                  <a:srgbClr val="1A1A1A"/>
                </a:solidFill>
                <a:latin typeface="DM Sans"/>
              </a:rPr>
              <a:t>Avoid</a:t>
            </a:r>
          </a:p>
        </p:txBody>
      </p:sp>
      <p:sp>
        <p:nvSpPr>
          <p:cNvPr id="32" name="TextBox 31"/>
          <p:cNvSpPr txBox="1"/>
          <p:nvPr/>
        </p:nvSpPr>
        <p:spPr>
          <a:xfrm>
            <a:off x="941832" y="6016752"/>
            <a:ext cx="3017520" cy="228600"/>
          </a:xfrm>
          <a:prstGeom prst="rect">
            <a:avLst/>
          </a:prstGeom>
          <a:noFill/>
        </p:spPr>
        <p:txBody>
          <a:bodyPr wrap="square" lIns="0" tIns="0" rIns="0" bIns="0" anchor="t">
            <a:spAutoFit/>
          </a:bodyPr>
          <a:lstStyle/>
          <a:p>
            <a:pPr algn="l">
              <a:lnSpc>
                <a:spcPct val="115000"/>
              </a:lnSpc>
            </a:pPr>
            <a:r>
              <a:rPr sz="880" b="0" i="0">
                <a:solidFill>
                  <a:srgbClr val="555555"/>
                </a:solidFill>
                <a:latin typeface="DM Sans"/>
              </a:rPr>
              <a:t>Telecoms, NBFI, high-NPL Islamic banks</a:t>
            </a:r>
          </a:p>
        </p:txBody>
      </p:sp>
      <p:sp>
        <p:nvSpPr>
          <p:cNvPr id="33" name="Rounded Rectangle 32"/>
          <p:cNvSpPr/>
          <p:nvPr/>
        </p:nvSpPr>
        <p:spPr>
          <a:xfrm>
            <a:off x="4325112" y="3383280"/>
            <a:ext cx="3703320" cy="2834640"/>
          </a:xfrm>
          <a:prstGeom prst="roundRect">
            <a:avLst>
              <a:gd name="adj" fmla="val 4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325112" y="3383280"/>
            <a:ext cx="3703320" cy="91440"/>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53712" y="3584448"/>
            <a:ext cx="3246120" cy="274320"/>
          </a:xfrm>
          <a:prstGeom prst="rect">
            <a:avLst/>
          </a:prstGeom>
          <a:noFill/>
        </p:spPr>
        <p:txBody>
          <a:bodyPr wrap="square" lIns="0" tIns="0" rIns="0" bIns="0" anchor="t">
            <a:spAutoFit/>
          </a:bodyPr>
          <a:lstStyle/>
          <a:p>
            <a:pPr algn="l">
              <a:lnSpc>
                <a:spcPct val="115000"/>
              </a:lnSpc>
            </a:pPr>
            <a:r>
              <a:rPr sz="900" b="1" i="0">
                <a:solidFill>
                  <a:srgbClr val="01A7E1"/>
                </a:solidFill>
                <a:latin typeface="DM Sans"/>
              </a:rPr>
              <a:t>CATALYSTS — 6 TO 12 MONTHS</a:t>
            </a:r>
          </a:p>
        </p:txBody>
      </p:sp>
      <p:sp>
        <p:nvSpPr>
          <p:cNvPr id="36" name="TextBox 35"/>
          <p:cNvSpPr txBox="1"/>
          <p:nvPr/>
        </p:nvSpPr>
        <p:spPr>
          <a:xfrm>
            <a:off x="4553712" y="3886200"/>
            <a:ext cx="3246120" cy="292608"/>
          </a:xfrm>
          <a:prstGeom prst="rect">
            <a:avLst/>
          </a:prstGeom>
          <a:noFill/>
        </p:spPr>
        <p:txBody>
          <a:bodyPr wrap="square" lIns="0" tIns="0" rIns="0" bIns="0" anchor="t">
            <a:spAutoFit/>
          </a:bodyPr>
          <a:lstStyle/>
          <a:p>
            <a:pPr algn="l">
              <a:lnSpc>
                <a:spcPct val="115000"/>
              </a:lnSpc>
            </a:pPr>
            <a:r>
              <a:rPr sz="1250" b="1" i="0">
                <a:solidFill>
                  <a:srgbClr val="2F3691"/>
                </a:solidFill>
                <a:latin typeface="DM Sans"/>
              </a:rPr>
              <a:t>Triggers for the re-rating</a:t>
            </a:r>
          </a:p>
        </p:txBody>
      </p:sp>
      <p:sp>
        <p:nvSpPr>
          <p:cNvPr id="37" name="Oval 36"/>
          <p:cNvSpPr/>
          <p:nvPr/>
        </p:nvSpPr>
        <p:spPr>
          <a:xfrm>
            <a:off x="4526279" y="4297680"/>
            <a:ext cx="237744" cy="237744"/>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507991" y="4312856"/>
            <a:ext cx="274320" cy="274320"/>
          </a:xfrm>
          <a:prstGeom prst="rect">
            <a:avLst/>
          </a:prstGeom>
          <a:noFill/>
        </p:spPr>
        <p:txBody>
          <a:bodyPr wrap="square" lIns="0" tIns="0" rIns="0" bIns="0" anchor="t">
            <a:spAutoFit/>
          </a:bodyPr>
          <a:lstStyle/>
          <a:p>
            <a:pPr algn="ctr">
              <a:lnSpc>
                <a:spcPct val="115000"/>
              </a:lnSpc>
            </a:pPr>
            <a:r>
              <a:rPr sz="1100" b="1" i="0" dirty="0">
                <a:solidFill>
                  <a:srgbClr val="FFFFFF"/>
                </a:solidFill>
                <a:latin typeface="DM Sans"/>
              </a:rPr>
              <a:t>1</a:t>
            </a:r>
          </a:p>
        </p:txBody>
      </p:sp>
      <p:sp>
        <p:nvSpPr>
          <p:cNvPr id="39" name="TextBox 38"/>
          <p:cNvSpPr txBox="1"/>
          <p:nvPr/>
        </p:nvSpPr>
        <p:spPr>
          <a:xfrm>
            <a:off x="4919472" y="4352544"/>
            <a:ext cx="2926079" cy="274320"/>
          </a:xfrm>
          <a:prstGeom prst="rect">
            <a:avLst/>
          </a:prstGeom>
          <a:noFill/>
        </p:spPr>
        <p:txBody>
          <a:bodyPr wrap="square" lIns="0" tIns="0" rIns="0" bIns="0" anchor="t">
            <a:spAutoFit/>
          </a:bodyPr>
          <a:lstStyle/>
          <a:p>
            <a:pPr algn="l">
              <a:lnSpc>
                <a:spcPct val="120000"/>
              </a:lnSpc>
            </a:pPr>
            <a:r>
              <a:rPr sz="1000" b="0" i="0">
                <a:solidFill>
                  <a:srgbClr val="1A1A1A"/>
                </a:solidFill>
                <a:latin typeface="DM Sans"/>
              </a:rPr>
              <a:t>FY27 Budget (11 Jun-26) — CGT &amp; IMF signal</a:t>
            </a:r>
          </a:p>
        </p:txBody>
      </p:sp>
      <p:sp>
        <p:nvSpPr>
          <p:cNvPr id="40" name="Oval 39"/>
          <p:cNvSpPr/>
          <p:nvPr/>
        </p:nvSpPr>
        <p:spPr>
          <a:xfrm>
            <a:off x="4526279" y="4681728"/>
            <a:ext cx="237744" cy="237744"/>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509831" y="4704588"/>
            <a:ext cx="274320" cy="274320"/>
          </a:xfrm>
          <a:prstGeom prst="rect">
            <a:avLst/>
          </a:prstGeom>
          <a:noFill/>
        </p:spPr>
        <p:txBody>
          <a:bodyPr wrap="square" lIns="0" tIns="0" rIns="0" bIns="0" anchor="t">
            <a:spAutoFit/>
          </a:bodyPr>
          <a:lstStyle/>
          <a:p>
            <a:pPr algn="ctr">
              <a:lnSpc>
                <a:spcPct val="115000"/>
              </a:lnSpc>
            </a:pPr>
            <a:r>
              <a:rPr sz="1100" b="1" i="0" dirty="0">
                <a:solidFill>
                  <a:srgbClr val="FFFFFF"/>
                </a:solidFill>
                <a:latin typeface="DM Sans"/>
              </a:rPr>
              <a:t>2</a:t>
            </a:r>
          </a:p>
        </p:txBody>
      </p:sp>
      <p:sp>
        <p:nvSpPr>
          <p:cNvPr id="42" name="TextBox 41"/>
          <p:cNvSpPr txBox="1"/>
          <p:nvPr/>
        </p:nvSpPr>
        <p:spPr>
          <a:xfrm>
            <a:off x="4919472" y="4736592"/>
            <a:ext cx="2926079" cy="274320"/>
          </a:xfrm>
          <a:prstGeom prst="rect">
            <a:avLst/>
          </a:prstGeom>
          <a:noFill/>
        </p:spPr>
        <p:txBody>
          <a:bodyPr wrap="square" lIns="0" tIns="0" rIns="0" bIns="0" anchor="t">
            <a:spAutoFit/>
          </a:bodyPr>
          <a:lstStyle/>
          <a:p>
            <a:pPr algn="l">
              <a:lnSpc>
                <a:spcPct val="120000"/>
              </a:lnSpc>
            </a:pPr>
            <a:r>
              <a:rPr sz="1000" b="0" i="0">
                <a:solidFill>
                  <a:srgbClr val="1A1A1A"/>
                </a:solidFill>
                <a:latin typeface="DM Sans"/>
              </a:rPr>
              <a:t>New BSEC chairman + first 100-day signal</a:t>
            </a:r>
          </a:p>
        </p:txBody>
      </p:sp>
      <p:sp>
        <p:nvSpPr>
          <p:cNvPr id="43" name="Oval 42"/>
          <p:cNvSpPr/>
          <p:nvPr/>
        </p:nvSpPr>
        <p:spPr>
          <a:xfrm>
            <a:off x="4526279" y="5065776"/>
            <a:ext cx="237744" cy="237744"/>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514783" y="5094732"/>
            <a:ext cx="274320" cy="274320"/>
          </a:xfrm>
          <a:prstGeom prst="rect">
            <a:avLst/>
          </a:prstGeom>
          <a:noFill/>
        </p:spPr>
        <p:txBody>
          <a:bodyPr wrap="square" lIns="0" tIns="0" rIns="0" bIns="0" anchor="t">
            <a:spAutoFit/>
          </a:bodyPr>
          <a:lstStyle/>
          <a:p>
            <a:pPr algn="ctr">
              <a:lnSpc>
                <a:spcPct val="115000"/>
              </a:lnSpc>
            </a:pPr>
            <a:r>
              <a:rPr sz="1100" b="1" i="0" dirty="0">
                <a:solidFill>
                  <a:srgbClr val="FFFFFF"/>
                </a:solidFill>
                <a:latin typeface="DM Sans"/>
              </a:rPr>
              <a:t>3</a:t>
            </a:r>
          </a:p>
        </p:txBody>
      </p:sp>
      <p:sp>
        <p:nvSpPr>
          <p:cNvPr id="45" name="TextBox 44"/>
          <p:cNvSpPr txBox="1"/>
          <p:nvPr/>
        </p:nvSpPr>
        <p:spPr>
          <a:xfrm>
            <a:off x="4919472" y="5120640"/>
            <a:ext cx="2926079" cy="274320"/>
          </a:xfrm>
          <a:prstGeom prst="rect">
            <a:avLst/>
          </a:prstGeom>
          <a:noFill/>
        </p:spPr>
        <p:txBody>
          <a:bodyPr wrap="square" lIns="0" tIns="0" rIns="0" bIns="0" anchor="t">
            <a:spAutoFit/>
          </a:bodyPr>
          <a:lstStyle/>
          <a:p>
            <a:pPr algn="l">
              <a:lnSpc>
                <a:spcPct val="120000"/>
              </a:lnSpc>
            </a:pPr>
            <a:r>
              <a:rPr sz="1000" b="0" i="0">
                <a:solidFill>
                  <a:srgbClr val="1A1A1A"/>
                </a:solidFill>
                <a:latin typeface="DM Sans"/>
              </a:rPr>
              <a:t>CCBL go-live + T+1 rollout date</a:t>
            </a:r>
          </a:p>
        </p:txBody>
      </p:sp>
      <p:sp>
        <p:nvSpPr>
          <p:cNvPr id="46" name="Oval 45"/>
          <p:cNvSpPr/>
          <p:nvPr/>
        </p:nvSpPr>
        <p:spPr>
          <a:xfrm>
            <a:off x="4526279" y="5449824"/>
            <a:ext cx="237744" cy="237744"/>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503420" y="5472684"/>
            <a:ext cx="274320" cy="274320"/>
          </a:xfrm>
          <a:prstGeom prst="rect">
            <a:avLst/>
          </a:prstGeom>
          <a:noFill/>
        </p:spPr>
        <p:txBody>
          <a:bodyPr wrap="square" lIns="0" tIns="0" rIns="0" bIns="0" anchor="t">
            <a:spAutoFit/>
          </a:bodyPr>
          <a:lstStyle/>
          <a:p>
            <a:pPr algn="ctr">
              <a:lnSpc>
                <a:spcPct val="115000"/>
              </a:lnSpc>
            </a:pPr>
            <a:r>
              <a:rPr sz="1100" b="1" i="0" dirty="0">
                <a:solidFill>
                  <a:srgbClr val="FFFFFF"/>
                </a:solidFill>
                <a:latin typeface="DM Sans"/>
              </a:rPr>
              <a:t>4</a:t>
            </a:r>
          </a:p>
        </p:txBody>
      </p:sp>
      <p:sp>
        <p:nvSpPr>
          <p:cNvPr id="48" name="TextBox 47"/>
          <p:cNvSpPr txBox="1"/>
          <p:nvPr/>
        </p:nvSpPr>
        <p:spPr>
          <a:xfrm>
            <a:off x="4919472" y="5504688"/>
            <a:ext cx="2926079" cy="274320"/>
          </a:xfrm>
          <a:prstGeom prst="rect">
            <a:avLst/>
          </a:prstGeom>
          <a:noFill/>
        </p:spPr>
        <p:txBody>
          <a:bodyPr wrap="square" lIns="0" tIns="0" rIns="0" bIns="0" anchor="t">
            <a:spAutoFit/>
          </a:bodyPr>
          <a:lstStyle/>
          <a:p>
            <a:pPr algn="l">
              <a:lnSpc>
                <a:spcPct val="120000"/>
              </a:lnSpc>
            </a:pPr>
            <a:r>
              <a:rPr sz="1000" b="0" i="0">
                <a:solidFill>
                  <a:srgbClr val="1A1A1A"/>
                </a:solidFill>
                <a:latin typeface="DM Sans"/>
              </a:rPr>
              <a:t>MSCI Nov-26 semi-annual review</a:t>
            </a:r>
          </a:p>
        </p:txBody>
      </p:sp>
      <p:sp>
        <p:nvSpPr>
          <p:cNvPr id="49" name="Oval 48"/>
          <p:cNvSpPr/>
          <p:nvPr/>
        </p:nvSpPr>
        <p:spPr>
          <a:xfrm>
            <a:off x="4526279" y="5833872"/>
            <a:ext cx="237744" cy="237744"/>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514783" y="5857071"/>
            <a:ext cx="274320" cy="274320"/>
          </a:xfrm>
          <a:prstGeom prst="rect">
            <a:avLst/>
          </a:prstGeom>
          <a:noFill/>
        </p:spPr>
        <p:txBody>
          <a:bodyPr wrap="square" lIns="0" tIns="0" rIns="0" bIns="0" anchor="t">
            <a:spAutoFit/>
          </a:bodyPr>
          <a:lstStyle/>
          <a:p>
            <a:pPr algn="ctr">
              <a:lnSpc>
                <a:spcPct val="115000"/>
              </a:lnSpc>
            </a:pPr>
            <a:r>
              <a:rPr sz="1100" b="1" i="0">
                <a:solidFill>
                  <a:srgbClr val="FFFFFF"/>
                </a:solidFill>
                <a:latin typeface="DM Sans"/>
              </a:rPr>
              <a:t>5</a:t>
            </a:r>
          </a:p>
        </p:txBody>
      </p:sp>
      <p:sp>
        <p:nvSpPr>
          <p:cNvPr id="51" name="TextBox 50"/>
          <p:cNvSpPr txBox="1"/>
          <p:nvPr/>
        </p:nvSpPr>
        <p:spPr>
          <a:xfrm>
            <a:off x="4919472" y="5888736"/>
            <a:ext cx="2926079" cy="274320"/>
          </a:xfrm>
          <a:prstGeom prst="rect">
            <a:avLst/>
          </a:prstGeom>
          <a:noFill/>
        </p:spPr>
        <p:txBody>
          <a:bodyPr wrap="square" lIns="0" tIns="0" rIns="0" bIns="0" anchor="t">
            <a:spAutoFit/>
          </a:bodyPr>
          <a:lstStyle/>
          <a:p>
            <a:pPr algn="l">
              <a:lnSpc>
                <a:spcPct val="120000"/>
              </a:lnSpc>
            </a:pPr>
            <a:r>
              <a:rPr sz="1000" b="0" i="0">
                <a:solidFill>
                  <a:srgbClr val="1A1A1A"/>
                </a:solidFill>
                <a:latin typeface="DM Sans"/>
              </a:rPr>
              <a:t>CPI &lt;7% → BB rate-cut window</a:t>
            </a:r>
          </a:p>
        </p:txBody>
      </p:sp>
      <p:sp>
        <p:nvSpPr>
          <p:cNvPr id="52" name="Rounded Rectangle 51"/>
          <p:cNvSpPr/>
          <p:nvPr/>
        </p:nvSpPr>
        <p:spPr>
          <a:xfrm>
            <a:off x="8147304" y="3383280"/>
            <a:ext cx="3703320" cy="2834640"/>
          </a:xfrm>
          <a:prstGeom prst="roundRect">
            <a:avLst>
              <a:gd name="adj" fmla="val 4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8147304" y="3383280"/>
            <a:ext cx="3703320" cy="91440"/>
          </a:xfrm>
          <a:prstGeom prst="rect">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375904" y="3584448"/>
            <a:ext cx="3246120" cy="274320"/>
          </a:xfrm>
          <a:prstGeom prst="rect">
            <a:avLst/>
          </a:prstGeom>
          <a:noFill/>
        </p:spPr>
        <p:txBody>
          <a:bodyPr wrap="square" lIns="0" tIns="0" rIns="0" bIns="0" anchor="t">
            <a:spAutoFit/>
          </a:bodyPr>
          <a:lstStyle/>
          <a:p>
            <a:pPr algn="l">
              <a:lnSpc>
                <a:spcPct val="115000"/>
              </a:lnSpc>
            </a:pPr>
            <a:r>
              <a:rPr sz="900" b="1" i="0">
                <a:solidFill>
                  <a:srgbClr val="2F3691"/>
                </a:solidFill>
                <a:latin typeface="DM Sans"/>
              </a:rPr>
              <a:t>RISKS TO UNDERWRITE</a:t>
            </a:r>
          </a:p>
        </p:txBody>
      </p:sp>
      <p:sp>
        <p:nvSpPr>
          <p:cNvPr id="55" name="TextBox 54"/>
          <p:cNvSpPr txBox="1"/>
          <p:nvPr/>
        </p:nvSpPr>
        <p:spPr>
          <a:xfrm>
            <a:off x="8375904" y="3886200"/>
            <a:ext cx="3246120" cy="292608"/>
          </a:xfrm>
          <a:prstGeom prst="rect">
            <a:avLst/>
          </a:prstGeom>
          <a:noFill/>
        </p:spPr>
        <p:txBody>
          <a:bodyPr wrap="square" lIns="0" tIns="0" rIns="0" bIns="0" anchor="t">
            <a:spAutoFit/>
          </a:bodyPr>
          <a:lstStyle/>
          <a:p>
            <a:pPr algn="l">
              <a:lnSpc>
                <a:spcPct val="115000"/>
              </a:lnSpc>
            </a:pPr>
            <a:r>
              <a:rPr sz="1250" b="1" i="0">
                <a:solidFill>
                  <a:srgbClr val="2F3691"/>
                </a:solidFill>
                <a:latin typeface="DM Sans"/>
              </a:rPr>
              <a:t>What can break the thesis</a:t>
            </a:r>
          </a:p>
        </p:txBody>
      </p:sp>
      <p:sp>
        <p:nvSpPr>
          <p:cNvPr id="56" name="Oval 55"/>
          <p:cNvSpPr/>
          <p:nvPr/>
        </p:nvSpPr>
        <p:spPr>
          <a:xfrm>
            <a:off x="8348471" y="4297680"/>
            <a:ext cx="237744" cy="237744"/>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741664" y="4352544"/>
            <a:ext cx="2926079" cy="274320"/>
          </a:xfrm>
          <a:prstGeom prst="rect">
            <a:avLst/>
          </a:prstGeom>
          <a:noFill/>
        </p:spPr>
        <p:txBody>
          <a:bodyPr wrap="square" lIns="0" tIns="0" rIns="0" bIns="0" anchor="t">
            <a:spAutoFit/>
          </a:bodyPr>
          <a:lstStyle/>
          <a:p>
            <a:pPr algn="l">
              <a:lnSpc>
                <a:spcPct val="120000"/>
              </a:lnSpc>
            </a:pPr>
            <a:r>
              <a:rPr sz="1000" b="0" i="0">
                <a:solidFill>
                  <a:srgbClr val="1A1A1A"/>
                </a:solidFill>
                <a:latin typeface="DM Sans"/>
              </a:rPr>
              <a:t>IMF 5th-tranche delay / successor lapse</a:t>
            </a:r>
          </a:p>
        </p:txBody>
      </p:sp>
      <p:sp>
        <p:nvSpPr>
          <p:cNvPr id="59" name="Oval 58"/>
          <p:cNvSpPr/>
          <p:nvPr/>
        </p:nvSpPr>
        <p:spPr>
          <a:xfrm>
            <a:off x="8348471" y="4681728"/>
            <a:ext cx="237744" cy="237744"/>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741664" y="4736592"/>
            <a:ext cx="2926079" cy="274320"/>
          </a:xfrm>
          <a:prstGeom prst="rect">
            <a:avLst/>
          </a:prstGeom>
          <a:noFill/>
        </p:spPr>
        <p:txBody>
          <a:bodyPr wrap="square" lIns="0" tIns="0" rIns="0" bIns="0" anchor="t">
            <a:spAutoFit/>
          </a:bodyPr>
          <a:lstStyle/>
          <a:p>
            <a:pPr algn="l">
              <a:lnSpc>
                <a:spcPct val="120000"/>
              </a:lnSpc>
            </a:pPr>
            <a:r>
              <a:rPr sz="1000" b="0" i="0">
                <a:solidFill>
                  <a:srgbClr val="1A1A1A"/>
                </a:solidFill>
                <a:latin typeface="DM Sans"/>
              </a:rPr>
              <a:t>Iran war: LNG / power outages persist</a:t>
            </a:r>
          </a:p>
        </p:txBody>
      </p:sp>
      <p:sp>
        <p:nvSpPr>
          <p:cNvPr id="62" name="Oval 61"/>
          <p:cNvSpPr/>
          <p:nvPr/>
        </p:nvSpPr>
        <p:spPr>
          <a:xfrm>
            <a:off x="8348471" y="5065776"/>
            <a:ext cx="237744" cy="237744"/>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741664" y="5120640"/>
            <a:ext cx="2926079" cy="274320"/>
          </a:xfrm>
          <a:prstGeom prst="rect">
            <a:avLst/>
          </a:prstGeom>
          <a:noFill/>
        </p:spPr>
        <p:txBody>
          <a:bodyPr wrap="square" lIns="0" tIns="0" rIns="0" bIns="0" anchor="t">
            <a:spAutoFit/>
          </a:bodyPr>
          <a:lstStyle/>
          <a:p>
            <a:pPr algn="l">
              <a:lnSpc>
                <a:spcPct val="120000"/>
              </a:lnSpc>
            </a:pPr>
            <a:r>
              <a:rPr sz="1000" b="0" i="0">
                <a:solidFill>
                  <a:srgbClr val="1A1A1A"/>
                </a:solidFill>
                <a:latin typeface="DM Sans"/>
              </a:rPr>
              <a:t>NPL recognition wave hits bank EPS</a:t>
            </a:r>
          </a:p>
        </p:txBody>
      </p:sp>
      <p:sp>
        <p:nvSpPr>
          <p:cNvPr id="65" name="Oval 64"/>
          <p:cNvSpPr/>
          <p:nvPr/>
        </p:nvSpPr>
        <p:spPr>
          <a:xfrm>
            <a:off x="8348471" y="5449824"/>
            <a:ext cx="237744" cy="237744"/>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741664" y="5504688"/>
            <a:ext cx="2926079" cy="274320"/>
          </a:xfrm>
          <a:prstGeom prst="rect">
            <a:avLst/>
          </a:prstGeom>
          <a:noFill/>
        </p:spPr>
        <p:txBody>
          <a:bodyPr wrap="square" lIns="0" tIns="0" rIns="0" bIns="0" anchor="t">
            <a:spAutoFit/>
          </a:bodyPr>
          <a:lstStyle/>
          <a:p>
            <a:pPr algn="l">
              <a:lnSpc>
                <a:spcPct val="120000"/>
              </a:lnSpc>
            </a:pPr>
            <a:r>
              <a:rPr sz="1000" b="0" i="0">
                <a:solidFill>
                  <a:srgbClr val="1A1A1A"/>
                </a:solidFill>
                <a:latin typeface="DM Sans"/>
              </a:rPr>
              <a:t>Disorderly BSEC chairman handover</a:t>
            </a:r>
          </a:p>
        </p:txBody>
      </p:sp>
      <p:sp>
        <p:nvSpPr>
          <p:cNvPr id="68" name="Oval 67"/>
          <p:cNvSpPr/>
          <p:nvPr/>
        </p:nvSpPr>
        <p:spPr>
          <a:xfrm>
            <a:off x="8348471" y="5833872"/>
            <a:ext cx="237744" cy="237744"/>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73" name="Group 72">
            <a:extLst>
              <a:ext uri="{FF2B5EF4-FFF2-40B4-BE49-F238E27FC236}">
                <a16:creationId xmlns:a16="http://schemas.microsoft.com/office/drawing/2014/main" id="{B0E0E1FA-036F-CDB3-07D6-35F3664DCC47}"/>
              </a:ext>
            </a:extLst>
          </p:cNvPr>
          <p:cNvGrpSpPr/>
          <p:nvPr/>
        </p:nvGrpSpPr>
        <p:grpSpPr>
          <a:xfrm>
            <a:off x="8337296" y="4307840"/>
            <a:ext cx="274320" cy="1810512"/>
            <a:chOff x="8357616" y="4297680"/>
            <a:chExt cx="274320" cy="1810512"/>
          </a:xfrm>
        </p:grpSpPr>
        <p:sp>
          <p:nvSpPr>
            <p:cNvPr id="57" name="TextBox 56"/>
            <p:cNvSpPr txBox="1"/>
            <p:nvPr/>
          </p:nvSpPr>
          <p:spPr>
            <a:xfrm>
              <a:off x="8357616" y="4297680"/>
              <a:ext cx="274320" cy="274320"/>
            </a:xfrm>
            <a:prstGeom prst="rect">
              <a:avLst/>
            </a:prstGeom>
            <a:noFill/>
          </p:spPr>
          <p:txBody>
            <a:bodyPr wrap="square" lIns="0" tIns="0" rIns="0" bIns="0" anchor="t">
              <a:spAutoFit/>
            </a:bodyPr>
            <a:lstStyle/>
            <a:p>
              <a:pPr algn="ctr">
                <a:lnSpc>
                  <a:spcPct val="115000"/>
                </a:lnSpc>
              </a:pPr>
              <a:r>
                <a:rPr sz="1200" b="1" i="0">
                  <a:solidFill>
                    <a:srgbClr val="FFFFFF"/>
                  </a:solidFill>
                  <a:latin typeface="DM Sans"/>
                </a:rPr>
                <a:t>!</a:t>
              </a:r>
            </a:p>
          </p:txBody>
        </p:sp>
        <p:sp>
          <p:nvSpPr>
            <p:cNvPr id="60" name="TextBox 59"/>
            <p:cNvSpPr txBox="1"/>
            <p:nvPr/>
          </p:nvSpPr>
          <p:spPr>
            <a:xfrm>
              <a:off x="8357616" y="4681728"/>
              <a:ext cx="274320" cy="274320"/>
            </a:xfrm>
            <a:prstGeom prst="rect">
              <a:avLst/>
            </a:prstGeom>
            <a:noFill/>
          </p:spPr>
          <p:txBody>
            <a:bodyPr wrap="square" lIns="0" tIns="0" rIns="0" bIns="0" anchor="t">
              <a:spAutoFit/>
            </a:bodyPr>
            <a:lstStyle/>
            <a:p>
              <a:pPr algn="ctr">
                <a:lnSpc>
                  <a:spcPct val="115000"/>
                </a:lnSpc>
              </a:pPr>
              <a:r>
                <a:rPr sz="1200" b="1" i="0">
                  <a:solidFill>
                    <a:srgbClr val="FFFFFF"/>
                  </a:solidFill>
                  <a:latin typeface="DM Sans"/>
                </a:rPr>
                <a:t>!</a:t>
              </a:r>
            </a:p>
          </p:txBody>
        </p:sp>
        <p:sp>
          <p:nvSpPr>
            <p:cNvPr id="63" name="TextBox 62"/>
            <p:cNvSpPr txBox="1"/>
            <p:nvPr/>
          </p:nvSpPr>
          <p:spPr>
            <a:xfrm>
              <a:off x="8357616" y="5065776"/>
              <a:ext cx="274320" cy="274320"/>
            </a:xfrm>
            <a:prstGeom prst="rect">
              <a:avLst/>
            </a:prstGeom>
            <a:noFill/>
          </p:spPr>
          <p:txBody>
            <a:bodyPr wrap="square" lIns="0" tIns="0" rIns="0" bIns="0" anchor="t">
              <a:spAutoFit/>
            </a:bodyPr>
            <a:lstStyle/>
            <a:p>
              <a:pPr algn="ctr">
                <a:lnSpc>
                  <a:spcPct val="115000"/>
                </a:lnSpc>
              </a:pPr>
              <a:r>
                <a:rPr sz="1200" b="1" i="0">
                  <a:solidFill>
                    <a:srgbClr val="FFFFFF"/>
                  </a:solidFill>
                  <a:latin typeface="DM Sans"/>
                </a:rPr>
                <a:t>!</a:t>
              </a:r>
            </a:p>
          </p:txBody>
        </p:sp>
        <p:sp>
          <p:nvSpPr>
            <p:cNvPr id="66" name="TextBox 65"/>
            <p:cNvSpPr txBox="1"/>
            <p:nvPr/>
          </p:nvSpPr>
          <p:spPr>
            <a:xfrm>
              <a:off x="8357616" y="5449824"/>
              <a:ext cx="274320" cy="274320"/>
            </a:xfrm>
            <a:prstGeom prst="rect">
              <a:avLst/>
            </a:prstGeom>
            <a:noFill/>
          </p:spPr>
          <p:txBody>
            <a:bodyPr wrap="square" lIns="0" tIns="0" rIns="0" bIns="0" anchor="t">
              <a:spAutoFit/>
            </a:bodyPr>
            <a:lstStyle/>
            <a:p>
              <a:pPr algn="ctr">
                <a:lnSpc>
                  <a:spcPct val="115000"/>
                </a:lnSpc>
              </a:pPr>
              <a:r>
                <a:rPr sz="1200" b="1" i="0">
                  <a:solidFill>
                    <a:srgbClr val="FFFFFF"/>
                  </a:solidFill>
                  <a:latin typeface="DM Sans"/>
                </a:rPr>
                <a:t>!</a:t>
              </a:r>
            </a:p>
          </p:txBody>
        </p:sp>
        <p:sp>
          <p:nvSpPr>
            <p:cNvPr id="69" name="TextBox 68"/>
            <p:cNvSpPr txBox="1"/>
            <p:nvPr/>
          </p:nvSpPr>
          <p:spPr>
            <a:xfrm>
              <a:off x="8357616" y="5833872"/>
              <a:ext cx="274320" cy="274320"/>
            </a:xfrm>
            <a:prstGeom prst="rect">
              <a:avLst/>
            </a:prstGeom>
            <a:noFill/>
          </p:spPr>
          <p:txBody>
            <a:bodyPr wrap="square" lIns="0" tIns="0" rIns="0" bIns="0" anchor="t">
              <a:spAutoFit/>
            </a:bodyPr>
            <a:lstStyle/>
            <a:p>
              <a:pPr algn="ctr">
                <a:lnSpc>
                  <a:spcPct val="115000"/>
                </a:lnSpc>
              </a:pPr>
              <a:r>
                <a:rPr sz="1200" b="1" i="0">
                  <a:solidFill>
                    <a:srgbClr val="FFFFFF"/>
                  </a:solidFill>
                  <a:latin typeface="DM Sans"/>
                </a:rPr>
                <a:t>!</a:t>
              </a:r>
            </a:p>
          </p:txBody>
        </p:sp>
      </p:grpSp>
      <p:sp>
        <p:nvSpPr>
          <p:cNvPr id="70" name="TextBox 69"/>
          <p:cNvSpPr txBox="1"/>
          <p:nvPr/>
        </p:nvSpPr>
        <p:spPr>
          <a:xfrm>
            <a:off x="8741664" y="5888736"/>
            <a:ext cx="2926079" cy="274320"/>
          </a:xfrm>
          <a:prstGeom prst="rect">
            <a:avLst/>
          </a:prstGeom>
          <a:noFill/>
        </p:spPr>
        <p:txBody>
          <a:bodyPr wrap="square" lIns="0" tIns="0" rIns="0" bIns="0" anchor="t">
            <a:spAutoFit/>
          </a:bodyPr>
          <a:lstStyle/>
          <a:p>
            <a:pPr algn="l">
              <a:lnSpc>
                <a:spcPct val="120000"/>
              </a:lnSpc>
            </a:pPr>
            <a:r>
              <a:rPr sz="1000" b="0" i="0">
                <a:solidFill>
                  <a:srgbClr val="1A1A1A"/>
                </a:solidFill>
                <a:latin typeface="DM Sans"/>
              </a:rPr>
              <a:t>US tariff renegotiation in 2026</a:t>
            </a:r>
          </a:p>
        </p:txBody>
      </p:sp>
      <p:sp>
        <p:nvSpPr>
          <p:cNvPr id="71" name="TextBox 70"/>
          <p:cNvSpPr txBox="1"/>
          <p:nvPr/>
        </p:nvSpPr>
        <p:spPr>
          <a:xfrm>
            <a:off x="502920" y="6537960"/>
            <a:ext cx="9144000" cy="127086"/>
          </a:xfrm>
          <a:prstGeom prst="rect">
            <a:avLst/>
          </a:prstGeom>
          <a:noFill/>
        </p:spPr>
        <p:txBody>
          <a:bodyPr wrap="square" lIns="0" tIns="0" rIns="0" bIns="0" anchor="t">
            <a:spAutoFit/>
          </a:bodyPr>
          <a:lstStyle/>
          <a:p>
            <a:pPr algn="l">
              <a:lnSpc>
                <a:spcPct val="115000"/>
              </a:lnSpc>
            </a:pPr>
            <a:r>
              <a:rPr sz="750" b="0" i="1" dirty="0">
                <a:solidFill>
                  <a:srgbClr val="8A8A8A"/>
                </a:solidFill>
                <a:latin typeface="DM Sans"/>
              </a:rPr>
              <a:t>Sources: CAL Bangladesh Research view. Sources: CEIC; DSE; BSEC; IMF (Jan-26 Art-IV); World Bank (Apr-26 BDU); TBS; Daily Star; Daily Sun; MSCI. </a:t>
            </a:r>
          </a:p>
        </p:txBody>
      </p:sp>
      <p:sp>
        <p:nvSpPr>
          <p:cNvPr id="72" name="TextBox 71"/>
          <p:cNvSpPr txBox="1"/>
          <p:nvPr/>
        </p:nvSpPr>
        <p:spPr>
          <a:xfrm>
            <a:off x="10515600" y="6537960"/>
            <a:ext cx="1188720" cy="135486"/>
          </a:xfrm>
          <a:prstGeom prst="rect">
            <a:avLst/>
          </a:prstGeom>
          <a:noFill/>
        </p:spPr>
        <p:txBody>
          <a:bodyPr wrap="square" lIns="0" tIns="0" rIns="0" bIns="0" anchor="t">
            <a:spAutoFit/>
          </a:bodyPr>
          <a:lstStyle/>
          <a:p>
            <a:pPr algn="r">
              <a:lnSpc>
                <a:spcPct val="115000"/>
              </a:lnSpc>
            </a:pPr>
            <a:r>
              <a:rPr sz="800" b="0" i="0" dirty="0">
                <a:solidFill>
                  <a:srgbClr val="8A8A8A"/>
                </a:solidFill>
                <a:latin typeface="DM Sans"/>
              </a:rPr>
              <a:t>8 </a:t>
            </a:r>
          </a:p>
        </p:txBody>
      </p:sp>
      <p:pic>
        <p:nvPicPr>
          <p:cNvPr id="74" name="Picture 73">
            <a:extLst>
              <a:ext uri="{FF2B5EF4-FFF2-40B4-BE49-F238E27FC236}">
                <a16:creationId xmlns:a16="http://schemas.microsoft.com/office/drawing/2014/main" id="{AFD74B8E-731B-3916-E653-4D0B80FBEAD6}"/>
              </a:ext>
            </a:extLst>
          </p:cNvPr>
          <p:cNvPicPr>
            <a:picLocks noChangeAspect="1"/>
          </p:cNvPicPr>
          <p:nvPr/>
        </p:nvPicPr>
        <p:blipFill>
          <a:blip r:embed="rId2"/>
          <a:stretch>
            <a:fillRect/>
          </a:stretch>
        </p:blipFill>
        <p:spPr>
          <a:xfrm>
            <a:off x="432816" y="131673"/>
            <a:ext cx="1072825" cy="54370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8C32D-1425-92F4-B0DB-274C617F7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DED806-8DD2-9EB2-70C1-CDE23EF29024}"/>
              </a:ext>
            </a:extLst>
          </p:cNvPr>
          <p:cNvSpPr>
            <a:spLocks noGrp="1"/>
          </p:cNvSpPr>
          <p:nvPr>
            <p:ph type="title"/>
          </p:nvPr>
        </p:nvSpPr>
        <p:spPr/>
        <p:txBody>
          <a:bodyPr>
            <a:noAutofit/>
          </a:bodyPr>
          <a:lstStyle/>
          <a:p>
            <a:r>
              <a:rPr lang="en-US" dirty="0">
                <a:latin typeface="Qanelas Soft Bold" panose="00000800000000000000" pitchFamily="50" charset="0"/>
              </a:rPr>
              <a:t>Disclaimer</a:t>
            </a:r>
            <a:endParaRPr lang="en-US" dirty="0"/>
          </a:p>
        </p:txBody>
      </p:sp>
      <p:sp>
        <p:nvSpPr>
          <p:cNvPr id="18" name="TextBox 17">
            <a:extLst>
              <a:ext uri="{FF2B5EF4-FFF2-40B4-BE49-F238E27FC236}">
                <a16:creationId xmlns:a16="http://schemas.microsoft.com/office/drawing/2014/main" id="{41E34920-EB53-8B16-7FED-F12D07D24191}"/>
              </a:ext>
            </a:extLst>
          </p:cNvPr>
          <p:cNvSpPr txBox="1"/>
          <p:nvPr/>
        </p:nvSpPr>
        <p:spPr>
          <a:xfrm>
            <a:off x="256805" y="767133"/>
            <a:ext cx="11622659" cy="178510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7F7F7F"/>
                </a:solidFill>
                <a:effectLst/>
                <a:uLnTx/>
                <a:uFillTx/>
                <a:latin typeface="Qanelas Soft" panose="00000500000000000000" pitchFamily="50" charset="0"/>
                <a:ea typeface="+mn-ea"/>
                <a:cs typeface="+mn-cs"/>
              </a:rPr>
              <a:t>This document has been prepared and issued based on publicly available information, internally developed data and other sources, believed to be reliable. CAL Securities Ltd. however does not warrant its completeness or accuracy. Opinions and estimates given constitute a judgement as of the date of the material and are subject to change without notice. This report is not intended as an offer or solicitation for the purchase or sale of any financial instrument. The recipient of this report must make their own independent decision regarding any securities, investments or financial instruments mentioned herein. Securities or financial instruments mentioned may not be suitable to all investors. Investment in securities or financial instruments involves a degree of risk and investors should not invest any funds unless they can afford to take the risk of losing their investment. Investors are advised to read the risk factors carefully before taking an investment decision. For taking an investment decision, investors must rely on their own examination of the concerned issuer of securities or financial instruments and the offer including the risks involved. CAL Securities Ltd. its directors, officers, consultants, employees, outsourced research providers associates or business partner, will not be responsible, for any claims damages, compensation, suits, damages, loss, costs, charges, expenses, outgoing or payments including attorney’s fees which recipients of the reports suffers or incurs directly or indirectly arising out actions taken as a result of this report. This report is for the use of the intended recipient only. Access, disclosure, copying, distribution or reliance on any of it by anyone else is prohibited and may be a criminal offence.</a:t>
            </a:r>
          </a:p>
        </p:txBody>
      </p:sp>
      <p:graphicFrame>
        <p:nvGraphicFramePr>
          <p:cNvPr id="29" name="Table 28">
            <a:extLst>
              <a:ext uri="{FF2B5EF4-FFF2-40B4-BE49-F238E27FC236}">
                <a16:creationId xmlns:a16="http://schemas.microsoft.com/office/drawing/2014/main" id="{1F7A57D9-BE42-B4A6-1211-4B17AAC23583}"/>
              </a:ext>
            </a:extLst>
          </p:cNvPr>
          <p:cNvGraphicFramePr>
            <a:graphicFrameLocks noGrp="1"/>
          </p:cNvGraphicFramePr>
          <p:nvPr>
            <p:extLst>
              <p:ext uri="{D42A27DB-BD31-4B8C-83A1-F6EECF244321}">
                <p14:modId xmlns:p14="http://schemas.microsoft.com/office/powerpoint/2010/main" val="3784449016"/>
              </p:ext>
            </p:extLst>
          </p:nvPr>
        </p:nvGraphicFramePr>
        <p:xfrm>
          <a:off x="345442" y="2702012"/>
          <a:ext cx="11622659" cy="3283980"/>
        </p:xfrm>
        <a:graphic>
          <a:graphicData uri="http://schemas.openxmlformats.org/drawingml/2006/table">
            <a:tbl>
              <a:tblPr/>
              <a:tblGrid>
                <a:gridCol w="4435313">
                  <a:extLst>
                    <a:ext uri="{9D8B030D-6E8A-4147-A177-3AD203B41FA5}">
                      <a16:colId xmlns:a16="http://schemas.microsoft.com/office/drawing/2014/main" val="2771124515"/>
                    </a:ext>
                  </a:extLst>
                </a:gridCol>
                <a:gridCol w="3553595">
                  <a:extLst>
                    <a:ext uri="{9D8B030D-6E8A-4147-A177-3AD203B41FA5}">
                      <a16:colId xmlns:a16="http://schemas.microsoft.com/office/drawing/2014/main" val="2167360954"/>
                    </a:ext>
                  </a:extLst>
                </a:gridCol>
                <a:gridCol w="3633751">
                  <a:extLst>
                    <a:ext uri="{9D8B030D-6E8A-4147-A177-3AD203B41FA5}">
                      <a16:colId xmlns:a16="http://schemas.microsoft.com/office/drawing/2014/main" val="4268800963"/>
                    </a:ext>
                  </a:extLst>
                </a:gridCol>
              </a:tblGrid>
              <a:tr h="200005">
                <a:tc>
                  <a:txBody>
                    <a:bodyPr/>
                    <a:lstStyle/>
                    <a:p>
                      <a:pPr algn="l" fontAlgn="ctr">
                        <a:buNone/>
                      </a:pPr>
                      <a:r>
                        <a:rPr lang="en-US" sz="1400" b="1" i="0" u="none" strike="noStrike" dirty="0">
                          <a:solidFill>
                            <a:srgbClr val="7F7F7F"/>
                          </a:solidFill>
                          <a:effectLst/>
                          <a:latin typeface="Qanelas Soft Bold" panose="00000800000000000000" pitchFamily="50" charset="0"/>
                        </a:rPr>
                        <a:t>Research</a:t>
                      </a:r>
                    </a:p>
                  </a:txBody>
                  <a:tcPr marL="7620" marR="7620" marT="7620" marB="0" anchor="ctr">
                    <a:lnL>
                      <a:noFill/>
                    </a:lnL>
                    <a:lnR>
                      <a:noFill/>
                    </a:lnR>
                    <a:lnT>
                      <a:noFill/>
                    </a:lnT>
                    <a:lnB>
                      <a:noFill/>
                    </a:lnB>
                    <a:noFill/>
                  </a:tcPr>
                </a:tc>
                <a:tc>
                  <a:txBody>
                    <a:bodyPr/>
                    <a:lstStyle/>
                    <a:p>
                      <a:pPr algn="l" fontAlgn="ctr">
                        <a:buNone/>
                      </a:pPr>
                      <a:endParaRPr lang="en-US" sz="1100" b="0" i="0" u="none" strike="noStrike">
                        <a:solidFill>
                          <a:srgbClr val="7F7F7F"/>
                        </a:solidFill>
                        <a:effectLst/>
                        <a:latin typeface="Qanelas Soft" panose="00000500000000000000" pitchFamily="50" charset="0"/>
                      </a:endParaRPr>
                    </a:p>
                  </a:txBody>
                  <a:tcPr marL="7620" marR="7620" marT="7620" marB="0" anchor="ctr">
                    <a:lnL>
                      <a:noFill/>
                    </a:lnL>
                    <a:lnR>
                      <a:noFill/>
                    </a:lnR>
                    <a:lnT>
                      <a:noFill/>
                    </a:lnT>
                    <a:lnB>
                      <a:noFill/>
                    </a:lnB>
                    <a:noFill/>
                  </a:tcPr>
                </a:tc>
                <a:tc>
                  <a:txBody>
                    <a:bodyPr/>
                    <a:lstStyle/>
                    <a:p>
                      <a:pPr algn="l" fontAlgn="b">
                        <a:buNone/>
                      </a:pPr>
                      <a:endParaRPr lang="en-US" sz="14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extLst>
                  <a:ext uri="{0D108BD9-81ED-4DB2-BD59-A6C34878D82A}">
                    <a16:rowId xmlns:a16="http://schemas.microsoft.com/office/drawing/2014/main" val="2945235089"/>
                  </a:ext>
                </a:extLst>
              </a:tr>
              <a:tr h="200005">
                <a:tc>
                  <a:txBody>
                    <a:bodyPr/>
                    <a:lstStyle/>
                    <a:p>
                      <a:pPr algn="l" fontAlgn="ctr">
                        <a:buNone/>
                      </a:pPr>
                      <a:r>
                        <a:rPr lang="en-US" sz="1000" b="0" i="0" u="none" strike="noStrike" dirty="0">
                          <a:solidFill>
                            <a:srgbClr val="7F7F7F"/>
                          </a:solidFill>
                          <a:effectLst/>
                          <a:latin typeface="Qanelas Soft Bold" panose="00000800000000000000" pitchFamily="50" charset="0"/>
                        </a:rPr>
                        <a:t>Humayra Afroz</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Bold" panose="00000800000000000000" pitchFamily="50" charset="0"/>
                        </a:rPr>
                        <a:t>Md. Asif Iqbal </a:t>
                      </a:r>
                      <a:r>
                        <a:rPr lang="en-US" sz="1000" b="0" i="0" u="none" strike="noStrike" dirty="0" err="1">
                          <a:solidFill>
                            <a:srgbClr val="7F7F7F"/>
                          </a:solidFill>
                          <a:effectLst/>
                          <a:latin typeface="Qanelas Soft Bold" panose="00000800000000000000" pitchFamily="50" charset="0"/>
                        </a:rPr>
                        <a:t>Shajid</a:t>
                      </a:r>
                      <a:endParaRPr lang="en-US" sz="1000" b="0" i="0" u="none" strike="noStrike" dirty="0">
                        <a:solidFill>
                          <a:srgbClr val="7F7F7F"/>
                        </a:solidFill>
                        <a:effectLst/>
                        <a:latin typeface="Qanelas Soft Bold" panose="00000800000000000000" pitchFamily="50" charset="0"/>
                      </a:endParaRPr>
                    </a:p>
                  </a:txBody>
                  <a:tcPr marL="7620" marR="7620" marT="7620" marB="0" anchor="ctr">
                    <a:lnL>
                      <a:noFill/>
                    </a:lnL>
                    <a:lnR>
                      <a:noFill/>
                    </a:lnR>
                    <a:lnT>
                      <a:noFill/>
                    </a:lnT>
                    <a:lnB>
                      <a:noFill/>
                    </a:lnB>
                    <a:noFill/>
                  </a:tcPr>
                </a:tc>
                <a:tc>
                  <a:txBody>
                    <a:bodyPr/>
                    <a:lstStyle/>
                    <a:p>
                      <a:pPr algn="l" fontAlgn="ctr">
                        <a:buNone/>
                      </a:pPr>
                      <a:endParaRPr lang="en-US" sz="1000" b="0" i="0" u="none" strike="noStrike" dirty="0">
                        <a:solidFill>
                          <a:srgbClr val="7F7F7F"/>
                        </a:solidFill>
                        <a:effectLst/>
                        <a:latin typeface="Qanelas Soft Bold" panose="00000800000000000000" pitchFamily="50" charset="0"/>
                      </a:endParaRPr>
                    </a:p>
                  </a:txBody>
                  <a:tcPr marL="7620" marR="7620" marT="7620" marB="0" anchor="ctr">
                    <a:lnL>
                      <a:noFill/>
                    </a:lnL>
                    <a:lnR>
                      <a:noFill/>
                    </a:lnR>
                    <a:lnT>
                      <a:noFill/>
                    </a:lnT>
                    <a:lnB>
                      <a:noFill/>
                    </a:lnB>
                    <a:noFill/>
                  </a:tcPr>
                </a:tc>
                <a:extLst>
                  <a:ext uri="{0D108BD9-81ED-4DB2-BD59-A6C34878D82A}">
                    <a16:rowId xmlns:a16="http://schemas.microsoft.com/office/drawing/2014/main" val="2743820250"/>
                  </a:ext>
                </a:extLst>
              </a:tr>
              <a:tr h="200005">
                <a:tc>
                  <a:txBody>
                    <a:bodyPr/>
                    <a:lstStyle/>
                    <a:p>
                      <a:pPr algn="l" fontAlgn="ctr">
                        <a:buNone/>
                      </a:pPr>
                      <a:r>
                        <a:rPr lang="en-US" sz="1000" b="0" i="0" u="none" strike="noStrike" dirty="0">
                          <a:solidFill>
                            <a:srgbClr val="7F7F7F"/>
                          </a:solidFill>
                          <a:effectLst/>
                          <a:latin typeface="Qanelas Soft" panose="00000500000000000000" pitchFamily="50" charset="0"/>
                        </a:rPr>
                        <a:t>Associate - Research </a:t>
                      </a:r>
                    </a:p>
                  </a:txBody>
                  <a:tcPr marL="7620" marR="7620" marT="7620" marB="0" anchor="ctr">
                    <a:lnL>
                      <a:noFill/>
                    </a:lnL>
                    <a:lnR>
                      <a:noFill/>
                    </a:lnR>
                    <a:lnT>
                      <a:noFill/>
                    </a:lnT>
                    <a:lnB>
                      <a:noFill/>
                    </a:lnB>
                    <a:noFill/>
                  </a:tcPr>
                </a:tc>
                <a:tc>
                  <a:txBody>
                    <a:bodyPr/>
                    <a:lstStyle/>
                    <a:p>
                      <a:pPr algn="l" fontAlgn="ctr">
                        <a:buNone/>
                      </a:pPr>
                      <a:r>
                        <a:rPr lang="en-US" sz="1000" b="0" i="0" u="none" strike="noStrike">
                          <a:solidFill>
                            <a:srgbClr val="7F7F7F"/>
                          </a:solidFill>
                          <a:effectLst/>
                          <a:latin typeface="Qanelas Soft" panose="00000500000000000000" pitchFamily="50" charset="0"/>
                        </a:rPr>
                        <a:t>Analyst - Research</a:t>
                      </a:r>
                    </a:p>
                  </a:txBody>
                  <a:tcPr marL="7620" marR="7620" marT="7620" marB="0" anchor="ctr">
                    <a:lnL>
                      <a:noFill/>
                    </a:lnL>
                    <a:lnR>
                      <a:noFill/>
                    </a:lnR>
                    <a:lnT>
                      <a:noFill/>
                    </a:lnT>
                    <a:lnB>
                      <a:noFill/>
                    </a:lnB>
                    <a:noFill/>
                  </a:tcPr>
                </a:tc>
                <a:tc>
                  <a:txBody>
                    <a:bodyPr/>
                    <a:lstStyle/>
                    <a:p>
                      <a:pPr algn="l" fontAlgn="ctr">
                        <a:buNone/>
                      </a:pPr>
                      <a:endParaRPr lang="en-US" sz="1000" b="0" i="0" u="none" strike="noStrike">
                        <a:solidFill>
                          <a:srgbClr val="7F7F7F"/>
                        </a:solidFill>
                        <a:effectLst/>
                        <a:latin typeface="Qanelas Soft" panose="00000500000000000000" pitchFamily="50" charset="0"/>
                      </a:endParaRPr>
                    </a:p>
                  </a:txBody>
                  <a:tcPr marL="7620" marR="7620" marT="7620" marB="0" anchor="ctr">
                    <a:lnL>
                      <a:noFill/>
                    </a:lnL>
                    <a:lnR>
                      <a:noFill/>
                    </a:lnR>
                    <a:lnT>
                      <a:noFill/>
                    </a:lnT>
                    <a:lnB>
                      <a:noFill/>
                    </a:lnB>
                    <a:noFill/>
                  </a:tcPr>
                </a:tc>
                <a:extLst>
                  <a:ext uri="{0D108BD9-81ED-4DB2-BD59-A6C34878D82A}">
                    <a16:rowId xmlns:a16="http://schemas.microsoft.com/office/drawing/2014/main" val="3371042551"/>
                  </a:ext>
                </a:extLst>
              </a:tr>
              <a:tr h="200005">
                <a:tc>
                  <a:txBody>
                    <a:bodyPr/>
                    <a:lstStyle/>
                    <a:p>
                      <a:pPr algn="l" fontAlgn="ctr">
                        <a:buNone/>
                      </a:pPr>
                      <a:r>
                        <a:rPr lang="fr-FR" sz="1000" b="0" i="0" u="none" strike="noStrike" dirty="0">
                          <a:solidFill>
                            <a:srgbClr val="7F7F7F"/>
                          </a:solidFill>
                          <a:effectLst/>
                          <a:latin typeface="Qanelas Soft" panose="00000500000000000000" pitchFamily="50" charset="0"/>
                        </a:rPr>
                        <a:t>Email: humayra@calbd.com.bd</a:t>
                      </a:r>
                    </a:p>
                  </a:txBody>
                  <a:tcPr marL="7620" marR="7620" marT="7620" marB="0" anchor="ctr">
                    <a:lnL>
                      <a:noFill/>
                    </a:lnL>
                    <a:lnR>
                      <a:noFill/>
                    </a:lnR>
                    <a:lnT>
                      <a:noFill/>
                    </a:lnT>
                    <a:lnB>
                      <a:noFill/>
                    </a:lnB>
                    <a:noFill/>
                  </a:tcPr>
                </a:tc>
                <a:tc>
                  <a:txBody>
                    <a:bodyPr/>
                    <a:lstStyle/>
                    <a:p>
                      <a:pPr algn="l" fontAlgn="ctr">
                        <a:buNone/>
                      </a:pPr>
                      <a:r>
                        <a:rPr lang="fr-FR" sz="1000" b="0" i="0" u="none" strike="noStrike" dirty="0">
                          <a:solidFill>
                            <a:srgbClr val="7F7F7F"/>
                          </a:solidFill>
                          <a:effectLst/>
                          <a:latin typeface="Qanelas Soft" panose="00000500000000000000" pitchFamily="50" charset="0"/>
                        </a:rPr>
                        <a:t>Email: asifs@calbd.com.bd</a:t>
                      </a:r>
                    </a:p>
                  </a:txBody>
                  <a:tcPr marL="7620" marR="7620" marT="7620" marB="0" anchor="ctr">
                    <a:lnL>
                      <a:noFill/>
                    </a:lnL>
                    <a:lnR>
                      <a:noFill/>
                    </a:lnR>
                    <a:lnT>
                      <a:noFill/>
                    </a:lnT>
                    <a:lnB>
                      <a:noFill/>
                    </a:lnB>
                    <a:noFill/>
                  </a:tcPr>
                </a:tc>
                <a:tc>
                  <a:txBody>
                    <a:bodyPr/>
                    <a:lstStyle/>
                    <a:p>
                      <a:pPr algn="l" fontAlgn="ctr">
                        <a:buNone/>
                      </a:pPr>
                      <a:endParaRPr lang="fr-FR" sz="1000" b="0" i="0" u="none" strike="noStrike" dirty="0">
                        <a:solidFill>
                          <a:srgbClr val="7F7F7F"/>
                        </a:solidFill>
                        <a:effectLst/>
                        <a:latin typeface="Qanelas Soft" panose="00000500000000000000" pitchFamily="50" charset="0"/>
                      </a:endParaRPr>
                    </a:p>
                  </a:txBody>
                  <a:tcPr marL="7620" marR="7620" marT="7620" marB="0" anchor="ctr">
                    <a:lnL>
                      <a:noFill/>
                    </a:lnL>
                    <a:lnR>
                      <a:noFill/>
                    </a:lnR>
                    <a:lnT>
                      <a:noFill/>
                    </a:lnT>
                    <a:lnB>
                      <a:noFill/>
                    </a:lnB>
                    <a:noFill/>
                  </a:tcPr>
                </a:tc>
                <a:extLst>
                  <a:ext uri="{0D108BD9-81ED-4DB2-BD59-A6C34878D82A}">
                    <a16:rowId xmlns:a16="http://schemas.microsoft.com/office/drawing/2014/main" val="1873894059"/>
                  </a:ext>
                </a:extLst>
              </a:tr>
              <a:tr h="200005">
                <a:tc>
                  <a:txBody>
                    <a:bodyPr/>
                    <a:lstStyle/>
                    <a:p>
                      <a:pPr algn="l" fontAlgn="ctr">
                        <a:buNone/>
                      </a:pPr>
                      <a:endParaRPr lang="en-US" sz="1100" b="0" i="0" u="none" strike="noStrike">
                        <a:solidFill>
                          <a:srgbClr val="7F7F7F"/>
                        </a:solidFill>
                        <a:effectLst/>
                        <a:latin typeface="Qanelas Soft" panose="00000500000000000000" pitchFamily="50" charset="0"/>
                      </a:endParaRPr>
                    </a:p>
                  </a:txBody>
                  <a:tcPr marL="7620" marR="7620" marT="7620" marB="0" anchor="ctr">
                    <a:lnL>
                      <a:noFill/>
                    </a:lnL>
                    <a:lnR>
                      <a:noFill/>
                    </a:lnR>
                    <a:lnT>
                      <a:noFill/>
                    </a:lnT>
                    <a:lnB>
                      <a:noFill/>
                    </a:lnB>
                    <a:noFill/>
                  </a:tcPr>
                </a:tc>
                <a:tc>
                  <a:txBody>
                    <a:bodyPr/>
                    <a:lstStyle/>
                    <a:p>
                      <a:pPr algn="l" fontAlgn="ctr">
                        <a:buNone/>
                      </a:pPr>
                      <a:endParaRPr lang="en-US" sz="1100" b="0" i="0" u="none" strike="noStrike" dirty="0">
                        <a:solidFill>
                          <a:srgbClr val="7F7F7F"/>
                        </a:solidFill>
                        <a:effectLst/>
                        <a:latin typeface="Qanelas Soft" panose="00000500000000000000" pitchFamily="50" charset="0"/>
                      </a:endParaRPr>
                    </a:p>
                  </a:txBody>
                  <a:tcPr marL="7620" marR="7620" marT="7620" marB="0" anchor="ctr">
                    <a:lnL>
                      <a:noFill/>
                    </a:lnL>
                    <a:lnR>
                      <a:noFill/>
                    </a:lnR>
                    <a:lnT>
                      <a:noFill/>
                    </a:lnT>
                    <a:lnB>
                      <a:noFill/>
                    </a:lnB>
                    <a:noFill/>
                  </a:tcPr>
                </a:tc>
                <a:tc>
                  <a:txBody>
                    <a:bodyPr/>
                    <a:lstStyle/>
                    <a:p>
                      <a:pPr algn="l" fontAlgn="b">
                        <a:buNone/>
                      </a:pPr>
                      <a:endParaRPr lang="en-US"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extLst>
                  <a:ext uri="{0D108BD9-81ED-4DB2-BD59-A6C34878D82A}">
                    <a16:rowId xmlns:a16="http://schemas.microsoft.com/office/drawing/2014/main" val="4064486588"/>
                  </a:ext>
                </a:extLst>
              </a:tr>
              <a:tr h="200005">
                <a:tc>
                  <a:txBody>
                    <a:bodyPr/>
                    <a:lstStyle/>
                    <a:p>
                      <a:pPr algn="l" fontAlgn="ctr">
                        <a:buNone/>
                      </a:pPr>
                      <a:r>
                        <a:rPr lang="en-US" sz="1400" b="1" i="0" u="none" strike="noStrike">
                          <a:solidFill>
                            <a:srgbClr val="7F7F7F"/>
                          </a:solidFill>
                          <a:effectLst/>
                          <a:latin typeface="Qanelas Soft Bold" panose="00000800000000000000" pitchFamily="50" charset="0"/>
                        </a:rPr>
                        <a:t>Wealth Management</a:t>
                      </a:r>
                    </a:p>
                  </a:txBody>
                  <a:tcPr marL="7620" marR="7620" marT="7620" marB="0" anchor="ctr">
                    <a:lnL>
                      <a:noFill/>
                    </a:lnL>
                    <a:lnR>
                      <a:noFill/>
                    </a:lnR>
                    <a:lnT>
                      <a:noFill/>
                    </a:lnT>
                    <a:lnB>
                      <a:noFill/>
                    </a:lnB>
                    <a:noFill/>
                  </a:tcPr>
                </a:tc>
                <a:tc>
                  <a:txBody>
                    <a:bodyPr/>
                    <a:lstStyle/>
                    <a:p>
                      <a:pPr algn="l" fontAlgn="ctr">
                        <a:buNone/>
                      </a:pPr>
                      <a:endParaRPr lang="en-US" sz="1100" b="0" i="0" u="none" strike="noStrike">
                        <a:solidFill>
                          <a:srgbClr val="7F7F7F"/>
                        </a:solidFill>
                        <a:effectLst/>
                        <a:latin typeface="Qanelas Soft" panose="00000500000000000000" pitchFamily="50" charset="0"/>
                      </a:endParaRPr>
                    </a:p>
                  </a:txBody>
                  <a:tcPr marL="7620" marR="7620" marT="7620" marB="0" anchor="ctr">
                    <a:lnL>
                      <a:noFill/>
                    </a:lnL>
                    <a:lnR>
                      <a:noFill/>
                    </a:lnR>
                    <a:lnT>
                      <a:noFill/>
                    </a:lnT>
                    <a:lnB>
                      <a:noFill/>
                    </a:lnB>
                    <a:noFill/>
                  </a:tcPr>
                </a:tc>
                <a:tc>
                  <a:txBody>
                    <a:bodyPr/>
                    <a:lstStyle/>
                    <a:p>
                      <a:pPr algn="l" fontAlgn="b">
                        <a:buNone/>
                      </a:pPr>
                      <a:endParaRPr lang="en-US"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extLst>
                  <a:ext uri="{0D108BD9-81ED-4DB2-BD59-A6C34878D82A}">
                    <a16:rowId xmlns:a16="http://schemas.microsoft.com/office/drawing/2014/main" val="3169341911"/>
                  </a:ext>
                </a:extLst>
              </a:tr>
              <a:tr h="200005">
                <a:tc>
                  <a:txBody>
                    <a:bodyPr/>
                    <a:lstStyle/>
                    <a:p>
                      <a:pPr algn="l" fontAlgn="ctr">
                        <a:buNone/>
                      </a:pPr>
                      <a:r>
                        <a:rPr lang="en-US" sz="1000" b="0" i="0" u="none" strike="noStrike" dirty="0">
                          <a:solidFill>
                            <a:srgbClr val="7F7F7F"/>
                          </a:solidFill>
                          <a:effectLst/>
                          <a:latin typeface="Qanelas Soft Bold" panose="00000800000000000000" pitchFamily="50" charset="0"/>
                        </a:rPr>
                        <a:t>Ahmed Omar Siddique</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Bold" panose="00000800000000000000" pitchFamily="50" charset="0"/>
                        </a:rPr>
                        <a:t>Ruhul Amin Raad</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Bold" panose="00000800000000000000" pitchFamily="50" charset="0"/>
                        </a:rPr>
                        <a:t>Fahim Al Raihan</a:t>
                      </a:r>
                    </a:p>
                  </a:txBody>
                  <a:tcPr marL="7620" marR="7620" marT="7620" marB="0" anchor="ctr">
                    <a:lnL>
                      <a:noFill/>
                    </a:lnL>
                    <a:lnR>
                      <a:noFill/>
                    </a:lnR>
                    <a:lnT>
                      <a:noFill/>
                    </a:lnT>
                    <a:lnB>
                      <a:noFill/>
                    </a:lnB>
                    <a:noFill/>
                  </a:tcPr>
                </a:tc>
                <a:extLst>
                  <a:ext uri="{0D108BD9-81ED-4DB2-BD59-A6C34878D82A}">
                    <a16:rowId xmlns:a16="http://schemas.microsoft.com/office/drawing/2014/main" val="2345148840"/>
                  </a:ext>
                </a:extLst>
              </a:tr>
              <a:tr h="200005">
                <a:tc>
                  <a:txBody>
                    <a:bodyPr/>
                    <a:lstStyle/>
                    <a:p>
                      <a:pPr algn="l" fontAlgn="ctr">
                        <a:buNone/>
                      </a:pPr>
                      <a:r>
                        <a:rPr lang="en-US" sz="1000" b="0" i="0" u="none" strike="noStrike" dirty="0">
                          <a:solidFill>
                            <a:srgbClr val="7F7F7F"/>
                          </a:solidFill>
                          <a:effectLst/>
                          <a:latin typeface="Qanelas Soft" panose="00000500000000000000" pitchFamily="50" charset="0"/>
                        </a:rPr>
                        <a:t>Head of Wealth Management</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panose="00000500000000000000" pitchFamily="50" charset="0"/>
                        </a:rPr>
                        <a:t>Senior Associate – Wealth Management</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panose="00000500000000000000" pitchFamily="50" charset="0"/>
                        </a:rPr>
                        <a:t>Associate – Wealth Management</a:t>
                      </a:r>
                    </a:p>
                  </a:txBody>
                  <a:tcPr marL="7620" marR="7620" marT="7620" marB="0" anchor="ctr">
                    <a:lnL>
                      <a:noFill/>
                    </a:lnL>
                    <a:lnR>
                      <a:noFill/>
                    </a:lnR>
                    <a:lnT>
                      <a:noFill/>
                    </a:lnT>
                    <a:lnB>
                      <a:noFill/>
                    </a:lnB>
                    <a:noFill/>
                  </a:tcPr>
                </a:tc>
                <a:extLst>
                  <a:ext uri="{0D108BD9-81ED-4DB2-BD59-A6C34878D82A}">
                    <a16:rowId xmlns:a16="http://schemas.microsoft.com/office/drawing/2014/main" val="629757859"/>
                  </a:ext>
                </a:extLst>
              </a:tr>
              <a:tr h="200005">
                <a:tc>
                  <a:txBody>
                    <a:bodyPr/>
                    <a:lstStyle/>
                    <a:p>
                      <a:pPr algn="l" fontAlgn="ctr">
                        <a:buNone/>
                      </a:pPr>
                      <a:r>
                        <a:rPr lang="fr-FR" sz="1000" b="0" i="0" u="none" strike="noStrike" dirty="0">
                          <a:solidFill>
                            <a:srgbClr val="7F7F7F"/>
                          </a:solidFill>
                          <a:effectLst/>
                          <a:latin typeface="Qanelas Soft" panose="00000500000000000000" pitchFamily="50" charset="0"/>
                        </a:rPr>
                        <a:t>Email: omars@calbd.com.bd </a:t>
                      </a:r>
                    </a:p>
                  </a:txBody>
                  <a:tcPr marL="7620" marR="7620" marT="7620" marB="0" anchor="ctr">
                    <a:lnL>
                      <a:noFill/>
                    </a:lnL>
                    <a:lnR>
                      <a:noFill/>
                    </a:lnR>
                    <a:lnT>
                      <a:noFill/>
                    </a:lnT>
                    <a:lnB>
                      <a:noFill/>
                    </a:lnB>
                    <a:noFill/>
                  </a:tcPr>
                </a:tc>
                <a:tc>
                  <a:txBody>
                    <a:bodyPr/>
                    <a:lstStyle/>
                    <a:p>
                      <a:pPr algn="l" fontAlgn="ctr">
                        <a:buNone/>
                      </a:pPr>
                      <a:r>
                        <a:rPr lang="fr-FR" sz="1000" b="0" i="0" u="none" strike="noStrike" dirty="0">
                          <a:solidFill>
                            <a:srgbClr val="7F7F7F"/>
                          </a:solidFill>
                          <a:effectLst/>
                          <a:latin typeface="Qanelas Soft" panose="00000500000000000000" pitchFamily="50" charset="0"/>
                        </a:rPr>
                        <a:t>Email: ruhula@calbd.com.bd</a:t>
                      </a:r>
                    </a:p>
                  </a:txBody>
                  <a:tcPr marL="7620" marR="7620" marT="7620" marB="0" anchor="ctr">
                    <a:lnL>
                      <a:noFill/>
                    </a:lnL>
                    <a:lnR>
                      <a:noFill/>
                    </a:lnR>
                    <a:lnT>
                      <a:noFill/>
                    </a:lnT>
                    <a:lnB>
                      <a:noFill/>
                    </a:lnB>
                    <a:noFill/>
                  </a:tcPr>
                </a:tc>
                <a:tc>
                  <a:txBody>
                    <a:bodyPr/>
                    <a:lstStyle/>
                    <a:p>
                      <a:pPr algn="l" fontAlgn="ctr">
                        <a:buNone/>
                      </a:pPr>
                      <a:r>
                        <a:rPr lang="fr-FR" sz="1000" b="0" i="0" u="none" strike="noStrike" dirty="0">
                          <a:solidFill>
                            <a:srgbClr val="7F7F7F"/>
                          </a:solidFill>
                          <a:effectLst/>
                          <a:latin typeface="Qanelas Soft" panose="00000500000000000000" pitchFamily="50" charset="0"/>
                        </a:rPr>
                        <a:t>Email: fahimr@calbd.com.bd</a:t>
                      </a:r>
                    </a:p>
                  </a:txBody>
                  <a:tcPr marL="7620" marR="7620" marT="7620" marB="0" anchor="ctr">
                    <a:lnL>
                      <a:noFill/>
                    </a:lnL>
                    <a:lnR>
                      <a:noFill/>
                    </a:lnR>
                    <a:lnT>
                      <a:noFill/>
                    </a:lnT>
                    <a:lnB>
                      <a:noFill/>
                    </a:lnB>
                    <a:noFill/>
                  </a:tcPr>
                </a:tc>
                <a:extLst>
                  <a:ext uri="{0D108BD9-81ED-4DB2-BD59-A6C34878D82A}">
                    <a16:rowId xmlns:a16="http://schemas.microsoft.com/office/drawing/2014/main" val="2104841259"/>
                  </a:ext>
                </a:extLst>
              </a:tr>
              <a:tr h="200005">
                <a:tc>
                  <a:txBody>
                    <a:bodyPr/>
                    <a:lstStyle/>
                    <a:p>
                      <a:pPr algn="l" fontAlgn="ctr">
                        <a:buNone/>
                      </a:pPr>
                      <a:r>
                        <a:rPr lang="en-US" sz="1000" b="0" i="0" u="none" strike="noStrike">
                          <a:solidFill>
                            <a:srgbClr val="7F7F7F"/>
                          </a:solidFill>
                          <a:effectLst/>
                          <a:latin typeface="Qanelas Soft" panose="00000500000000000000" pitchFamily="50" charset="0"/>
                        </a:rPr>
                        <a:t>Phone: +880 1709 658760</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panose="00000500000000000000" pitchFamily="50" charset="0"/>
                        </a:rPr>
                        <a:t>Phone: +880 1955 186919</a:t>
                      </a:r>
                    </a:p>
                  </a:txBody>
                  <a:tcPr marL="7620" marR="7620" marT="7620" marB="0" anchor="ctr">
                    <a:lnL>
                      <a:noFill/>
                    </a:lnL>
                    <a:lnR>
                      <a:noFill/>
                    </a:lnR>
                    <a:lnT>
                      <a:noFill/>
                    </a:lnT>
                    <a:lnB>
                      <a:noFill/>
                    </a:lnB>
                    <a:noFill/>
                  </a:tcPr>
                </a:tc>
                <a:tc>
                  <a:txBody>
                    <a:bodyPr/>
                    <a:lstStyle/>
                    <a:p>
                      <a:pPr algn="l" fontAlgn="b">
                        <a:buNone/>
                      </a:pPr>
                      <a:r>
                        <a:rPr lang="en-US" sz="1000" b="0" i="0" u="none" strike="noStrike" kern="1200" dirty="0">
                          <a:solidFill>
                            <a:srgbClr val="7F7F7F"/>
                          </a:solidFill>
                          <a:effectLst/>
                          <a:latin typeface="Qanelas Soft" panose="00000500000000000000" pitchFamily="50" charset="0"/>
                          <a:ea typeface="+mn-ea"/>
                          <a:cs typeface="+mn-cs"/>
                        </a:rPr>
                        <a:t>Phone: +880 1551 817869 (WhatsApp)</a:t>
                      </a:r>
                    </a:p>
                  </a:txBody>
                  <a:tcPr marL="7620" marR="7620" marT="7620" marB="0" anchor="b">
                    <a:lnL>
                      <a:noFill/>
                    </a:lnL>
                    <a:lnR>
                      <a:noFill/>
                    </a:lnR>
                    <a:lnT>
                      <a:noFill/>
                    </a:lnT>
                    <a:lnB>
                      <a:noFill/>
                    </a:lnB>
                    <a:noFill/>
                  </a:tcPr>
                </a:tc>
                <a:extLst>
                  <a:ext uri="{0D108BD9-81ED-4DB2-BD59-A6C34878D82A}">
                    <a16:rowId xmlns:a16="http://schemas.microsoft.com/office/drawing/2014/main" val="1526646707"/>
                  </a:ext>
                </a:extLst>
              </a:tr>
              <a:tr h="200005">
                <a:tc>
                  <a:txBody>
                    <a:bodyPr/>
                    <a:lstStyle/>
                    <a:p>
                      <a:pPr algn="l" fontAlgn="ctr">
                        <a:buNone/>
                      </a:pPr>
                      <a:endParaRPr lang="en-US" sz="1100" b="1" i="0" u="none" strike="noStrike" dirty="0">
                        <a:solidFill>
                          <a:srgbClr val="7F7F7F"/>
                        </a:solidFill>
                        <a:effectLst/>
                        <a:latin typeface="Qanelas Soft" panose="00000500000000000000" pitchFamily="50" charset="0"/>
                      </a:endParaRPr>
                    </a:p>
                  </a:txBody>
                  <a:tcPr marL="7620" marR="7620" marT="7620" marB="0" anchor="ctr">
                    <a:lnL>
                      <a:noFill/>
                    </a:lnL>
                    <a:lnR>
                      <a:noFill/>
                    </a:lnR>
                    <a:lnT>
                      <a:noFill/>
                    </a:lnT>
                    <a:lnB>
                      <a:noFill/>
                    </a:lnB>
                    <a:noFill/>
                  </a:tcPr>
                </a:tc>
                <a:tc>
                  <a:txBody>
                    <a:bodyPr/>
                    <a:lstStyle/>
                    <a:p>
                      <a:pPr algn="l" fontAlgn="ctr">
                        <a:buNone/>
                      </a:pPr>
                      <a:endParaRPr lang="en-US" sz="1100" b="1" i="0" u="none" strike="noStrike" dirty="0">
                        <a:solidFill>
                          <a:srgbClr val="7F7F7F"/>
                        </a:solidFill>
                        <a:effectLst/>
                        <a:latin typeface="Qanelas Soft" panose="00000500000000000000" pitchFamily="50" charset="0"/>
                      </a:endParaRPr>
                    </a:p>
                  </a:txBody>
                  <a:tcPr marL="7620" marR="7620" marT="7620" marB="0" anchor="ctr">
                    <a:lnL>
                      <a:noFill/>
                    </a:lnL>
                    <a:lnR>
                      <a:noFill/>
                    </a:lnR>
                    <a:lnT>
                      <a:noFill/>
                    </a:lnT>
                    <a:lnB>
                      <a:noFill/>
                    </a:lnB>
                    <a:noFill/>
                  </a:tcPr>
                </a:tc>
                <a:tc>
                  <a:txBody>
                    <a:bodyPr/>
                    <a:lstStyle/>
                    <a:p>
                      <a:pPr algn="l" fontAlgn="b">
                        <a:buNone/>
                      </a:pPr>
                      <a:endParaRPr lang="en-US" sz="1000" b="0" i="0" u="none" strike="noStrike" kern="1200" dirty="0">
                        <a:solidFill>
                          <a:srgbClr val="7F7F7F"/>
                        </a:solidFill>
                        <a:effectLst/>
                        <a:latin typeface="Qanelas Soft" panose="00000500000000000000" pitchFamily="50" charset="0"/>
                        <a:ea typeface="+mn-ea"/>
                        <a:cs typeface="+mn-cs"/>
                      </a:endParaRPr>
                    </a:p>
                  </a:txBody>
                  <a:tcPr marL="7620" marR="7620" marT="7620" marB="0" anchor="b">
                    <a:lnL>
                      <a:noFill/>
                    </a:lnL>
                    <a:lnR>
                      <a:noFill/>
                    </a:lnR>
                    <a:lnT>
                      <a:noFill/>
                    </a:lnT>
                    <a:lnB>
                      <a:noFill/>
                    </a:lnB>
                    <a:noFill/>
                  </a:tcPr>
                </a:tc>
                <a:extLst>
                  <a:ext uri="{0D108BD9-81ED-4DB2-BD59-A6C34878D82A}">
                    <a16:rowId xmlns:a16="http://schemas.microsoft.com/office/drawing/2014/main" val="1787402388"/>
                  </a:ext>
                </a:extLst>
              </a:tr>
              <a:tr h="200005">
                <a:tc gridSpan="2">
                  <a:txBody>
                    <a:bodyPr/>
                    <a:lstStyle/>
                    <a:p>
                      <a:pPr algn="l" fontAlgn="ctr">
                        <a:buNone/>
                      </a:pPr>
                      <a:r>
                        <a:rPr lang="en-US" sz="1400" b="1" i="0" u="none" strike="noStrike" dirty="0">
                          <a:solidFill>
                            <a:srgbClr val="7F7F7F"/>
                          </a:solidFill>
                          <a:effectLst/>
                          <a:latin typeface="Qanelas Soft Bold" panose="00000800000000000000" pitchFamily="50" charset="0"/>
                        </a:rPr>
                        <a:t>Institutional and Foreign Sales</a:t>
                      </a:r>
                    </a:p>
                  </a:txBody>
                  <a:tcPr marL="7620" marR="7620" marT="7620" marB="0" anchor="ctr">
                    <a:lnL>
                      <a:noFill/>
                    </a:lnL>
                    <a:lnR>
                      <a:noFill/>
                    </a:lnR>
                    <a:lnT>
                      <a:noFill/>
                    </a:lnT>
                    <a:lnB>
                      <a:noFill/>
                    </a:lnB>
                    <a:noFill/>
                  </a:tcPr>
                </a:tc>
                <a:tc hMerge="1">
                  <a:txBody>
                    <a:bodyPr/>
                    <a:lstStyle/>
                    <a:p>
                      <a:endParaRPr lang="en-US"/>
                    </a:p>
                  </a:txBody>
                  <a:tcPr/>
                </a:tc>
                <a:tc>
                  <a:txBody>
                    <a:bodyPr/>
                    <a:lstStyle/>
                    <a:p>
                      <a:pPr algn="l" fontAlgn="b">
                        <a:buNone/>
                      </a:pPr>
                      <a:endParaRPr lang="en-US"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extLst>
                  <a:ext uri="{0D108BD9-81ED-4DB2-BD59-A6C34878D82A}">
                    <a16:rowId xmlns:a16="http://schemas.microsoft.com/office/drawing/2014/main" val="1274114715"/>
                  </a:ext>
                </a:extLst>
              </a:tr>
              <a:tr h="200005">
                <a:tc>
                  <a:txBody>
                    <a:bodyPr/>
                    <a:lstStyle/>
                    <a:p>
                      <a:pPr algn="l" fontAlgn="ctr">
                        <a:buNone/>
                      </a:pPr>
                      <a:r>
                        <a:rPr lang="en-US" sz="1000" b="0" i="0" u="none" strike="noStrike" dirty="0">
                          <a:solidFill>
                            <a:srgbClr val="7F7F7F"/>
                          </a:solidFill>
                          <a:effectLst/>
                          <a:latin typeface="Qanelas Soft Bold" panose="00000800000000000000" pitchFamily="50" charset="0"/>
                        </a:rPr>
                        <a:t>Thowfeek Mohomed Malik</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Bold" panose="00000800000000000000" pitchFamily="50" charset="0"/>
                        </a:rPr>
                        <a:t>Sheikh </a:t>
                      </a:r>
                      <a:r>
                        <a:rPr lang="en-US" sz="1000" b="0" i="0" u="none" strike="noStrike" dirty="0" err="1">
                          <a:solidFill>
                            <a:srgbClr val="7F7F7F"/>
                          </a:solidFill>
                          <a:effectLst/>
                          <a:latin typeface="Qanelas Soft Bold" panose="00000800000000000000" pitchFamily="50" charset="0"/>
                        </a:rPr>
                        <a:t>Mohibul</a:t>
                      </a:r>
                      <a:r>
                        <a:rPr lang="en-US" sz="1000" b="0" i="0" u="none" strike="noStrike" dirty="0">
                          <a:solidFill>
                            <a:srgbClr val="7F7F7F"/>
                          </a:solidFill>
                          <a:effectLst/>
                          <a:latin typeface="Qanelas Soft Bold" panose="00000800000000000000" pitchFamily="50" charset="0"/>
                        </a:rPr>
                        <a:t> Islam Rumi</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Bold" panose="00000800000000000000" pitchFamily="50" charset="0"/>
                        </a:rPr>
                        <a:t>Sharmin Akhter Zina</a:t>
                      </a:r>
                    </a:p>
                  </a:txBody>
                  <a:tcPr marL="7620" marR="7620" marT="7620" marB="0" anchor="ctr">
                    <a:lnL>
                      <a:noFill/>
                    </a:lnL>
                    <a:lnR>
                      <a:noFill/>
                    </a:lnR>
                    <a:lnT>
                      <a:noFill/>
                    </a:lnT>
                    <a:lnB>
                      <a:noFill/>
                    </a:lnB>
                    <a:noFill/>
                  </a:tcPr>
                </a:tc>
                <a:extLst>
                  <a:ext uri="{0D108BD9-81ED-4DB2-BD59-A6C34878D82A}">
                    <a16:rowId xmlns:a16="http://schemas.microsoft.com/office/drawing/2014/main" val="3044681017"/>
                  </a:ext>
                </a:extLst>
              </a:tr>
              <a:tr h="200005">
                <a:tc>
                  <a:txBody>
                    <a:bodyPr/>
                    <a:lstStyle/>
                    <a:p>
                      <a:pPr algn="l" fontAlgn="ctr">
                        <a:buNone/>
                      </a:pPr>
                      <a:r>
                        <a:rPr lang="en-US" sz="1000" b="0" i="0" u="none" strike="noStrike" dirty="0">
                          <a:solidFill>
                            <a:srgbClr val="7F7F7F"/>
                          </a:solidFill>
                          <a:effectLst/>
                          <a:latin typeface="Qanelas Soft" panose="00000500000000000000" pitchFamily="50" charset="0"/>
                        </a:rPr>
                        <a:t>Chief Executive Officer – CAL Securities Ltd.</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panose="00000500000000000000" pitchFamily="50" charset="0"/>
                        </a:rPr>
                        <a:t>Vice President</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panose="00000500000000000000" pitchFamily="50" charset="0"/>
                        </a:rPr>
                        <a:t>Assistant Manager</a:t>
                      </a:r>
                    </a:p>
                  </a:txBody>
                  <a:tcPr marL="7620" marR="7620" marT="7620" marB="0" anchor="ctr">
                    <a:lnL>
                      <a:noFill/>
                    </a:lnL>
                    <a:lnR>
                      <a:noFill/>
                    </a:lnR>
                    <a:lnT>
                      <a:noFill/>
                    </a:lnT>
                    <a:lnB>
                      <a:noFill/>
                    </a:lnB>
                    <a:noFill/>
                  </a:tcPr>
                </a:tc>
                <a:extLst>
                  <a:ext uri="{0D108BD9-81ED-4DB2-BD59-A6C34878D82A}">
                    <a16:rowId xmlns:a16="http://schemas.microsoft.com/office/drawing/2014/main" val="870008185"/>
                  </a:ext>
                </a:extLst>
              </a:tr>
              <a:tr h="200005">
                <a:tc>
                  <a:txBody>
                    <a:bodyPr/>
                    <a:lstStyle/>
                    <a:p>
                      <a:pPr algn="l" fontAlgn="ctr">
                        <a:buNone/>
                      </a:pPr>
                      <a:r>
                        <a:rPr lang="fr-FR" sz="1000" b="0" i="0" u="none" strike="noStrike" dirty="0">
                          <a:solidFill>
                            <a:srgbClr val="7F7F7F"/>
                          </a:solidFill>
                          <a:effectLst/>
                          <a:latin typeface="Qanelas Soft" panose="00000500000000000000" pitchFamily="50" charset="0"/>
                        </a:rPr>
                        <a:t>Email: thowfeekm@calbd.com.bd</a:t>
                      </a:r>
                    </a:p>
                  </a:txBody>
                  <a:tcPr marL="7620" marR="7620" marT="7620" marB="0" anchor="ctr">
                    <a:lnL>
                      <a:noFill/>
                    </a:lnL>
                    <a:lnR>
                      <a:noFill/>
                    </a:lnR>
                    <a:lnT>
                      <a:noFill/>
                    </a:lnT>
                    <a:lnB>
                      <a:noFill/>
                    </a:lnB>
                    <a:noFill/>
                  </a:tcPr>
                </a:tc>
                <a:tc>
                  <a:txBody>
                    <a:bodyPr/>
                    <a:lstStyle/>
                    <a:p>
                      <a:pPr algn="l" fontAlgn="ctr">
                        <a:buNone/>
                      </a:pPr>
                      <a:r>
                        <a:rPr lang="fr-FR" sz="1000" b="0" i="0" u="none" strike="noStrike">
                          <a:solidFill>
                            <a:srgbClr val="7F7F7F"/>
                          </a:solidFill>
                          <a:effectLst/>
                          <a:latin typeface="Qanelas Soft" panose="00000500000000000000" pitchFamily="50" charset="0"/>
                        </a:rPr>
                        <a:t>Email: sheikhr@calbd.com.bd</a:t>
                      </a:r>
                    </a:p>
                  </a:txBody>
                  <a:tcPr marL="7620" marR="7620" marT="7620" marB="0" anchor="ctr">
                    <a:lnL>
                      <a:noFill/>
                    </a:lnL>
                    <a:lnR>
                      <a:noFill/>
                    </a:lnR>
                    <a:lnT>
                      <a:noFill/>
                    </a:lnT>
                    <a:lnB>
                      <a:noFill/>
                    </a:lnB>
                    <a:noFill/>
                  </a:tcPr>
                </a:tc>
                <a:tc>
                  <a:txBody>
                    <a:bodyPr/>
                    <a:lstStyle/>
                    <a:p>
                      <a:pPr algn="l" fontAlgn="ctr">
                        <a:buNone/>
                      </a:pPr>
                      <a:r>
                        <a:rPr lang="fr-FR" sz="1000" b="0" i="0" u="none" strike="noStrike">
                          <a:solidFill>
                            <a:srgbClr val="7F7F7F"/>
                          </a:solidFill>
                          <a:effectLst/>
                          <a:latin typeface="Qanelas Soft" panose="00000500000000000000" pitchFamily="50" charset="0"/>
                        </a:rPr>
                        <a:t>Email: sharminz@calbd.com.bd</a:t>
                      </a:r>
                    </a:p>
                  </a:txBody>
                  <a:tcPr marL="7620" marR="7620" marT="7620" marB="0" anchor="ctr">
                    <a:lnL>
                      <a:noFill/>
                    </a:lnL>
                    <a:lnR>
                      <a:noFill/>
                    </a:lnR>
                    <a:lnT>
                      <a:noFill/>
                    </a:lnT>
                    <a:lnB>
                      <a:noFill/>
                    </a:lnB>
                    <a:noFill/>
                  </a:tcPr>
                </a:tc>
                <a:extLst>
                  <a:ext uri="{0D108BD9-81ED-4DB2-BD59-A6C34878D82A}">
                    <a16:rowId xmlns:a16="http://schemas.microsoft.com/office/drawing/2014/main" val="2893044656"/>
                  </a:ext>
                </a:extLst>
              </a:tr>
              <a:tr h="200005">
                <a:tc>
                  <a:txBody>
                    <a:bodyPr/>
                    <a:lstStyle/>
                    <a:p>
                      <a:pPr algn="l" fontAlgn="ctr">
                        <a:buNone/>
                      </a:pPr>
                      <a:r>
                        <a:rPr lang="en-US" sz="1000" b="0" i="0" u="none" strike="noStrike">
                          <a:solidFill>
                            <a:srgbClr val="7F7F7F"/>
                          </a:solidFill>
                          <a:effectLst/>
                          <a:latin typeface="Qanelas Soft" panose="00000500000000000000" pitchFamily="50" charset="0"/>
                        </a:rPr>
                        <a:t>Phone: +880 1329 661189</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panose="00000500000000000000" pitchFamily="50" charset="0"/>
                        </a:rPr>
                        <a:t>Phone: +880 1676 065039</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panose="00000500000000000000" pitchFamily="50" charset="0"/>
                        </a:rPr>
                        <a:t>Phone: +880 1762 404429</a:t>
                      </a:r>
                    </a:p>
                  </a:txBody>
                  <a:tcPr marL="7620" marR="7620" marT="7620" marB="0" anchor="ctr">
                    <a:lnL>
                      <a:noFill/>
                    </a:lnL>
                    <a:lnR>
                      <a:noFill/>
                    </a:lnR>
                    <a:lnT>
                      <a:noFill/>
                    </a:lnT>
                    <a:lnB>
                      <a:noFill/>
                    </a:lnB>
                    <a:noFill/>
                  </a:tcPr>
                </a:tc>
                <a:extLst>
                  <a:ext uri="{0D108BD9-81ED-4DB2-BD59-A6C34878D82A}">
                    <a16:rowId xmlns:a16="http://schemas.microsoft.com/office/drawing/2014/main" val="1484450081"/>
                  </a:ext>
                </a:extLst>
              </a:tr>
            </a:tbl>
          </a:graphicData>
        </a:graphic>
      </p:graphicFrame>
      <p:sp>
        <p:nvSpPr>
          <p:cNvPr id="31" name="Text Placeholder 30">
            <a:extLst>
              <a:ext uri="{FF2B5EF4-FFF2-40B4-BE49-F238E27FC236}">
                <a16:creationId xmlns:a16="http://schemas.microsoft.com/office/drawing/2014/main" id="{807B8ACB-4196-5BBE-4A53-34C7BEF01932}"/>
              </a:ext>
            </a:extLst>
          </p:cNvPr>
          <p:cNvSpPr>
            <a:spLocks noGrp="1"/>
          </p:cNvSpPr>
          <p:nvPr>
            <p:ph type="body" sz="quarter" idx="14"/>
          </p:nvPr>
        </p:nvSpPr>
        <p:spPr/>
        <p:txBody>
          <a:bodyPr>
            <a:normAutofit lnSpcReduction="10000"/>
          </a:bodyPr>
          <a:lstStyle/>
          <a:p>
            <a:endParaRPr lang="en-US"/>
          </a:p>
        </p:txBody>
      </p:sp>
    </p:spTree>
    <p:extLst>
      <p:ext uri="{BB962C8B-B14F-4D97-AF65-F5344CB8AC3E}">
        <p14:creationId xmlns:p14="http://schemas.microsoft.com/office/powerpoint/2010/main" val="3297225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8">
          <a:extLst>
            <a:ext uri="{FF2B5EF4-FFF2-40B4-BE49-F238E27FC236}">
              <a16:creationId xmlns:a16="http://schemas.microsoft.com/office/drawing/2014/main" id="{C4A7F92E-4A7B-CDED-00A8-D8A8248BFFEC}"/>
            </a:ext>
          </a:extLst>
        </p:cNvPr>
        <p:cNvGrpSpPr/>
        <p:nvPr/>
      </p:nvGrpSpPr>
      <p:grpSpPr>
        <a:xfrm>
          <a:off x="0" y="0"/>
          <a:ext cx="0" cy="0"/>
          <a:chOff x="0" y="0"/>
          <a:chExt cx="0" cy="0"/>
        </a:xfrm>
      </p:grpSpPr>
      <p:pic>
        <p:nvPicPr>
          <p:cNvPr id="9" name="Picture 8" descr="A logo with a circle and a circle with a circle in the middle&#10;&#10;Description automatically generated">
            <a:extLst>
              <a:ext uri="{FF2B5EF4-FFF2-40B4-BE49-F238E27FC236}">
                <a16:creationId xmlns:a16="http://schemas.microsoft.com/office/drawing/2014/main" id="{867FA9D5-F2FA-B95B-6E3A-5C445CC1FF83}"/>
              </a:ext>
            </a:extLst>
          </p:cNvPr>
          <p:cNvPicPr>
            <a:picLocks noChangeAspect="1"/>
          </p:cNvPicPr>
          <p:nvPr/>
        </p:nvPicPr>
        <p:blipFill>
          <a:blip r:embed="rId3"/>
          <a:stretch>
            <a:fillRect/>
          </a:stretch>
        </p:blipFill>
        <p:spPr>
          <a:xfrm>
            <a:off x="3670852" y="2045465"/>
            <a:ext cx="5459896" cy="2767069"/>
          </a:xfrm>
          <a:prstGeom prst="rect">
            <a:avLst/>
          </a:prstGeom>
        </p:spPr>
      </p:pic>
    </p:spTree>
    <p:extLst>
      <p:ext uri="{BB962C8B-B14F-4D97-AF65-F5344CB8AC3E}">
        <p14:creationId xmlns:p14="http://schemas.microsoft.com/office/powerpoint/2010/main" val="30448421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2164</Words>
  <Application>Microsoft Office PowerPoint</Application>
  <PresentationFormat>Widescreen</PresentationFormat>
  <Paragraphs>295</Paragraphs>
  <Slides>10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Arial</vt:lpstr>
      <vt:lpstr>Calibri</vt:lpstr>
      <vt:lpstr>DM Sans</vt:lpstr>
      <vt:lpstr>Qanelas Soft</vt:lpstr>
      <vt:lpstr>Qanelas Soft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Disclaimer</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2026-05-19T18:45:23Z</dcterms:created>
  <dcterms:modified xsi:type="dcterms:W3CDTF">2026-05-19T18:49:58Z</dcterms:modified>
  <cp:category/>
</cp:coreProperties>
</file>